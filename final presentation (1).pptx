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48"/>
  </p:notesMasterIdLst>
  <p:sldIdLst>
    <p:sldId id="262" r:id="rId5"/>
    <p:sldId id="263" r:id="rId6"/>
    <p:sldId id="264" r:id="rId7"/>
    <p:sldId id="291" r:id="rId8"/>
    <p:sldId id="292"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4" r:id="rId36"/>
    <p:sldId id="295" r:id="rId37"/>
    <p:sldId id="299" r:id="rId38"/>
    <p:sldId id="296" r:id="rId39"/>
    <p:sldId id="297" r:id="rId40"/>
    <p:sldId id="298" r:id="rId41"/>
    <p:sldId id="300" r:id="rId42"/>
    <p:sldId id="301" r:id="rId43"/>
    <p:sldId id="302" r:id="rId44"/>
    <p:sldId id="303" r:id="rId45"/>
    <p:sldId id="304" r:id="rId46"/>
    <p:sldId id="305"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94"/>
  </p:normalViewPr>
  <p:slideViewPr>
    <p:cSldViewPr snapToGrid="0">
      <p:cViewPr>
        <p:scale>
          <a:sx n="66" d="100"/>
          <a:sy n="66" d="100"/>
        </p:scale>
        <p:origin x="1253" y="2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2.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2.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F5AF21-12E7-C742-A9F7-DC4A4182B874}" type="datetimeFigureOut">
              <a:rPr lang="en-US" smtClean="0"/>
              <a:t>12/15/2024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AB13BD-31FE-ED47-9358-662A702F7DEA}" type="slidenum">
              <a:rPr lang="en-US" smtClean="0"/>
              <a:t>‹#›</a:t>
            </a:fld>
            <a:endParaRPr lang="en-US"/>
          </a:p>
        </p:txBody>
      </p:sp>
    </p:spTree>
    <p:extLst>
      <p:ext uri="{BB962C8B-B14F-4D97-AF65-F5344CB8AC3E}">
        <p14:creationId xmlns:p14="http://schemas.microsoft.com/office/powerpoint/2010/main" val="9615875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FDD9D-1D26-5C7E-93FF-C7E410B6BC49}"/>
              </a:ext>
            </a:extLst>
          </p:cNvPr>
          <p:cNvSpPr>
            <a:spLocks noGrp="1"/>
          </p:cNvSpPr>
          <p:nvPr>
            <p:ph type="ctrTitle"/>
          </p:nvPr>
        </p:nvSpPr>
        <p:spPr>
          <a:xfrm>
            <a:off x="1524000" y="1234439"/>
            <a:ext cx="9144000" cy="2275523"/>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575CBED-BA67-47C0-002C-40E23D273CD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7" name="Picture 6">
            <a:extLst>
              <a:ext uri="{FF2B5EF4-FFF2-40B4-BE49-F238E27FC236}">
                <a16:creationId xmlns:a16="http://schemas.microsoft.com/office/drawing/2014/main" id="{37FA7BAD-BB9D-02D4-7B96-7366B735B5D8}"/>
              </a:ext>
            </a:extLst>
          </p:cNvPr>
          <p:cNvPicPr>
            <a:picLocks noChangeAspect="1"/>
          </p:cNvPicPr>
          <p:nvPr userDrawn="1"/>
        </p:nvPicPr>
        <p:blipFill>
          <a:blip r:embed="rId2"/>
          <a:srcRect/>
          <a:stretch/>
        </p:blipFill>
        <p:spPr>
          <a:xfrm>
            <a:off x="459791" y="457200"/>
            <a:ext cx="2616708" cy="777240"/>
          </a:xfrm>
          <a:prstGeom prst="rect">
            <a:avLst/>
          </a:prstGeom>
        </p:spPr>
      </p:pic>
    </p:spTree>
    <p:extLst>
      <p:ext uri="{BB962C8B-B14F-4D97-AF65-F5344CB8AC3E}">
        <p14:creationId xmlns:p14="http://schemas.microsoft.com/office/powerpoint/2010/main" val="12951790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74540-C1CF-A013-BB96-CBB938F0EB5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CABF4A-9AB1-1961-C29D-093108ED31A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677E92BA-6A27-18C4-CDB3-1760AAA8DEA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8" name="Slide Number Placeholder 5">
            <a:extLst>
              <a:ext uri="{FF2B5EF4-FFF2-40B4-BE49-F238E27FC236}">
                <a16:creationId xmlns:a16="http://schemas.microsoft.com/office/drawing/2014/main" id="{53219D07-7204-28A8-83D0-EBFF78A581B3}"/>
              </a:ext>
            </a:extLst>
          </p:cNvPr>
          <p:cNvSpPr>
            <a:spLocks noGrp="1"/>
          </p:cNvSpPr>
          <p:nvPr>
            <p:ph type="sldNum" sz="quarter" idx="12"/>
          </p:nvPr>
        </p:nvSpPr>
        <p:spPr>
          <a:xfrm>
            <a:off x="11353800" y="6356350"/>
            <a:ext cx="555331" cy="365125"/>
          </a:xfrm>
          <a:prstGeom prst="rect">
            <a:avLst/>
          </a:prstGeom>
        </p:spPr>
        <p:txBody>
          <a:bodyPr/>
          <a:lstStyle>
            <a:lvl1pPr>
              <a:defRPr sz="1400"/>
            </a:lvl1pPr>
          </a:lstStyle>
          <a:p>
            <a:fld id="{44C0E520-CB02-FE44-B9CA-49F8729EC252}" type="slidenum">
              <a:rPr lang="en-US" smtClean="0"/>
              <a:pPr/>
              <a:t>‹#›</a:t>
            </a:fld>
            <a:endParaRPr lang="en-US" dirty="0"/>
          </a:p>
        </p:txBody>
      </p:sp>
      <p:pic>
        <p:nvPicPr>
          <p:cNvPr id="9" name="Picture 8" descr="A black background with a black square&#10;&#10;Description automatically generated with medium confidence">
            <a:extLst>
              <a:ext uri="{FF2B5EF4-FFF2-40B4-BE49-F238E27FC236}">
                <a16:creationId xmlns:a16="http://schemas.microsoft.com/office/drawing/2014/main" id="{3AF0BF47-682D-7236-9C0F-0DE61BE7F107}"/>
              </a:ext>
            </a:extLst>
          </p:cNvPr>
          <p:cNvPicPr>
            <a:picLocks noChangeAspect="1"/>
          </p:cNvPicPr>
          <p:nvPr userDrawn="1"/>
        </p:nvPicPr>
        <p:blipFill>
          <a:blip r:embed="rId2"/>
          <a:stretch>
            <a:fillRect/>
          </a:stretch>
        </p:blipFill>
        <p:spPr>
          <a:xfrm>
            <a:off x="689804" y="6292442"/>
            <a:ext cx="1079602" cy="320040"/>
          </a:xfrm>
          <a:prstGeom prst="rect">
            <a:avLst/>
          </a:prstGeom>
        </p:spPr>
      </p:pic>
    </p:spTree>
    <p:extLst>
      <p:ext uri="{BB962C8B-B14F-4D97-AF65-F5344CB8AC3E}">
        <p14:creationId xmlns:p14="http://schemas.microsoft.com/office/powerpoint/2010/main" val="30982982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2F0AC-598A-1480-852E-5A5AE65FF83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7272E8E-80FF-8068-8D2E-E8EDDFCF660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B2980C5B-4585-A50B-0EDB-5C373D5BB11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8" name="Slide Number Placeholder 5">
            <a:extLst>
              <a:ext uri="{FF2B5EF4-FFF2-40B4-BE49-F238E27FC236}">
                <a16:creationId xmlns:a16="http://schemas.microsoft.com/office/drawing/2014/main" id="{1E71511D-AFCE-1DB9-FEC4-FE2D89AC2975}"/>
              </a:ext>
            </a:extLst>
          </p:cNvPr>
          <p:cNvSpPr>
            <a:spLocks noGrp="1"/>
          </p:cNvSpPr>
          <p:nvPr>
            <p:ph type="sldNum" sz="quarter" idx="12"/>
          </p:nvPr>
        </p:nvSpPr>
        <p:spPr>
          <a:xfrm>
            <a:off x="11353800" y="6356350"/>
            <a:ext cx="555331" cy="365125"/>
          </a:xfrm>
          <a:prstGeom prst="rect">
            <a:avLst/>
          </a:prstGeom>
        </p:spPr>
        <p:txBody>
          <a:bodyPr/>
          <a:lstStyle>
            <a:lvl1pPr>
              <a:defRPr sz="1400"/>
            </a:lvl1pPr>
          </a:lstStyle>
          <a:p>
            <a:fld id="{44C0E520-CB02-FE44-B9CA-49F8729EC252}" type="slidenum">
              <a:rPr lang="en-US" smtClean="0"/>
              <a:pPr/>
              <a:t>‹#›</a:t>
            </a:fld>
            <a:endParaRPr lang="en-US" dirty="0"/>
          </a:p>
        </p:txBody>
      </p:sp>
      <p:pic>
        <p:nvPicPr>
          <p:cNvPr id="9" name="Picture 8" descr="A black background with a black square&#10;&#10;Description automatically generated with medium confidence">
            <a:extLst>
              <a:ext uri="{FF2B5EF4-FFF2-40B4-BE49-F238E27FC236}">
                <a16:creationId xmlns:a16="http://schemas.microsoft.com/office/drawing/2014/main" id="{9180C068-EC8A-852A-BEB3-1EF95352342C}"/>
              </a:ext>
            </a:extLst>
          </p:cNvPr>
          <p:cNvPicPr>
            <a:picLocks noChangeAspect="1"/>
          </p:cNvPicPr>
          <p:nvPr userDrawn="1"/>
        </p:nvPicPr>
        <p:blipFill>
          <a:blip r:embed="rId2"/>
          <a:stretch>
            <a:fillRect/>
          </a:stretch>
        </p:blipFill>
        <p:spPr>
          <a:xfrm>
            <a:off x="689804" y="6292442"/>
            <a:ext cx="1079602" cy="320040"/>
          </a:xfrm>
          <a:prstGeom prst="rect">
            <a:avLst/>
          </a:prstGeom>
        </p:spPr>
      </p:pic>
    </p:spTree>
    <p:extLst>
      <p:ext uri="{BB962C8B-B14F-4D97-AF65-F5344CB8AC3E}">
        <p14:creationId xmlns:p14="http://schemas.microsoft.com/office/powerpoint/2010/main" val="1667914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710CA-A024-18E4-1551-CBBC2A2C503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FC7C662-4B24-7293-2D40-0D80B190315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07582BA-F6DD-044A-BFD6-A5D36283AB0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56740EB3-6EBC-3BB4-F7EF-512D62FB1A4C}"/>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8" name="Slide Number Placeholder 5">
            <a:extLst>
              <a:ext uri="{FF2B5EF4-FFF2-40B4-BE49-F238E27FC236}">
                <a16:creationId xmlns:a16="http://schemas.microsoft.com/office/drawing/2014/main" id="{ECC8F22F-157E-421D-D2C5-3B752C4FA491}"/>
              </a:ext>
            </a:extLst>
          </p:cNvPr>
          <p:cNvSpPr>
            <a:spLocks noGrp="1"/>
          </p:cNvSpPr>
          <p:nvPr>
            <p:ph type="sldNum" sz="quarter" idx="12"/>
          </p:nvPr>
        </p:nvSpPr>
        <p:spPr>
          <a:xfrm>
            <a:off x="11353800" y="6356350"/>
            <a:ext cx="555331" cy="365125"/>
          </a:xfrm>
          <a:prstGeom prst="rect">
            <a:avLst/>
          </a:prstGeom>
        </p:spPr>
        <p:txBody>
          <a:bodyPr/>
          <a:lstStyle>
            <a:lvl1pPr>
              <a:defRPr sz="1400"/>
            </a:lvl1pPr>
          </a:lstStyle>
          <a:p>
            <a:fld id="{44C0E520-CB02-FE44-B9CA-49F8729EC252}" type="slidenum">
              <a:rPr lang="en-US" smtClean="0"/>
              <a:pPr/>
              <a:t>‹#›</a:t>
            </a:fld>
            <a:endParaRPr lang="en-US" dirty="0"/>
          </a:p>
        </p:txBody>
      </p:sp>
      <p:pic>
        <p:nvPicPr>
          <p:cNvPr id="10" name="Picture 9" descr="A black background with a black square&#10;&#10;Description automatically generated with medium confidence">
            <a:extLst>
              <a:ext uri="{FF2B5EF4-FFF2-40B4-BE49-F238E27FC236}">
                <a16:creationId xmlns:a16="http://schemas.microsoft.com/office/drawing/2014/main" id="{2EFD9EC3-F334-3EA1-3508-E1E08850FA33}"/>
              </a:ext>
            </a:extLst>
          </p:cNvPr>
          <p:cNvPicPr>
            <a:picLocks noChangeAspect="1"/>
          </p:cNvPicPr>
          <p:nvPr userDrawn="1"/>
        </p:nvPicPr>
        <p:blipFill>
          <a:blip r:embed="rId2"/>
          <a:stretch>
            <a:fillRect/>
          </a:stretch>
        </p:blipFill>
        <p:spPr>
          <a:xfrm>
            <a:off x="689804" y="6292442"/>
            <a:ext cx="1079602" cy="320040"/>
          </a:xfrm>
          <a:prstGeom prst="rect">
            <a:avLst/>
          </a:prstGeom>
        </p:spPr>
      </p:pic>
    </p:spTree>
    <p:extLst>
      <p:ext uri="{BB962C8B-B14F-4D97-AF65-F5344CB8AC3E}">
        <p14:creationId xmlns:p14="http://schemas.microsoft.com/office/powerpoint/2010/main" val="9359407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8753C-857F-E0D3-4C6A-A4CED31064C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A964A07-A8C0-B601-458A-55E72458BDC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093F02F-0F95-E5BD-E893-05F98DF6B5C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4EE446F-E7F4-FC62-BF49-D3B81CF935A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9F00D3C-C128-F958-AAF9-26B9B88818B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5894276B-0DBA-B2DD-89C1-388D760F686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11" name="Slide Number Placeholder 5">
            <a:extLst>
              <a:ext uri="{FF2B5EF4-FFF2-40B4-BE49-F238E27FC236}">
                <a16:creationId xmlns:a16="http://schemas.microsoft.com/office/drawing/2014/main" id="{32AB7BA9-7E7A-E7D8-ABF8-F6CC7E58C7EB}"/>
              </a:ext>
            </a:extLst>
          </p:cNvPr>
          <p:cNvSpPr>
            <a:spLocks noGrp="1"/>
          </p:cNvSpPr>
          <p:nvPr>
            <p:ph type="sldNum" sz="quarter" idx="12"/>
          </p:nvPr>
        </p:nvSpPr>
        <p:spPr>
          <a:xfrm>
            <a:off x="11353800" y="6356350"/>
            <a:ext cx="555331" cy="365125"/>
          </a:xfrm>
          <a:prstGeom prst="rect">
            <a:avLst/>
          </a:prstGeom>
        </p:spPr>
        <p:txBody>
          <a:bodyPr/>
          <a:lstStyle>
            <a:lvl1pPr>
              <a:defRPr sz="1400"/>
            </a:lvl1pPr>
          </a:lstStyle>
          <a:p>
            <a:fld id="{44C0E520-CB02-FE44-B9CA-49F8729EC252}" type="slidenum">
              <a:rPr lang="en-US" smtClean="0"/>
              <a:pPr/>
              <a:t>‹#›</a:t>
            </a:fld>
            <a:endParaRPr lang="en-US" dirty="0"/>
          </a:p>
        </p:txBody>
      </p:sp>
      <p:pic>
        <p:nvPicPr>
          <p:cNvPr id="12" name="Picture 11" descr="A black background with a black square&#10;&#10;Description automatically generated with medium confidence">
            <a:extLst>
              <a:ext uri="{FF2B5EF4-FFF2-40B4-BE49-F238E27FC236}">
                <a16:creationId xmlns:a16="http://schemas.microsoft.com/office/drawing/2014/main" id="{BCB34FD9-6CCB-B9CE-08A3-BE8FC5CAF000}"/>
              </a:ext>
            </a:extLst>
          </p:cNvPr>
          <p:cNvPicPr>
            <a:picLocks noChangeAspect="1"/>
          </p:cNvPicPr>
          <p:nvPr userDrawn="1"/>
        </p:nvPicPr>
        <p:blipFill>
          <a:blip r:embed="rId2"/>
          <a:stretch>
            <a:fillRect/>
          </a:stretch>
        </p:blipFill>
        <p:spPr>
          <a:xfrm>
            <a:off x="689804" y="6292442"/>
            <a:ext cx="1079602" cy="320040"/>
          </a:xfrm>
          <a:prstGeom prst="rect">
            <a:avLst/>
          </a:prstGeom>
        </p:spPr>
      </p:pic>
    </p:spTree>
    <p:extLst>
      <p:ext uri="{BB962C8B-B14F-4D97-AF65-F5344CB8AC3E}">
        <p14:creationId xmlns:p14="http://schemas.microsoft.com/office/powerpoint/2010/main" val="28976132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A70F2-49AA-5BE0-EBF5-4004A7A965F9}"/>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8BA7D6BA-B1F8-4E8A-E39A-39AE9AD432F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5">
            <a:extLst>
              <a:ext uri="{FF2B5EF4-FFF2-40B4-BE49-F238E27FC236}">
                <a16:creationId xmlns:a16="http://schemas.microsoft.com/office/drawing/2014/main" id="{0BB06D8E-AAF1-47D2-DF83-09DD2156DF8A}"/>
              </a:ext>
            </a:extLst>
          </p:cNvPr>
          <p:cNvSpPr>
            <a:spLocks noGrp="1"/>
          </p:cNvSpPr>
          <p:nvPr>
            <p:ph type="sldNum" sz="quarter" idx="12"/>
          </p:nvPr>
        </p:nvSpPr>
        <p:spPr>
          <a:xfrm>
            <a:off x="11353800" y="6356350"/>
            <a:ext cx="555331" cy="365125"/>
          </a:xfrm>
          <a:prstGeom prst="rect">
            <a:avLst/>
          </a:prstGeom>
        </p:spPr>
        <p:txBody>
          <a:bodyPr/>
          <a:lstStyle>
            <a:lvl1pPr>
              <a:defRPr sz="1400"/>
            </a:lvl1pPr>
          </a:lstStyle>
          <a:p>
            <a:fld id="{44C0E520-CB02-FE44-B9CA-49F8729EC252}" type="slidenum">
              <a:rPr lang="en-US" smtClean="0"/>
              <a:pPr/>
              <a:t>‹#›</a:t>
            </a:fld>
            <a:endParaRPr lang="en-US" dirty="0"/>
          </a:p>
        </p:txBody>
      </p:sp>
      <p:pic>
        <p:nvPicPr>
          <p:cNvPr id="8" name="Picture 7" descr="A black background with a black square&#10;&#10;Description automatically generated with medium confidence">
            <a:extLst>
              <a:ext uri="{FF2B5EF4-FFF2-40B4-BE49-F238E27FC236}">
                <a16:creationId xmlns:a16="http://schemas.microsoft.com/office/drawing/2014/main" id="{70E49A72-63D4-AF29-60A1-45CE1533E59C}"/>
              </a:ext>
            </a:extLst>
          </p:cNvPr>
          <p:cNvPicPr>
            <a:picLocks noChangeAspect="1"/>
          </p:cNvPicPr>
          <p:nvPr userDrawn="1"/>
        </p:nvPicPr>
        <p:blipFill>
          <a:blip r:embed="rId2"/>
          <a:stretch>
            <a:fillRect/>
          </a:stretch>
        </p:blipFill>
        <p:spPr>
          <a:xfrm>
            <a:off x="689804" y="6292442"/>
            <a:ext cx="1079602" cy="320040"/>
          </a:xfrm>
          <a:prstGeom prst="rect">
            <a:avLst/>
          </a:prstGeom>
        </p:spPr>
      </p:pic>
    </p:spTree>
    <p:extLst>
      <p:ext uri="{BB962C8B-B14F-4D97-AF65-F5344CB8AC3E}">
        <p14:creationId xmlns:p14="http://schemas.microsoft.com/office/powerpoint/2010/main" val="27252218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1F99F6A-70BE-AD00-3510-24ED7010215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5">
            <a:extLst>
              <a:ext uri="{FF2B5EF4-FFF2-40B4-BE49-F238E27FC236}">
                <a16:creationId xmlns:a16="http://schemas.microsoft.com/office/drawing/2014/main" id="{209C9665-2963-79A9-5424-08461EEB03D4}"/>
              </a:ext>
            </a:extLst>
          </p:cNvPr>
          <p:cNvSpPr>
            <a:spLocks noGrp="1"/>
          </p:cNvSpPr>
          <p:nvPr>
            <p:ph type="sldNum" sz="quarter" idx="12"/>
          </p:nvPr>
        </p:nvSpPr>
        <p:spPr>
          <a:xfrm>
            <a:off x="11353800" y="6356350"/>
            <a:ext cx="555331" cy="365125"/>
          </a:xfrm>
          <a:prstGeom prst="rect">
            <a:avLst/>
          </a:prstGeom>
        </p:spPr>
        <p:txBody>
          <a:bodyPr/>
          <a:lstStyle>
            <a:lvl1pPr>
              <a:defRPr sz="1400"/>
            </a:lvl1pPr>
          </a:lstStyle>
          <a:p>
            <a:fld id="{44C0E520-CB02-FE44-B9CA-49F8729EC252}" type="slidenum">
              <a:rPr lang="en-US" smtClean="0"/>
              <a:pPr/>
              <a:t>‹#›</a:t>
            </a:fld>
            <a:endParaRPr lang="en-US" dirty="0"/>
          </a:p>
        </p:txBody>
      </p:sp>
      <p:pic>
        <p:nvPicPr>
          <p:cNvPr id="7" name="Picture 6" descr="A black background with a black square&#10;&#10;Description automatically generated with medium confidence">
            <a:extLst>
              <a:ext uri="{FF2B5EF4-FFF2-40B4-BE49-F238E27FC236}">
                <a16:creationId xmlns:a16="http://schemas.microsoft.com/office/drawing/2014/main" id="{8D4C03E6-5048-08EF-EAD2-CD5D2F85F628}"/>
              </a:ext>
            </a:extLst>
          </p:cNvPr>
          <p:cNvPicPr>
            <a:picLocks noChangeAspect="1"/>
          </p:cNvPicPr>
          <p:nvPr userDrawn="1"/>
        </p:nvPicPr>
        <p:blipFill>
          <a:blip r:embed="rId2"/>
          <a:stretch>
            <a:fillRect/>
          </a:stretch>
        </p:blipFill>
        <p:spPr>
          <a:xfrm>
            <a:off x="689804" y="6292442"/>
            <a:ext cx="1079602" cy="320040"/>
          </a:xfrm>
          <a:prstGeom prst="rect">
            <a:avLst/>
          </a:prstGeom>
        </p:spPr>
      </p:pic>
    </p:spTree>
    <p:extLst>
      <p:ext uri="{BB962C8B-B14F-4D97-AF65-F5344CB8AC3E}">
        <p14:creationId xmlns:p14="http://schemas.microsoft.com/office/powerpoint/2010/main" val="30375239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98077-4443-D0C6-6109-736F91EE9E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84BF44F-5D8C-CECC-6428-C139EF9440D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840EB9B-6D2B-835E-9C75-2088C2E358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0030F3A6-3E9D-74CB-A371-BB4E2B52D3AE}"/>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5">
            <a:extLst>
              <a:ext uri="{FF2B5EF4-FFF2-40B4-BE49-F238E27FC236}">
                <a16:creationId xmlns:a16="http://schemas.microsoft.com/office/drawing/2014/main" id="{B66342E6-B7E4-5641-56C4-8920F29B4C68}"/>
              </a:ext>
            </a:extLst>
          </p:cNvPr>
          <p:cNvSpPr>
            <a:spLocks noGrp="1"/>
          </p:cNvSpPr>
          <p:nvPr>
            <p:ph type="sldNum" sz="quarter" idx="12"/>
          </p:nvPr>
        </p:nvSpPr>
        <p:spPr>
          <a:xfrm>
            <a:off x="11353800" y="6356350"/>
            <a:ext cx="555331" cy="365125"/>
          </a:xfrm>
          <a:prstGeom prst="rect">
            <a:avLst/>
          </a:prstGeom>
        </p:spPr>
        <p:txBody>
          <a:bodyPr/>
          <a:lstStyle>
            <a:lvl1pPr>
              <a:defRPr sz="1400"/>
            </a:lvl1pPr>
          </a:lstStyle>
          <a:p>
            <a:fld id="{44C0E520-CB02-FE44-B9CA-49F8729EC252}" type="slidenum">
              <a:rPr lang="en-US" smtClean="0"/>
              <a:pPr/>
              <a:t>‹#›</a:t>
            </a:fld>
            <a:endParaRPr lang="en-US" dirty="0"/>
          </a:p>
        </p:txBody>
      </p:sp>
      <p:pic>
        <p:nvPicPr>
          <p:cNvPr id="10" name="Picture 9" descr="A black background with a black square&#10;&#10;Description automatically generated with medium confidence">
            <a:extLst>
              <a:ext uri="{FF2B5EF4-FFF2-40B4-BE49-F238E27FC236}">
                <a16:creationId xmlns:a16="http://schemas.microsoft.com/office/drawing/2014/main" id="{5CFF4945-717B-F5D7-3511-A79E9B7CDED0}"/>
              </a:ext>
            </a:extLst>
          </p:cNvPr>
          <p:cNvPicPr>
            <a:picLocks noChangeAspect="1"/>
          </p:cNvPicPr>
          <p:nvPr userDrawn="1"/>
        </p:nvPicPr>
        <p:blipFill>
          <a:blip r:embed="rId2"/>
          <a:stretch>
            <a:fillRect/>
          </a:stretch>
        </p:blipFill>
        <p:spPr>
          <a:xfrm>
            <a:off x="689804" y="6292442"/>
            <a:ext cx="1079602" cy="320040"/>
          </a:xfrm>
          <a:prstGeom prst="rect">
            <a:avLst/>
          </a:prstGeom>
        </p:spPr>
      </p:pic>
    </p:spTree>
    <p:extLst>
      <p:ext uri="{BB962C8B-B14F-4D97-AF65-F5344CB8AC3E}">
        <p14:creationId xmlns:p14="http://schemas.microsoft.com/office/powerpoint/2010/main" val="12711407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72B10-DBA2-ABDA-61E6-F60AE5C5A3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95FFDDF-C6A6-921B-30BB-F05D99C486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63A7FBB-1608-0F3A-5AE6-B490838BA1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1F1CBC6F-19E2-D4D1-DD66-DE5F718A380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5">
            <a:extLst>
              <a:ext uri="{FF2B5EF4-FFF2-40B4-BE49-F238E27FC236}">
                <a16:creationId xmlns:a16="http://schemas.microsoft.com/office/drawing/2014/main" id="{FDBF5C53-2D03-F821-6E06-C6453F775A45}"/>
              </a:ext>
            </a:extLst>
          </p:cNvPr>
          <p:cNvSpPr>
            <a:spLocks noGrp="1"/>
          </p:cNvSpPr>
          <p:nvPr>
            <p:ph type="sldNum" sz="quarter" idx="12"/>
          </p:nvPr>
        </p:nvSpPr>
        <p:spPr>
          <a:xfrm>
            <a:off x="11353800" y="6356350"/>
            <a:ext cx="555331" cy="365125"/>
          </a:xfrm>
          <a:prstGeom prst="rect">
            <a:avLst/>
          </a:prstGeom>
        </p:spPr>
        <p:txBody>
          <a:bodyPr/>
          <a:lstStyle>
            <a:lvl1pPr>
              <a:defRPr sz="1400"/>
            </a:lvl1pPr>
          </a:lstStyle>
          <a:p>
            <a:fld id="{44C0E520-CB02-FE44-B9CA-49F8729EC252}" type="slidenum">
              <a:rPr lang="en-US" smtClean="0"/>
              <a:pPr/>
              <a:t>‹#›</a:t>
            </a:fld>
            <a:endParaRPr lang="en-US" dirty="0"/>
          </a:p>
        </p:txBody>
      </p:sp>
      <p:pic>
        <p:nvPicPr>
          <p:cNvPr id="10" name="Picture 9" descr="A black background with a black square&#10;&#10;Description automatically generated with medium confidence">
            <a:extLst>
              <a:ext uri="{FF2B5EF4-FFF2-40B4-BE49-F238E27FC236}">
                <a16:creationId xmlns:a16="http://schemas.microsoft.com/office/drawing/2014/main" id="{16717761-6C1D-C100-331A-817305DCF02C}"/>
              </a:ext>
            </a:extLst>
          </p:cNvPr>
          <p:cNvPicPr>
            <a:picLocks noChangeAspect="1"/>
          </p:cNvPicPr>
          <p:nvPr userDrawn="1"/>
        </p:nvPicPr>
        <p:blipFill>
          <a:blip r:embed="rId2"/>
          <a:stretch>
            <a:fillRect/>
          </a:stretch>
        </p:blipFill>
        <p:spPr>
          <a:xfrm>
            <a:off x="689804" y="6292442"/>
            <a:ext cx="1079602" cy="320040"/>
          </a:xfrm>
          <a:prstGeom prst="rect">
            <a:avLst/>
          </a:prstGeom>
        </p:spPr>
      </p:pic>
    </p:spTree>
    <p:extLst>
      <p:ext uri="{BB962C8B-B14F-4D97-AF65-F5344CB8AC3E}">
        <p14:creationId xmlns:p14="http://schemas.microsoft.com/office/powerpoint/2010/main" val="27391539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480F5-9498-E821-D8D6-F4B7EF5654F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D3C1DF9-FE27-E389-D92A-4BDD3C8EC06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4F09F2F-1485-8D2F-080F-310B221E655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8" name="Slide Number Placeholder 5">
            <a:extLst>
              <a:ext uri="{FF2B5EF4-FFF2-40B4-BE49-F238E27FC236}">
                <a16:creationId xmlns:a16="http://schemas.microsoft.com/office/drawing/2014/main" id="{7F2CB758-82B7-1390-9529-BF847A5E955A}"/>
              </a:ext>
            </a:extLst>
          </p:cNvPr>
          <p:cNvSpPr>
            <a:spLocks noGrp="1"/>
          </p:cNvSpPr>
          <p:nvPr>
            <p:ph type="sldNum" sz="quarter" idx="12"/>
          </p:nvPr>
        </p:nvSpPr>
        <p:spPr>
          <a:xfrm>
            <a:off x="11353800" y="6356350"/>
            <a:ext cx="555331" cy="365125"/>
          </a:xfrm>
          <a:prstGeom prst="rect">
            <a:avLst/>
          </a:prstGeom>
        </p:spPr>
        <p:txBody>
          <a:bodyPr/>
          <a:lstStyle>
            <a:lvl1pPr>
              <a:defRPr sz="1400"/>
            </a:lvl1pPr>
          </a:lstStyle>
          <a:p>
            <a:fld id="{44C0E520-CB02-FE44-B9CA-49F8729EC252}" type="slidenum">
              <a:rPr lang="en-US" smtClean="0"/>
              <a:pPr/>
              <a:t>‹#›</a:t>
            </a:fld>
            <a:endParaRPr lang="en-US" dirty="0"/>
          </a:p>
        </p:txBody>
      </p:sp>
      <p:pic>
        <p:nvPicPr>
          <p:cNvPr id="9" name="Picture 8" descr="A black background with a black square&#10;&#10;Description automatically generated with medium confidence">
            <a:extLst>
              <a:ext uri="{FF2B5EF4-FFF2-40B4-BE49-F238E27FC236}">
                <a16:creationId xmlns:a16="http://schemas.microsoft.com/office/drawing/2014/main" id="{F71CC720-9150-FDEA-6E2C-E271C15B4B2D}"/>
              </a:ext>
            </a:extLst>
          </p:cNvPr>
          <p:cNvPicPr>
            <a:picLocks noChangeAspect="1"/>
          </p:cNvPicPr>
          <p:nvPr userDrawn="1"/>
        </p:nvPicPr>
        <p:blipFill>
          <a:blip r:embed="rId2"/>
          <a:stretch>
            <a:fillRect/>
          </a:stretch>
        </p:blipFill>
        <p:spPr>
          <a:xfrm>
            <a:off x="689804" y="6292442"/>
            <a:ext cx="1079602" cy="320040"/>
          </a:xfrm>
          <a:prstGeom prst="rect">
            <a:avLst/>
          </a:prstGeom>
        </p:spPr>
      </p:pic>
    </p:spTree>
    <p:extLst>
      <p:ext uri="{BB962C8B-B14F-4D97-AF65-F5344CB8AC3E}">
        <p14:creationId xmlns:p14="http://schemas.microsoft.com/office/powerpoint/2010/main" val="5975556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868D7F1-B837-744D-210B-E2FE2666B70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88E1611-8EE5-8512-5A11-FA79F9455F8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3CE2A52E-70FF-899E-ACE6-8FB9EE8E7121}"/>
              </a:ext>
            </a:extLst>
          </p:cNvPr>
          <p:cNvSpPr>
            <a:spLocks noGrp="1"/>
          </p:cNvSpPr>
          <p:nvPr>
            <p:ph type="ftr" sz="quarter" idx="11"/>
          </p:nvPr>
        </p:nvSpPr>
        <p:spPr>
          <a:xfrm>
            <a:off x="4038600" y="6356350"/>
            <a:ext cx="4114800" cy="365125"/>
          </a:xfrm>
          <a:prstGeom prst="rect">
            <a:avLst/>
          </a:prstGeom>
        </p:spPr>
        <p:txBody>
          <a:bodyPr/>
          <a:lstStyle/>
          <a:p>
            <a:endParaRPr lang="en-US"/>
          </a:p>
        </p:txBody>
      </p:sp>
      <p:pic>
        <p:nvPicPr>
          <p:cNvPr id="7" name="Picture 6" descr="A red letter r on a black background&#10;&#10;Description automatically generated">
            <a:extLst>
              <a:ext uri="{FF2B5EF4-FFF2-40B4-BE49-F238E27FC236}">
                <a16:creationId xmlns:a16="http://schemas.microsoft.com/office/drawing/2014/main" id="{6A7A229A-A3C6-EE8C-E21F-E4BF08345465}"/>
              </a:ext>
            </a:extLst>
          </p:cNvPr>
          <p:cNvPicPr>
            <a:picLocks noChangeAspect="1"/>
          </p:cNvPicPr>
          <p:nvPr userDrawn="1"/>
        </p:nvPicPr>
        <p:blipFill>
          <a:blip r:embed="rId2"/>
          <a:stretch>
            <a:fillRect/>
          </a:stretch>
        </p:blipFill>
        <p:spPr>
          <a:xfrm>
            <a:off x="11185707" y="6392127"/>
            <a:ext cx="369418" cy="274320"/>
          </a:xfrm>
          <a:prstGeom prst="rect">
            <a:avLst/>
          </a:prstGeom>
        </p:spPr>
      </p:pic>
      <p:sp>
        <p:nvSpPr>
          <p:cNvPr id="8" name="Slide Number Placeholder 5">
            <a:extLst>
              <a:ext uri="{FF2B5EF4-FFF2-40B4-BE49-F238E27FC236}">
                <a16:creationId xmlns:a16="http://schemas.microsoft.com/office/drawing/2014/main" id="{7237587B-6E3B-A523-2FC6-5E020F824726}"/>
              </a:ext>
            </a:extLst>
          </p:cNvPr>
          <p:cNvSpPr>
            <a:spLocks noGrp="1"/>
          </p:cNvSpPr>
          <p:nvPr>
            <p:ph type="sldNum" sz="quarter" idx="12"/>
          </p:nvPr>
        </p:nvSpPr>
        <p:spPr>
          <a:xfrm>
            <a:off x="11353800" y="6356350"/>
            <a:ext cx="555331" cy="365125"/>
          </a:xfrm>
          <a:prstGeom prst="rect">
            <a:avLst/>
          </a:prstGeom>
        </p:spPr>
        <p:txBody>
          <a:bodyPr/>
          <a:lstStyle>
            <a:lvl1pPr>
              <a:defRPr sz="1400"/>
            </a:lvl1pPr>
          </a:lstStyle>
          <a:p>
            <a:fld id="{44C0E520-CB02-FE44-B9CA-49F8729EC252}" type="slidenum">
              <a:rPr lang="en-US" smtClean="0"/>
              <a:pPr/>
              <a:t>‹#›</a:t>
            </a:fld>
            <a:endParaRPr lang="en-US" dirty="0"/>
          </a:p>
        </p:txBody>
      </p:sp>
      <p:pic>
        <p:nvPicPr>
          <p:cNvPr id="9" name="Picture 8" descr="A black background with a black square&#10;&#10;Description automatically generated with medium confidence">
            <a:extLst>
              <a:ext uri="{FF2B5EF4-FFF2-40B4-BE49-F238E27FC236}">
                <a16:creationId xmlns:a16="http://schemas.microsoft.com/office/drawing/2014/main" id="{93D4ECC0-5B7E-5189-7B28-DA3573747B75}"/>
              </a:ext>
            </a:extLst>
          </p:cNvPr>
          <p:cNvPicPr>
            <a:picLocks noChangeAspect="1"/>
          </p:cNvPicPr>
          <p:nvPr userDrawn="1"/>
        </p:nvPicPr>
        <p:blipFill>
          <a:blip r:embed="rId3"/>
          <a:stretch>
            <a:fillRect/>
          </a:stretch>
        </p:blipFill>
        <p:spPr>
          <a:xfrm>
            <a:off x="689804" y="6292442"/>
            <a:ext cx="1079602" cy="320040"/>
          </a:xfrm>
          <a:prstGeom prst="rect">
            <a:avLst/>
          </a:prstGeom>
        </p:spPr>
      </p:pic>
    </p:spTree>
    <p:extLst>
      <p:ext uri="{BB962C8B-B14F-4D97-AF65-F5344CB8AC3E}">
        <p14:creationId xmlns:p14="http://schemas.microsoft.com/office/powerpoint/2010/main" val="41653395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4A98615-7318-98AB-5F19-113D83E035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FF142A1-F84F-DB8F-523C-C855F2479AB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056229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rutgers.instructure.com/courses/296076"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31E6F-66C6-64F7-233D-7F5B6A5EF74D}"/>
              </a:ext>
            </a:extLst>
          </p:cNvPr>
          <p:cNvSpPr>
            <a:spLocks noGrp="1"/>
          </p:cNvSpPr>
          <p:nvPr>
            <p:ph type="ctrTitle"/>
          </p:nvPr>
        </p:nvSpPr>
        <p:spPr>
          <a:xfrm>
            <a:off x="1524000" y="2881547"/>
            <a:ext cx="9144000" cy="2275523"/>
          </a:xfrm>
        </p:spPr>
        <p:txBody>
          <a:bodyPr>
            <a:normAutofit fontScale="90000"/>
          </a:bodyPr>
          <a:lstStyle/>
          <a:p>
            <a:r>
              <a:rPr lang="en-US" b="1" u="sng" dirty="0"/>
              <a:t>Data analytics presentation</a:t>
            </a:r>
            <a:br>
              <a:rPr lang="en-US" dirty="0"/>
            </a:br>
            <a:r>
              <a:rPr lang="en-US" b="0" i="0" u="none" strike="noStrike" dirty="0">
                <a:solidFill>
                  <a:srgbClr val="2D3B45"/>
                </a:solidFill>
                <a:effectLst/>
                <a:latin typeface="v-sans"/>
                <a:hlinkClick r:id="rId2"/>
              </a:rPr>
              <a:t>16:540:507:01 DATA ANALY ENG SYST</a:t>
            </a:r>
            <a:br>
              <a:rPr lang="en-US" b="0" i="0" dirty="0">
                <a:solidFill>
                  <a:srgbClr val="2D3B45"/>
                </a:solidFill>
                <a:effectLst/>
                <a:latin typeface="v-sans"/>
              </a:rPr>
            </a:br>
            <a:endParaRPr lang="en-US" dirty="0"/>
          </a:p>
        </p:txBody>
      </p:sp>
      <p:sp>
        <p:nvSpPr>
          <p:cNvPr id="3" name="Subtitle 2">
            <a:extLst>
              <a:ext uri="{FF2B5EF4-FFF2-40B4-BE49-F238E27FC236}">
                <a16:creationId xmlns:a16="http://schemas.microsoft.com/office/drawing/2014/main" id="{F2D9331D-D134-034E-4278-A3BB9D2FD5E8}"/>
              </a:ext>
            </a:extLst>
          </p:cNvPr>
          <p:cNvSpPr>
            <a:spLocks noGrp="1"/>
          </p:cNvSpPr>
          <p:nvPr>
            <p:ph type="subTitle" idx="1"/>
          </p:nvPr>
        </p:nvSpPr>
        <p:spPr>
          <a:xfrm>
            <a:off x="1524000" y="4458564"/>
            <a:ext cx="9144000" cy="1655762"/>
          </a:xfrm>
        </p:spPr>
        <p:txBody>
          <a:bodyPr>
            <a:normAutofit/>
          </a:bodyPr>
          <a:lstStyle/>
          <a:p>
            <a:pPr fontAlgn="base">
              <a:lnSpc>
                <a:spcPts val="3300"/>
              </a:lnSpc>
            </a:pPr>
            <a:r>
              <a:rPr lang="en-US" sz="3600" b="1" i="0" u="sng" dirty="0">
                <a:solidFill>
                  <a:srgbClr val="FF0000"/>
                </a:solidFill>
                <a:effectLst/>
                <a:latin typeface="Inter"/>
              </a:rPr>
              <a:t>Steel Plate Defect Prediction</a:t>
            </a:r>
          </a:p>
          <a:p>
            <a:pPr fontAlgn="base">
              <a:lnSpc>
                <a:spcPts val="3300"/>
              </a:lnSpc>
            </a:pPr>
            <a:r>
              <a:rPr lang="en-US" sz="3600" b="1" u="sng" dirty="0">
                <a:solidFill>
                  <a:srgbClr val="FF0000"/>
                </a:solidFill>
                <a:latin typeface="Inter"/>
              </a:rPr>
              <a:t>Balaji sai Tolapu</a:t>
            </a:r>
            <a:endParaRPr lang="en-US" sz="3600" b="1" i="0" u="sng" dirty="0">
              <a:solidFill>
                <a:srgbClr val="FF0000"/>
              </a:solidFill>
              <a:effectLst/>
              <a:latin typeface="Inter"/>
            </a:endParaRPr>
          </a:p>
        </p:txBody>
      </p:sp>
    </p:spTree>
    <p:extLst>
      <p:ext uri="{BB962C8B-B14F-4D97-AF65-F5344CB8AC3E}">
        <p14:creationId xmlns:p14="http://schemas.microsoft.com/office/powerpoint/2010/main" val="22028383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0707E-29DA-F29F-CCA6-77D2D8E91E58}"/>
              </a:ext>
            </a:extLst>
          </p:cNvPr>
          <p:cNvSpPr>
            <a:spLocks noGrp="1"/>
          </p:cNvSpPr>
          <p:nvPr>
            <p:ph type="title"/>
          </p:nvPr>
        </p:nvSpPr>
        <p:spPr>
          <a:xfrm>
            <a:off x="838200" y="365125"/>
            <a:ext cx="10515600" cy="1138555"/>
          </a:xfrm>
        </p:spPr>
        <p:txBody>
          <a:bodyPr/>
          <a:lstStyle/>
          <a:p>
            <a:r>
              <a:rPr lang="en-US" b="1" u="sng" dirty="0"/>
              <a:t>Content </a:t>
            </a:r>
          </a:p>
        </p:txBody>
      </p:sp>
      <p:sp>
        <p:nvSpPr>
          <p:cNvPr id="3" name="Content Placeholder 2">
            <a:extLst>
              <a:ext uri="{FF2B5EF4-FFF2-40B4-BE49-F238E27FC236}">
                <a16:creationId xmlns:a16="http://schemas.microsoft.com/office/drawing/2014/main" id="{F37C4ED8-661F-84A1-EACD-1EA16AAEA200}"/>
              </a:ext>
            </a:extLst>
          </p:cNvPr>
          <p:cNvSpPr>
            <a:spLocks noGrp="1"/>
          </p:cNvSpPr>
          <p:nvPr>
            <p:ph idx="1"/>
          </p:nvPr>
        </p:nvSpPr>
        <p:spPr>
          <a:xfrm>
            <a:off x="838200" y="1422400"/>
            <a:ext cx="10515600" cy="4754563"/>
          </a:xfrm>
        </p:spPr>
        <p:txBody>
          <a:bodyPr>
            <a:normAutofit fontScale="92500" lnSpcReduction="20000"/>
          </a:bodyPr>
          <a:lstStyle/>
          <a:p>
            <a:pPr algn="l" fontAlgn="base">
              <a:spcBef>
                <a:spcPts val="1200"/>
              </a:spcBef>
              <a:spcAft>
                <a:spcPts val="300"/>
              </a:spcAft>
              <a:buFont typeface="Arial" panose="020B0604020202020204" pitchFamily="34" charset="0"/>
              <a:buChar char="•"/>
            </a:pPr>
            <a:r>
              <a:rPr lang="en-US" b="0" i="0" u="sng" dirty="0">
                <a:solidFill>
                  <a:schemeClr val="accent6">
                    <a:lumMod val="50000"/>
                  </a:schemeClr>
                </a:solidFill>
                <a:effectLst/>
                <a:latin typeface="inherit"/>
              </a:rPr>
              <a:t>INTRODUCTION</a:t>
            </a:r>
            <a:endParaRPr lang="en-US" b="0" i="0" dirty="0">
              <a:solidFill>
                <a:schemeClr val="accent6">
                  <a:lumMod val="50000"/>
                </a:schemeClr>
              </a:solidFill>
              <a:effectLst/>
              <a:latin typeface="inherit"/>
            </a:endParaRPr>
          </a:p>
          <a:p>
            <a:pPr marL="742950" lvl="1" indent="-285750" algn="l" fontAlgn="base">
              <a:spcBef>
                <a:spcPts val="1200"/>
              </a:spcBef>
              <a:spcAft>
                <a:spcPts val="300"/>
              </a:spcAft>
              <a:buFont typeface="Arial" panose="020B0604020202020204" pitchFamily="34" charset="0"/>
              <a:buChar char="•"/>
            </a:pPr>
            <a:r>
              <a:rPr lang="en-US" b="0" i="0" u="sng" dirty="0">
                <a:solidFill>
                  <a:schemeClr val="accent6">
                    <a:lumMod val="50000"/>
                  </a:schemeClr>
                </a:solidFill>
                <a:effectLst/>
                <a:latin typeface="inherit"/>
              </a:rPr>
              <a:t>DATASET COLUMNS</a:t>
            </a:r>
            <a:endParaRPr lang="en-US" b="0" i="0" dirty="0">
              <a:solidFill>
                <a:schemeClr val="accent6">
                  <a:lumMod val="50000"/>
                </a:schemeClr>
              </a:solidFill>
              <a:effectLst/>
              <a:latin typeface="inherit"/>
            </a:endParaRPr>
          </a:p>
          <a:p>
            <a:pPr algn="l" fontAlgn="base">
              <a:spcBef>
                <a:spcPts val="1200"/>
              </a:spcBef>
              <a:spcAft>
                <a:spcPts val="300"/>
              </a:spcAft>
              <a:buFont typeface="Arial" panose="020B0604020202020204" pitchFamily="34" charset="0"/>
              <a:buChar char="•"/>
            </a:pPr>
            <a:r>
              <a:rPr lang="en-US" b="0" i="0" u="sng" dirty="0">
                <a:solidFill>
                  <a:schemeClr val="accent6">
                    <a:lumMod val="50000"/>
                  </a:schemeClr>
                </a:solidFill>
                <a:effectLst/>
                <a:latin typeface="inherit"/>
              </a:rPr>
              <a:t>PREPROCESSING</a:t>
            </a:r>
            <a:endParaRPr lang="en-US" b="0" i="0" dirty="0">
              <a:solidFill>
                <a:schemeClr val="accent6">
                  <a:lumMod val="50000"/>
                </a:schemeClr>
              </a:solidFill>
              <a:effectLst/>
              <a:latin typeface="inherit"/>
            </a:endParaRPr>
          </a:p>
          <a:p>
            <a:pPr algn="l" fontAlgn="base">
              <a:spcBef>
                <a:spcPts val="1200"/>
              </a:spcBef>
              <a:spcAft>
                <a:spcPts val="300"/>
              </a:spcAft>
              <a:buFont typeface="Arial" panose="020B0604020202020204" pitchFamily="34" charset="0"/>
              <a:buChar char="•"/>
            </a:pPr>
            <a:r>
              <a:rPr lang="en-US" b="0" i="0" u="sng" dirty="0">
                <a:solidFill>
                  <a:schemeClr val="accent6">
                    <a:lumMod val="50000"/>
                  </a:schemeClr>
                </a:solidFill>
                <a:effectLst/>
                <a:latin typeface="inherit"/>
              </a:rPr>
              <a:t>EDA</a:t>
            </a:r>
          </a:p>
          <a:p>
            <a:pPr algn="l" fontAlgn="base">
              <a:spcBef>
                <a:spcPts val="1200"/>
              </a:spcBef>
              <a:spcAft>
                <a:spcPts val="300"/>
              </a:spcAft>
              <a:buFont typeface="Arial" panose="020B0604020202020204" pitchFamily="34" charset="0"/>
              <a:buChar char="•"/>
            </a:pPr>
            <a:r>
              <a:rPr lang="en-US" b="0" i="0" u="sng" dirty="0">
                <a:solidFill>
                  <a:schemeClr val="accent6">
                    <a:lumMod val="50000"/>
                  </a:schemeClr>
                </a:solidFill>
                <a:effectLst/>
                <a:latin typeface="inherit"/>
              </a:rPr>
              <a:t>FEATURE ENGINEERING</a:t>
            </a:r>
            <a:endParaRPr lang="en-US" b="0" i="0" dirty="0">
              <a:solidFill>
                <a:schemeClr val="accent6">
                  <a:lumMod val="50000"/>
                </a:schemeClr>
              </a:solidFill>
              <a:effectLst/>
              <a:latin typeface="inherit"/>
            </a:endParaRPr>
          </a:p>
          <a:p>
            <a:pPr algn="l" fontAlgn="base">
              <a:spcBef>
                <a:spcPts val="1200"/>
              </a:spcBef>
              <a:spcAft>
                <a:spcPts val="300"/>
              </a:spcAft>
              <a:buFont typeface="Arial" panose="020B0604020202020204" pitchFamily="34" charset="0"/>
              <a:buChar char="•"/>
            </a:pPr>
            <a:r>
              <a:rPr lang="en-US" b="0" i="0" u="sng" dirty="0">
                <a:solidFill>
                  <a:schemeClr val="accent6">
                    <a:lumMod val="50000"/>
                  </a:schemeClr>
                </a:solidFill>
                <a:effectLst/>
                <a:latin typeface="inherit"/>
              </a:rPr>
              <a:t>DATA TRANSFORMS</a:t>
            </a:r>
            <a:endParaRPr lang="en-US" b="0" i="0" dirty="0">
              <a:solidFill>
                <a:schemeClr val="accent6">
                  <a:lumMod val="50000"/>
                </a:schemeClr>
              </a:solidFill>
              <a:effectLst/>
              <a:latin typeface="inherit"/>
            </a:endParaRPr>
          </a:p>
          <a:p>
            <a:pPr algn="l" fontAlgn="base">
              <a:spcBef>
                <a:spcPts val="1200"/>
              </a:spcBef>
              <a:spcAft>
                <a:spcPts val="300"/>
              </a:spcAft>
              <a:buFont typeface="Arial" panose="020B0604020202020204" pitchFamily="34" charset="0"/>
              <a:buChar char="•"/>
            </a:pPr>
            <a:r>
              <a:rPr lang="en-US" b="0" i="0" u="sng" dirty="0">
                <a:solidFill>
                  <a:schemeClr val="accent6">
                    <a:lumMod val="50000"/>
                  </a:schemeClr>
                </a:solidFill>
                <a:effectLst/>
                <a:latin typeface="inherit"/>
              </a:rPr>
              <a:t>MODEL TRAINING</a:t>
            </a:r>
          </a:p>
          <a:p>
            <a:pPr algn="l" fontAlgn="base">
              <a:spcBef>
                <a:spcPts val="1200"/>
              </a:spcBef>
              <a:spcAft>
                <a:spcPts val="300"/>
              </a:spcAft>
              <a:buFont typeface="Arial" panose="020B0604020202020204" pitchFamily="34" charset="0"/>
              <a:buChar char="•"/>
            </a:pPr>
            <a:r>
              <a:rPr lang="en-US" b="0" i="0" u="sng" dirty="0">
                <a:solidFill>
                  <a:schemeClr val="accent6">
                    <a:lumMod val="50000"/>
                  </a:schemeClr>
                </a:solidFill>
                <a:effectLst/>
                <a:latin typeface="inherit"/>
              </a:rPr>
              <a:t>RESULT AND DISCUSSION</a:t>
            </a:r>
          </a:p>
          <a:p>
            <a:pPr algn="l" fontAlgn="base">
              <a:spcBef>
                <a:spcPts val="1200"/>
              </a:spcBef>
              <a:spcAft>
                <a:spcPts val="300"/>
              </a:spcAft>
              <a:buFont typeface="Arial" panose="020B0604020202020204" pitchFamily="34" charset="0"/>
              <a:buChar char="•"/>
            </a:pPr>
            <a:r>
              <a:rPr lang="en-US" b="0" i="0" u="sng" dirty="0">
                <a:solidFill>
                  <a:schemeClr val="accent6">
                    <a:lumMod val="50000"/>
                  </a:schemeClr>
                </a:solidFill>
                <a:effectLst/>
                <a:latin typeface="inherit"/>
              </a:rPr>
              <a:t>CONCLUSION </a:t>
            </a:r>
          </a:p>
          <a:p>
            <a:r>
              <a:rPr lang="en-US" u="sng" dirty="0">
                <a:solidFill>
                  <a:schemeClr val="accent6">
                    <a:lumMod val="50000"/>
                  </a:schemeClr>
                </a:solidFill>
              </a:rPr>
              <a:t>FUTURE WORK PLANNING</a:t>
            </a:r>
          </a:p>
        </p:txBody>
      </p:sp>
      <p:pic>
        <p:nvPicPr>
          <p:cNvPr id="7" name="Picture 6">
            <a:extLst>
              <a:ext uri="{FF2B5EF4-FFF2-40B4-BE49-F238E27FC236}">
                <a16:creationId xmlns:a16="http://schemas.microsoft.com/office/drawing/2014/main" id="{E92022BE-C6F4-69F6-7240-86E679A31FEB}"/>
              </a:ext>
            </a:extLst>
          </p:cNvPr>
          <p:cNvPicPr>
            <a:picLocks noChangeAspect="1"/>
          </p:cNvPicPr>
          <p:nvPr/>
        </p:nvPicPr>
        <p:blipFill>
          <a:blip r:embed="rId2"/>
          <a:stretch>
            <a:fillRect/>
          </a:stretch>
        </p:blipFill>
        <p:spPr>
          <a:xfrm>
            <a:off x="5351234" y="681037"/>
            <a:ext cx="5494244" cy="5494244"/>
          </a:xfrm>
          <a:prstGeom prst="rect">
            <a:avLst/>
          </a:prstGeom>
        </p:spPr>
      </p:pic>
    </p:spTree>
    <p:extLst>
      <p:ext uri="{BB962C8B-B14F-4D97-AF65-F5344CB8AC3E}">
        <p14:creationId xmlns:p14="http://schemas.microsoft.com/office/powerpoint/2010/main" val="14115912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A38B8-F530-5E43-2ACC-D03F9B7AFF61}"/>
              </a:ext>
            </a:extLst>
          </p:cNvPr>
          <p:cNvSpPr>
            <a:spLocks noGrp="1"/>
          </p:cNvSpPr>
          <p:nvPr>
            <p:ph type="title"/>
          </p:nvPr>
        </p:nvSpPr>
        <p:spPr>
          <a:xfrm>
            <a:off x="838200" y="44242"/>
            <a:ext cx="10515600" cy="1325563"/>
          </a:xfrm>
        </p:spPr>
        <p:txBody>
          <a:bodyPr/>
          <a:lstStyle/>
          <a:p>
            <a:r>
              <a:rPr lang="en-US" u="sng" dirty="0"/>
              <a:t>Introduction</a:t>
            </a:r>
            <a:endParaRPr lang="en-001" u="sng" dirty="0"/>
          </a:p>
        </p:txBody>
      </p:sp>
      <p:sp>
        <p:nvSpPr>
          <p:cNvPr id="5" name="Content Placeholder 4">
            <a:extLst>
              <a:ext uri="{FF2B5EF4-FFF2-40B4-BE49-F238E27FC236}">
                <a16:creationId xmlns:a16="http://schemas.microsoft.com/office/drawing/2014/main" id="{22241E78-F7B6-9933-3332-7B50C2349A08}"/>
              </a:ext>
            </a:extLst>
          </p:cNvPr>
          <p:cNvSpPr>
            <a:spLocks noGrp="1"/>
          </p:cNvSpPr>
          <p:nvPr>
            <p:ph idx="1"/>
          </p:nvPr>
        </p:nvSpPr>
        <p:spPr>
          <a:xfrm>
            <a:off x="838200" y="1239520"/>
            <a:ext cx="10515600" cy="4937443"/>
          </a:xfrm>
        </p:spPr>
        <p:txBody>
          <a:bodyPr>
            <a:normAutofit lnSpcReduction="10000"/>
          </a:bodyPr>
          <a:lstStyle/>
          <a:p>
            <a:r>
              <a:rPr lang="en-001" dirty="0"/>
              <a:t>The primary objective of the evaluation is to assess the predictive accuracy of</a:t>
            </a:r>
            <a:r>
              <a:rPr lang="en-US" dirty="0"/>
              <a:t> </a:t>
            </a:r>
            <a:r>
              <a:rPr lang="en-001" dirty="0"/>
              <a:t>the model in distinguishing between different classes of defects. The metric used</a:t>
            </a:r>
            <a:r>
              <a:rPr lang="en-US" dirty="0"/>
              <a:t> </a:t>
            </a:r>
            <a:r>
              <a:rPr lang="en-001" dirty="0"/>
              <a:t>for this purpose is the Area Under the Receiver Operating Characteristic (ROC)Curve (AUC), which provides a comprehensive measure of the model’s </a:t>
            </a:r>
            <a:r>
              <a:rPr lang="en-001" dirty="0" err="1"/>
              <a:t>abilityto</a:t>
            </a:r>
            <a:r>
              <a:rPr lang="en-001" dirty="0"/>
              <a:t> discriminate between the positive and negative classes across all possible</a:t>
            </a:r>
            <a:r>
              <a:rPr lang="en-US" dirty="0"/>
              <a:t> </a:t>
            </a:r>
            <a:r>
              <a:rPr lang="en-001" dirty="0"/>
              <a:t>threshold values.</a:t>
            </a:r>
            <a:endParaRPr lang="en-US" dirty="0"/>
          </a:p>
          <a:p>
            <a:pPr marL="0" indent="0">
              <a:buNone/>
            </a:pPr>
            <a:r>
              <a:rPr lang="en-US" dirty="0"/>
              <a:t>The AUC metric, particularly when averaged across multiple categories, pro-vides a robust and balanced measure of model performance in multi-class </a:t>
            </a:r>
            <a:r>
              <a:rPr lang="en-US" dirty="0" err="1"/>
              <a:t>clas-sification</a:t>
            </a:r>
            <a:r>
              <a:rPr lang="en-US" dirty="0"/>
              <a:t> scenarios. This approach rewards models that maintain good per-</a:t>
            </a:r>
            <a:r>
              <a:rPr lang="en-US" dirty="0" err="1"/>
              <a:t>formance</a:t>
            </a:r>
            <a:r>
              <a:rPr lang="en-US" dirty="0"/>
              <a:t> across all categories, aligning well with the practical requirements </a:t>
            </a:r>
            <a:r>
              <a:rPr lang="en-US" dirty="0" err="1"/>
              <a:t>ofdefect</a:t>
            </a:r>
            <a:r>
              <a:rPr lang="en-US" dirty="0"/>
              <a:t> detection systems where missing any type of defect could be costly.</a:t>
            </a:r>
            <a:endParaRPr lang="en-001" dirty="0"/>
          </a:p>
          <a:p>
            <a:endParaRPr lang="en-001" dirty="0"/>
          </a:p>
        </p:txBody>
      </p:sp>
    </p:spTree>
    <p:extLst>
      <p:ext uri="{BB962C8B-B14F-4D97-AF65-F5344CB8AC3E}">
        <p14:creationId xmlns:p14="http://schemas.microsoft.com/office/powerpoint/2010/main" val="24845102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44A1B-86A3-9E31-A435-FFC2410F2359}"/>
              </a:ext>
            </a:extLst>
          </p:cNvPr>
          <p:cNvSpPr>
            <a:spLocks noGrp="1"/>
          </p:cNvSpPr>
          <p:nvPr>
            <p:ph type="title"/>
          </p:nvPr>
        </p:nvSpPr>
        <p:spPr/>
        <p:txBody>
          <a:bodyPr/>
          <a:lstStyle/>
          <a:p>
            <a:r>
              <a:rPr lang="en-US" b="1" u="sng" dirty="0"/>
              <a:t>Evaluation Metrics</a:t>
            </a:r>
            <a:endParaRPr lang="en-001" b="1" u="sng" dirty="0"/>
          </a:p>
        </p:txBody>
      </p:sp>
      <p:sp>
        <p:nvSpPr>
          <p:cNvPr id="3" name="Content Placeholder 2">
            <a:extLst>
              <a:ext uri="{FF2B5EF4-FFF2-40B4-BE49-F238E27FC236}">
                <a16:creationId xmlns:a16="http://schemas.microsoft.com/office/drawing/2014/main" id="{964C2EBA-DD5F-AB51-FBE8-C2DEACCD5732}"/>
              </a:ext>
            </a:extLst>
          </p:cNvPr>
          <p:cNvSpPr>
            <a:spLocks noGrp="1"/>
          </p:cNvSpPr>
          <p:nvPr>
            <p:ph idx="1"/>
          </p:nvPr>
        </p:nvSpPr>
        <p:spPr/>
        <p:txBody>
          <a:bodyPr>
            <a:normAutofit fontScale="92500" lnSpcReduction="10000"/>
          </a:bodyPr>
          <a:lstStyle/>
          <a:p>
            <a:r>
              <a:rPr lang="en-US" dirty="0"/>
              <a:t>The evaluation involves the following steps:</a:t>
            </a:r>
          </a:p>
          <a:p>
            <a:pPr marL="0" indent="0">
              <a:buNone/>
            </a:pPr>
            <a:r>
              <a:rPr lang="en-US" dirty="0"/>
              <a:t>1. </a:t>
            </a:r>
            <a:r>
              <a:rPr lang="en-US" b="1" dirty="0"/>
              <a:t>Probability Estimates: </a:t>
            </a:r>
            <a:r>
              <a:rPr lang="en-US" dirty="0"/>
              <a:t>The model is required to output </a:t>
            </a:r>
            <a:r>
              <a:rPr lang="en-US" dirty="0" err="1"/>
              <a:t>probabilityestimates</a:t>
            </a:r>
            <a:r>
              <a:rPr lang="en-US" dirty="0"/>
              <a:t> for each defect category for every observation in the test </a:t>
            </a:r>
            <a:r>
              <a:rPr lang="en-US" dirty="0" err="1"/>
              <a:t>set.These</a:t>
            </a:r>
            <a:r>
              <a:rPr lang="en-US" dirty="0"/>
              <a:t> probabilities indicate the likelihood of each observation </a:t>
            </a:r>
            <a:r>
              <a:rPr lang="en-US" dirty="0" err="1"/>
              <a:t>belongingto</a:t>
            </a:r>
            <a:r>
              <a:rPr lang="en-US" dirty="0"/>
              <a:t> each of the defect categories.</a:t>
            </a:r>
          </a:p>
          <a:p>
            <a:pPr marL="0" indent="0">
              <a:buNone/>
            </a:pPr>
            <a:r>
              <a:rPr lang="en-US" dirty="0"/>
              <a:t>2</a:t>
            </a:r>
            <a:r>
              <a:rPr lang="en-US" b="1" dirty="0"/>
              <a:t>. ROC Curve Construction</a:t>
            </a:r>
            <a:r>
              <a:rPr lang="en-US" dirty="0"/>
              <a:t>: For each defect category, a ROC curve </a:t>
            </a:r>
            <a:r>
              <a:rPr lang="en-US" dirty="0" err="1"/>
              <a:t>isconstructed</a:t>
            </a:r>
            <a:r>
              <a:rPr lang="en-US" dirty="0"/>
              <a:t>. This curve plots the True Positive Rate (TPR) against </a:t>
            </a:r>
            <a:r>
              <a:rPr lang="en-US" dirty="0" err="1"/>
              <a:t>theFalse</a:t>
            </a:r>
            <a:r>
              <a:rPr lang="en-US" dirty="0"/>
              <a:t> Positive Rate (FPR) at various threshold settings.</a:t>
            </a:r>
          </a:p>
          <a:p>
            <a:pPr marL="0" indent="0">
              <a:buNone/>
            </a:pPr>
            <a:r>
              <a:rPr lang="en-US" dirty="0"/>
              <a:t>3. </a:t>
            </a:r>
            <a:r>
              <a:rPr lang="en-US" b="1" dirty="0"/>
              <a:t>AUC Calculation: </a:t>
            </a:r>
            <a:r>
              <a:rPr lang="en-US" dirty="0"/>
              <a:t>The area under each ROC curve is calculated, pro-viding a single scalar value between 0 and 1 that summarizes the </a:t>
            </a:r>
            <a:r>
              <a:rPr lang="en-US" dirty="0" err="1"/>
              <a:t>effec-tiveness</a:t>
            </a:r>
            <a:r>
              <a:rPr lang="en-US" dirty="0"/>
              <a:t> of the model’s predictions for that category. An AUC of 1.0represents perfect discrimination, while an AUC of 0.5 suggests no dis-criminative power</a:t>
            </a:r>
            <a:endParaRPr lang="en-001" dirty="0"/>
          </a:p>
        </p:txBody>
      </p:sp>
    </p:spTree>
    <p:extLst>
      <p:ext uri="{BB962C8B-B14F-4D97-AF65-F5344CB8AC3E}">
        <p14:creationId xmlns:p14="http://schemas.microsoft.com/office/powerpoint/2010/main" val="24524386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E9CE5-FEFB-2349-C6F6-10E6B0DC0844}"/>
              </a:ext>
            </a:extLst>
          </p:cNvPr>
          <p:cNvSpPr>
            <a:spLocks noGrp="1"/>
          </p:cNvSpPr>
          <p:nvPr>
            <p:ph type="title"/>
          </p:nvPr>
        </p:nvSpPr>
        <p:spPr/>
        <p:txBody>
          <a:bodyPr/>
          <a:lstStyle/>
          <a:p>
            <a:r>
              <a:rPr lang="en-US" b="1" u="sng" dirty="0"/>
              <a:t>Final Score Calculation</a:t>
            </a:r>
            <a:endParaRPr lang="en-001" b="1" u="sng" dirty="0"/>
          </a:p>
        </p:txBody>
      </p:sp>
      <p:sp>
        <p:nvSpPr>
          <p:cNvPr id="3" name="Content Placeholder 2">
            <a:extLst>
              <a:ext uri="{FF2B5EF4-FFF2-40B4-BE49-F238E27FC236}">
                <a16:creationId xmlns:a16="http://schemas.microsoft.com/office/drawing/2014/main" id="{6FC278E4-5462-D0C2-D440-CFEAAF78FA98}"/>
              </a:ext>
            </a:extLst>
          </p:cNvPr>
          <p:cNvSpPr>
            <a:spLocks noGrp="1"/>
          </p:cNvSpPr>
          <p:nvPr>
            <p:ph idx="1"/>
          </p:nvPr>
        </p:nvSpPr>
        <p:spPr>
          <a:xfrm>
            <a:off x="838200" y="1825625"/>
            <a:ext cx="10515600" cy="2787015"/>
          </a:xfrm>
        </p:spPr>
        <p:txBody>
          <a:bodyPr/>
          <a:lstStyle/>
          <a:p>
            <a:r>
              <a:rPr lang="en-US" dirty="0"/>
              <a:t>To derive a final score for the model, the AUC values calculated for each of the7 defect categories are averaged. The formula for the final score is given by:</a:t>
            </a:r>
          </a:p>
          <a:p>
            <a:endParaRPr lang="en-001" dirty="0"/>
          </a:p>
        </p:txBody>
      </p:sp>
      <p:pic>
        <p:nvPicPr>
          <p:cNvPr id="5" name="Picture 4">
            <a:extLst>
              <a:ext uri="{FF2B5EF4-FFF2-40B4-BE49-F238E27FC236}">
                <a16:creationId xmlns:a16="http://schemas.microsoft.com/office/drawing/2014/main" id="{DB90B611-5396-B1F8-D575-A51AFDEF4CDE}"/>
              </a:ext>
            </a:extLst>
          </p:cNvPr>
          <p:cNvPicPr>
            <a:picLocks noChangeAspect="1"/>
          </p:cNvPicPr>
          <p:nvPr/>
        </p:nvPicPr>
        <p:blipFill>
          <a:blip r:embed="rId2"/>
          <a:stretch>
            <a:fillRect/>
          </a:stretch>
        </p:blipFill>
        <p:spPr>
          <a:xfrm>
            <a:off x="4312797" y="3269711"/>
            <a:ext cx="3392832" cy="875569"/>
          </a:xfrm>
          <a:prstGeom prst="rect">
            <a:avLst/>
          </a:prstGeom>
        </p:spPr>
      </p:pic>
      <p:sp>
        <p:nvSpPr>
          <p:cNvPr id="7" name="TextBox 6">
            <a:extLst>
              <a:ext uri="{FF2B5EF4-FFF2-40B4-BE49-F238E27FC236}">
                <a16:creationId xmlns:a16="http://schemas.microsoft.com/office/drawing/2014/main" id="{25ACA861-0BB2-86CA-CE5D-9E626A477C98}"/>
              </a:ext>
            </a:extLst>
          </p:cNvPr>
          <p:cNvSpPr txBox="1"/>
          <p:nvPr/>
        </p:nvSpPr>
        <p:spPr>
          <a:xfrm>
            <a:off x="1066800" y="4243308"/>
            <a:ext cx="9824720" cy="369332"/>
          </a:xfrm>
          <a:prstGeom prst="rect">
            <a:avLst/>
          </a:prstGeom>
          <a:noFill/>
        </p:spPr>
        <p:txBody>
          <a:bodyPr wrap="square">
            <a:spAutoFit/>
          </a:bodyPr>
          <a:lstStyle/>
          <a:p>
            <a:r>
              <a:rPr lang="en-001" b="1" dirty="0"/>
              <a:t>where </a:t>
            </a:r>
            <a:r>
              <a:rPr lang="en-001" b="1" dirty="0" err="1"/>
              <a:t>AUCi</a:t>
            </a:r>
            <a:r>
              <a:rPr lang="en-001" b="1" dirty="0"/>
              <a:t> is the area under the ROC curve for the </a:t>
            </a:r>
            <a:r>
              <a:rPr lang="en-001" b="1" dirty="0" err="1"/>
              <a:t>i-th</a:t>
            </a:r>
            <a:r>
              <a:rPr lang="en-001" b="1" dirty="0"/>
              <a:t> defect category</a:t>
            </a:r>
          </a:p>
        </p:txBody>
      </p:sp>
      <p:sp>
        <p:nvSpPr>
          <p:cNvPr id="9" name="TextBox 8">
            <a:extLst>
              <a:ext uri="{FF2B5EF4-FFF2-40B4-BE49-F238E27FC236}">
                <a16:creationId xmlns:a16="http://schemas.microsoft.com/office/drawing/2014/main" id="{B766B4A6-A15B-16D0-A063-48AB51B4600A}"/>
              </a:ext>
            </a:extLst>
          </p:cNvPr>
          <p:cNvSpPr txBox="1"/>
          <p:nvPr/>
        </p:nvSpPr>
        <p:spPr>
          <a:xfrm>
            <a:off x="1066800" y="4605337"/>
            <a:ext cx="10408920" cy="1200329"/>
          </a:xfrm>
          <a:prstGeom prst="rect">
            <a:avLst/>
          </a:prstGeom>
          <a:noFill/>
        </p:spPr>
        <p:txBody>
          <a:bodyPr wrap="square">
            <a:spAutoFit/>
          </a:bodyPr>
          <a:lstStyle/>
          <a:p>
            <a:r>
              <a:rPr lang="en-001" dirty="0"/>
              <a:t>The use of AUC as an evaluation metric allows for a balanced assessment </a:t>
            </a:r>
            <a:r>
              <a:rPr lang="en-001" dirty="0" err="1"/>
              <a:t>ofthe</a:t>
            </a:r>
            <a:r>
              <a:rPr lang="en-001" dirty="0"/>
              <a:t> model’s performance, taking into account both the sensitivity (ability </a:t>
            </a:r>
            <a:r>
              <a:rPr lang="en-001" dirty="0" err="1"/>
              <a:t>todetect</a:t>
            </a:r>
            <a:r>
              <a:rPr lang="en-001" dirty="0"/>
              <a:t> positives) and specificity (ability to avoid false alarms). By </a:t>
            </a:r>
            <a:r>
              <a:rPr lang="en-001" dirty="0" err="1"/>
              <a:t>averagingthe</a:t>
            </a:r>
            <a:r>
              <a:rPr lang="en-001" dirty="0"/>
              <a:t> </a:t>
            </a:r>
            <a:r>
              <a:rPr lang="en-001" dirty="0" err="1"/>
              <a:t>AUCs</a:t>
            </a:r>
            <a:r>
              <a:rPr lang="en-001" dirty="0"/>
              <a:t> across multiple defect categories, the metric ensures that the </a:t>
            </a:r>
            <a:r>
              <a:rPr lang="en-001" dirty="0" err="1"/>
              <a:t>modelis</a:t>
            </a:r>
            <a:r>
              <a:rPr lang="en-001" dirty="0"/>
              <a:t> consistently performing well across all types of defects rather than </a:t>
            </a:r>
            <a:r>
              <a:rPr lang="en-001" dirty="0" err="1"/>
              <a:t>beingbiased</a:t>
            </a:r>
            <a:r>
              <a:rPr lang="en-001" dirty="0"/>
              <a:t> towards any particular type.</a:t>
            </a:r>
          </a:p>
        </p:txBody>
      </p:sp>
    </p:spTree>
    <p:extLst>
      <p:ext uri="{BB962C8B-B14F-4D97-AF65-F5344CB8AC3E}">
        <p14:creationId xmlns:p14="http://schemas.microsoft.com/office/powerpoint/2010/main" val="8085288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9192-6408-FCB8-7818-55F7CBA345FC}"/>
              </a:ext>
            </a:extLst>
          </p:cNvPr>
          <p:cNvSpPr>
            <a:spLocks noGrp="1"/>
          </p:cNvSpPr>
          <p:nvPr>
            <p:ph type="title"/>
          </p:nvPr>
        </p:nvSpPr>
        <p:spPr>
          <a:xfrm>
            <a:off x="523240" y="-92075"/>
            <a:ext cx="10515600" cy="1325563"/>
          </a:xfrm>
        </p:spPr>
        <p:txBody>
          <a:bodyPr>
            <a:normAutofit/>
          </a:bodyPr>
          <a:lstStyle/>
          <a:p>
            <a:r>
              <a:rPr lang="en-US" sz="3600" b="1" u="sng" dirty="0"/>
              <a:t>Little knowledge about data</a:t>
            </a:r>
            <a:endParaRPr lang="en-001" sz="3600" b="1" u="sng" dirty="0"/>
          </a:p>
        </p:txBody>
      </p:sp>
      <p:sp>
        <p:nvSpPr>
          <p:cNvPr id="5" name="Rectangle 1">
            <a:extLst>
              <a:ext uri="{FF2B5EF4-FFF2-40B4-BE49-F238E27FC236}">
                <a16:creationId xmlns:a16="http://schemas.microsoft.com/office/drawing/2014/main" id="{03A15469-2E73-5459-F463-EB2EF305ABB6}"/>
              </a:ext>
            </a:extLst>
          </p:cNvPr>
          <p:cNvSpPr>
            <a:spLocks noChangeArrowheads="1"/>
          </p:cNvSpPr>
          <p:nvPr/>
        </p:nvSpPr>
        <p:spPr bwMode="auto">
          <a:xfrm>
            <a:off x="523240" y="77628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001" altLang="en-001" sz="12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Steel Plates Faults Dataset Features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001" altLang="en-001" sz="1800" b="0" i="0" u="none" strike="noStrike" cap="none" normalizeH="0" baseline="0" dirty="0">
              <a:ln>
                <a:noFill/>
              </a:ln>
              <a:solidFill>
                <a:schemeClr val="tx1"/>
              </a:solidFill>
              <a:effectLst/>
              <a:latin typeface="Arial" panose="020B0604020202020204" pitchFamily="34" charset="0"/>
            </a:endParaRPr>
          </a:p>
        </p:txBody>
      </p:sp>
      <p:graphicFrame>
        <p:nvGraphicFramePr>
          <p:cNvPr id="6" name="Table 5">
            <a:extLst>
              <a:ext uri="{FF2B5EF4-FFF2-40B4-BE49-F238E27FC236}">
                <a16:creationId xmlns:a16="http://schemas.microsoft.com/office/drawing/2014/main" id="{235BA62C-4642-FADD-A04C-73E096D04897}"/>
              </a:ext>
            </a:extLst>
          </p:cNvPr>
          <p:cNvGraphicFramePr>
            <a:graphicFrameLocks noGrp="1"/>
          </p:cNvGraphicFramePr>
          <p:nvPr>
            <p:extLst>
              <p:ext uri="{D42A27DB-BD31-4B8C-83A1-F6EECF244321}">
                <p14:modId xmlns:p14="http://schemas.microsoft.com/office/powerpoint/2010/main" val="706608912"/>
              </p:ext>
            </p:extLst>
          </p:nvPr>
        </p:nvGraphicFramePr>
        <p:xfrm>
          <a:off x="612140" y="1054100"/>
          <a:ext cx="10858500" cy="5184136"/>
        </p:xfrm>
        <a:graphic>
          <a:graphicData uri="http://schemas.openxmlformats.org/drawingml/2006/table">
            <a:tbl>
              <a:tblPr/>
              <a:tblGrid>
                <a:gridCol w="3619500">
                  <a:extLst>
                    <a:ext uri="{9D8B030D-6E8A-4147-A177-3AD203B41FA5}">
                      <a16:colId xmlns:a16="http://schemas.microsoft.com/office/drawing/2014/main" val="1500915917"/>
                    </a:ext>
                  </a:extLst>
                </a:gridCol>
                <a:gridCol w="3619500">
                  <a:extLst>
                    <a:ext uri="{9D8B030D-6E8A-4147-A177-3AD203B41FA5}">
                      <a16:colId xmlns:a16="http://schemas.microsoft.com/office/drawing/2014/main" val="3610541338"/>
                    </a:ext>
                  </a:extLst>
                </a:gridCol>
                <a:gridCol w="3619500">
                  <a:extLst>
                    <a:ext uri="{9D8B030D-6E8A-4147-A177-3AD203B41FA5}">
                      <a16:colId xmlns:a16="http://schemas.microsoft.com/office/drawing/2014/main" val="2138370062"/>
                    </a:ext>
                  </a:extLst>
                </a:gridCol>
              </a:tblGrid>
              <a:tr h="190578">
                <a:tc>
                  <a:txBody>
                    <a:bodyPr/>
                    <a:lstStyle/>
                    <a:p>
                      <a:pPr algn="l"/>
                      <a:r>
                        <a:rPr lang="en-US" sz="700" dirty="0">
                          <a:effectLst/>
                        </a:rPr>
                        <a:t>Feature Category</a:t>
                      </a:r>
                    </a:p>
                  </a:txBody>
                  <a:tcPr marL="28477" marR="28477" marT="28477" marB="2847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700">
                          <a:effectLst/>
                        </a:rPr>
                        <a:t>Feature</a:t>
                      </a:r>
                    </a:p>
                  </a:txBody>
                  <a:tcPr marL="28477" marR="28477" marT="28477" marB="2847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700">
                          <a:effectLst/>
                        </a:rPr>
                        <a:t>Description</a:t>
                      </a:r>
                    </a:p>
                  </a:txBody>
                  <a:tcPr marL="28477" marR="28477" marT="28477" marB="2847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2703769224"/>
                  </a:ext>
                </a:extLst>
              </a:tr>
              <a:tr h="190578">
                <a:tc rowSpan="4">
                  <a:txBody>
                    <a:bodyPr/>
                    <a:lstStyle/>
                    <a:p>
                      <a:pPr algn="l"/>
                      <a:r>
                        <a:rPr lang="en-US" sz="700" dirty="0">
                          <a:effectLst/>
                        </a:rPr>
                        <a:t>Location Features</a:t>
                      </a:r>
                    </a:p>
                  </a:txBody>
                  <a:tcPr marL="28477" marR="28477" marT="28477" marB="2847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US" sz="700">
                          <a:effectLst/>
                        </a:rPr>
                        <a:t>X_Minimum</a:t>
                      </a:r>
                    </a:p>
                  </a:txBody>
                  <a:tcPr marL="28477" marR="28477" marT="28477" marB="2847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US" sz="700">
                          <a:effectLst/>
                        </a:rPr>
                        <a:t>Minimum x-coordinate of the fault</a:t>
                      </a:r>
                    </a:p>
                  </a:txBody>
                  <a:tcPr marL="28477" marR="28477" marT="28477" marB="2847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3533202042"/>
                  </a:ext>
                </a:extLst>
              </a:tr>
              <a:tr h="190578">
                <a:tc vMerge="1">
                  <a:txBody>
                    <a:bodyPr/>
                    <a:lstStyle/>
                    <a:p>
                      <a:endParaRPr lang="en-001"/>
                    </a:p>
                  </a:txBody>
                  <a:tcPr/>
                </a:tc>
                <a:tc>
                  <a:txBody>
                    <a:bodyPr/>
                    <a:lstStyle/>
                    <a:p>
                      <a:pPr algn="l"/>
                      <a:r>
                        <a:rPr lang="en-US" sz="700">
                          <a:effectLst/>
                        </a:rPr>
                        <a:t>X_Maximum</a:t>
                      </a:r>
                    </a:p>
                  </a:txBody>
                  <a:tcPr marL="28477" marR="28477" marT="28477" marB="2847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US" sz="700">
                          <a:effectLst/>
                        </a:rPr>
                        <a:t>Maximum x-coordinate of the fault</a:t>
                      </a:r>
                    </a:p>
                  </a:txBody>
                  <a:tcPr marL="28477" marR="28477" marT="28477" marB="2847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40805735"/>
                  </a:ext>
                </a:extLst>
              </a:tr>
              <a:tr h="190578">
                <a:tc vMerge="1">
                  <a:txBody>
                    <a:bodyPr/>
                    <a:lstStyle/>
                    <a:p>
                      <a:endParaRPr lang="en-001"/>
                    </a:p>
                  </a:txBody>
                  <a:tcPr/>
                </a:tc>
                <a:tc>
                  <a:txBody>
                    <a:bodyPr/>
                    <a:lstStyle/>
                    <a:p>
                      <a:pPr algn="l"/>
                      <a:r>
                        <a:rPr lang="en-US" sz="700">
                          <a:effectLst/>
                        </a:rPr>
                        <a:t>Y_Minimum</a:t>
                      </a:r>
                    </a:p>
                  </a:txBody>
                  <a:tcPr marL="28477" marR="28477" marT="28477" marB="2847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US" sz="700">
                          <a:effectLst/>
                        </a:rPr>
                        <a:t>Minimum y-coordinate of the fault</a:t>
                      </a:r>
                    </a:p>
                  </a:txBody>
                  <a:tcPr marL="28477" marR="28477" marT="28477" marB="2847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128179755"/>
                  </a:ext>
                </a:extLst>
              </a:tr>
              <a:tr h="190578">
                <a:tc vMerge="1">
                  <a:txBody>
                    <a:bodyPr/>
                    <a:lstStyle/>
                    <a:p>
                      <a:endParaRPr lang="en-001"/>
                    </a:p>
                  </a:txBody>
                  <a:tcPr/>
                </a:tc>
                <a:tc>
                  <a:txBody>
                    <a:bodyPr/>
                    <a:lstStyle/>
                    <a:p>
                      <a:pPr algn="l"/>
                      <a:r>
                        <a:rPr lang="en-US" sz="700">
                          <a:effectLst/>
                        </a:rPr>
                        <a:t>Y_Maximum</a:t>
                      </a:r>
                    </a:p>
                  </a:txBody>
                  <a:tcPr marL="28477" marR="28477" marT="28477" marB="2847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US" sz="700">
                          <a:effectLst/>
                        </a:rPr>
                        <a:t>Maximum y-coordinate of the fault</a:t>
                      </a:r>
                    </a:p>
                  </a:txBody>
                  <a:tcPr marL="28477" marR="28477" marT="28477" marB="2847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345572601"/>
                  </a:ext>
                </a:extLst>
              </a:tr>
              <a:tr h="190578">
                <a:tc rowSpan="3">
                  <a:txBody>
                    <a:bodyPr/>
                    <a:lstStyle/>
                    <a:p>
                      <a:pPr algn="l"/>
                      <a:r>
                        <a:rPr lang="en-US" sz="700" dirty="0">
                          <a:effectLst/>
                        </a:rPr>
                        <a:t>Size Features</a:t>
                      </a:r>
                    </a:p>
                  </a:txBody>
                  <a:tcPr marL="28477" marR="28477" marT="28477" marB="2847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US" sz="700">
                          <a:effectLst/>
                        </a:rPr>
                        <a:t>Pixels_Areas</a:t>
                      </a:r>
                    </a:p>
                  </a:txBody>
                  <a:tcPr marL="28477" marR="28477" marT="28477" marB="2847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US" sz="700">
                          <a:effectLst/>
                        </a:rPr>
                        <a:t>Area of the fault in pixels</a:t>
                      </a:r>
                    </a:p>
                  </a:txBody>
                  <a:tcPr marL="28477" marR="28477" marT="28477" marB="2847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474316225"/>
                  </a:ext>
                </a:extLst>
              </a:tr>
              <a:tr h="190578">
                <a:tc vMerge="1">
                  <a:txBody>
                    <a:bodyPr/>
                    <a:lstStyle/>
                    <a:p>
                      <a:endParaRPr lang="en-001"/>
                    </a:p>
                  </a:txBody>
                  <a:tcPr/>
                </a:tc>
                <a:tc>
                  <a:txBody>
                    <a:bodyPr/>
                    <a:lstStyle/>
                    <a:p>
                      <a:pPr algn="l"/>
                      <a:r>
                        <a:rPr lang="en-US" sz="700">
                          <a:effectLst/>
                        </a:rPr>
                        <a:t>X_Perimeter</a:t>
                      </a:r>
                    </a:p>
                  </a:txBody>
                  <a:tcPr marL="28477" marR="28477" marT="28477" marB="2847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US" sz="700">
                          <a:effectLst/>
                        </a:rPr>
                        <a:t>Perimeter along the x-axis of the fault</a:t>
                      </a:r>
                    </a:p>
                  </a:txBody>
                  <a:tcPr marL="28477" marR="28477" marT="28477" marB="2847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513227964"/>
                  </a:ext>
                </a:extLst>
              </a:tr>
              <a:tr h="190578">
                <a:tc vMerge="1">
                  <a:txBody>
                    <a:bodyPr/>
                    <a:lstStyle/>
                    <a:p>
                      <a:endParaRPr lang="en-001"/>
                    </a:p>
                  </a:txBody>
                  <a:tcPr/>
                </a:tc>
                <a:tc>
                  <a:txBody>
                    <a:bodyPr/>
                    <a:lstStyle/>
                    <a:p>
                      <a:pPr algn="l"/>
                      <a:r>
                        <a:rPr lang="en-US" sz="700">
                          <a:effectLst/>
                        </a:rPr>
                        <a:t>Y_Perimeter</a:t>
                      </a:r>
                    </a:p>
                  </a:txBody>
                  <a:tcPr marL="28477" marR="28477" marT="28477" marB="2847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US" sz="700" dirty="0">
                          <a:effectLst/>
                        </a:rPr>
                        <a:t>Perimeter along the y-axis of the fault</a:t>
                      </a:r>
                    </a:p>
                  </a:txBody>
                  <a:tcPr marL="28477" marR="28477" marT="28477" marB="2847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3764169777"/>
                  </a:ext>
                </a:extLst>
              </a:tr>
              <a:tr h="190578">
                <a:tc rowSpan="3">
                  <a:txBody>
                    <a:bodyPr/>
                    <a:lstStyle/>
                    <a:p>
                      <a:pPr algn="l"/>
                      <a:r>
                        <a:rPr lang="en-US" sz="700">
                          <a:effectLst/>
                        </a:rPr>
                        <a:t>Luminosity Features</a:t>
                      </a:r>
                    </a:p>
                  </a:txBody>
                  <a:tcPr marL="28477" marR="28477" marT="28477" marB="2847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US" sz="700">
                          <a:effectLst/>
                        </a:rPr>
                        <a:t>Sum_of_Luminosity</a:t>
                      </a:r>
                    </a:p>
                  </a:txBody>
                  <a:tcPr marL="28477" marR="28477" marT="28477" marB="2847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US" sz="700">
                          <a:effectLst/>
                        </a:rPr>
                        <a:t>Sum of luminosity values in the fault area</a:t>
                      </a:r>
                    </a:p>
                  </a:txBody>
                  <a:tcPr marL="28477" marR="28477" marT="28477" marB="2847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015727309"/>
                  </a:ext>
                </a:extLst>
              </a:tr>
              <a:tr h="190578">
                <a:tc vMerge="1">
                  <a:txBody>
                    <a:bodyPr/>
                    <a:lstStyle/>
                    <a:p>
                      <a:endParaRPr lang="en-001"/>
                    </a:p>
                  </a:txBody>
                  <a:tcPr/>
                </a:tc>
                <a:tc>
                  <a:txBody>
                    <a:bodyPr/>
                    <a:lstStyle/>
                    <a:p>
                      <a:pPr algn="l"/>
                      <a:r>
                        <a:rPr lang="en-US" sz="700">
                          <a:effectLst/>
                        </a:rPr>
                        <a:t>Minimum_of_Luminosity</a:t>
                      </a:r>
                    </a:p>
                  </a:txBody>
                  <a:tcPr marL="28477" marR="28477" marT="28477" marB="2847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US" sz="700">
                          <a:effectLst/>
                        </a:rPr>
                        <a:t>Minimum luminosity value in the fault area</a:t>
                      </a:r>
                    </a:p>
                  </a:txBody>
                  <a:tcPr marL="28477" marR="28477" marT="28477" marB="2847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3265109941"/>
                  </a:ext>
                </a:extLst>
              </a:tr>
              <a:tr h="190578">
                <a:tc vMerge="1">
                  <a:txBody>
                    <a:bodyPr/>
                    <a:lstStyle/>
                    <a:p>
                      <a:endParaRPr lang="en-001"/>
                    </a:p>
                  </a:txBody>
                  <a:tcPr/>
                </a:tc>
                <a:tc>
                  <a:txBody>
                    <a:bodyPr/>
                    <a:lstStyle/>
                    <a:p>
                      <a:pPr algn="l"/>
                      <a:r>
                        <a:rPr lang="en-US" sz="700">
                          <a:effectLst/>
                        </a:rPr>
                        <a:t>Maximum_of_Luminosity</a:t>
                      </a:r>
                    </a:p>
                  </a:txBody>
                  <a:tcPr marL="28477" marR="28477" marT="28477" marB="2847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US" sz="700">
                          <a:effectLst/>
                        </a:rPr>
                        <a:t>Maximum luminosity value in the fault area</a:t>
                      </a:r>
                    </a:p>
                  </a:txBody>
                  <a:tcPr marL="28477" marR="28477" marT="28477" marB="2847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405513518"/>
                  </a:ext>
                </a:extLst>
              </a:tr>
              <a:tr h="190578">
                <a:tc rowSpan="9">
                  <a:txBody>
                    <a:bodyPr/>
                    <a:lstStyle/>
                    <a:p>
                      <a:pPr algn="l"/>
                      <a:r>
                        <a:rPr lang="en-US" sz="700">
                          <a:effectLst/>
                        </a:rPr>
                        <a:t>Material and Index Features</a:t>
                      </a:r>
                    </a:p>
                  </a:txBody>
                  <a:tcPr marL="28477" marR="28477" marT="28477" marB="2847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US" sz="700">
                          <a:effectLst/>
                        </a:rPr>
                        <a:t>TypeOfSteel_A300</a:t>
                      </a:r>
                    </a:p>
                  </a:txBody>
                  <a:tcPr marL="28477" marR="28477" marT="28477" marB="2847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US" sz="700">
                          <a:effectLst/>
                        </a:rPr>
                        <a:t>Type of steel (A300)</a:t>
                      </a:r>
                    </a:p>
                  </a:txBody>
                  <a:tcPr marL="28477" marR="28477" marT="28477" marB="2847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4238319088"/>
                  </a:ext>
                </a:extLst>
              </a:tr>
              <a:tr h="190578">
                <a:tc vMerge="1">
                  <a:txBody>
                    <a:bodyPr/>
                    <a:lstStyle/>
                    <a:p>
                      <a:endParaRPr lang="en-001"/>
                    </a:p>
                  </a:txBody>
                  <a:tcPr/>
                </a:tc>
                <a:tc>
                  <a:txBody>
                    <a:bodyPr/>
                    <a:lstStyle/>
                    <a:p>
                      <a:pPr algn="l"/>
                      <a:r>
                        <a:rPr lang="en-US" sz="700">
                          <a:effectLst/>
                        </a:rPr>
                        <a:t>TypeOfSteel_A400</a:t>
                      </a:r>
                    </a:p>
                  </a:txBody>
                  <a:tcPr marL="28477" marR="28477" marT="28477" marB="2847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US" sz="700">
                          <a:effectLst/>
                        </a:rPr>
                        <a:t>Type of steel (A400)</a:t>
                      </a:r>
                    </a:p>
                  </a:txBody>
                  <a:tcPr marL="28477" marR="28477" marT="28477" marB="2847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3434923659"/>
                  </a:ext>
                </a:extLst>
              </a:tr>
              <a:tr h="190578">
                <a:tc vMerge="1">
                  <a:txBody>
                    <a:bodyPr/>
                    <a:lstStyle/>
                    <a:p>
                      <a:endParaRPr lang="en-001"/>
                    </a:p>
                  </a:txBody>
                  <a:tcPr/>
                </a:tc>
                <a:tc>
                  <a:txBody>
                    <a:bodyPr/>
                    <a:lstStyle/>
                    <a:p>
                      <a:pPr algn="l"/>
                      <a:r>
                        <a:rPr lang="en-US" sz="700">
                          <a:effectLst/>
                        </a:rPr>
                        <a:t>Steel_Plate_Thickness</a:t>
                      </a:r>
                    </a:p>
                  </a:txBody>
                  <a:tcPr marL="28477" marR="28477" marT="28477" marB="2847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US" sz="700">
                          <a:effectLst/>
                        </a:rPr>
                        <a:t>Thickness of the steel plate</a:t>
                      </a:r>
                    </a:p>
                  </a:txBody>
                  <a:tcPr marL="28477" marR="28477" marT="28477" marB="2847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101188814"/>
                  </a:ext>
                </a:extLst>
              </a:tr>
              <a:tr h="190578">
                <a:tc vMerge="1">
                  <a:txBody>
                    <a:bodyPr/>
                    <a:lstStyle/>
                    <a:p>
                      <a:endParaRPr lang="en-001"/>
                    </a:p>
                  </a:txBody>
                  <a:tcPr/>
                </a:tc>
                <a:tc>
                  <a:txBody>
                    <a:bodyPr/>
                    <a:lstStyle/>
                    <a:p>
                      <a:pPr algn="l"/>
                      <a:r>
                        <a:rPr lang="en-US" sz="700">
                          <a:effectLst/>
                        </a:rPr>
                        <a:t>Edges_Index</a:t>
                      </a:r>
                    </a:p>
                  </a:txBody>
                  <a:tcPr marL="28477" marR="28477" marT="28477" marB="2847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US" sz="700">
                          <a:effectLst/>
                        </a:rPr>
                        <a:t>Index related to edges</a:t>
                      </a:r>
                    </a:p>
                  </a:txBody>
                  <a:tcPr marL="28477" marR="28477" marT="28477" marB="2847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4111241655"/>
                  </a:ext>
                </a:extLst>
              </a:tr>
              <a:tr h="190578">
                <a:tc vMerge="1">
                  <a:txBody>
                    <a:bodyPr/>
                    <a:lstStyle/>
                    <a:p>
                      <a:endParaRPr lang="en-001"/>
                    </a:p>
                  </a:txBody>
                  <a:tcPr/>
                </a:tc>
                <a:tc>
                  <a:txBody>
                    <a:bodyPr/>
                    <a:lstStyle/>
                    <a:p>
                      <a:pPr algn="l"/>
                      <a:r>
                        <a:rPr lang="en-US" sz="700">
                          <a:effectLst/>
                        </a:rPr>
                        <a:t>Empty_Index</a:t>
                      </a:r>
                    </a:p>
                  </a:txBody>
                  <a:tcPr marL="28477" marR="28477" marT="28477" marB="2847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US" sz="700">
                          <a:effectLst/>
                        </a:rPr>
                        <a:t>Index indicating the presence of empty areas</a:t>
                      </a:r>
                    </a:p>
                  </a:txBody>
                  <a:tcPr marL="28477" marR="28477" marT="28477" marB="2847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353784129"/>
                  </a:ext>
                </a:extLst>
              </a:tr>
              <a:tr h="190578">
                <a:tc vMerge="1">
                  <a:txBody>
                    <a:bodyPr/>
                    <a:lstStyle/>
                    <a:p>
                      <a:endParaRPr lang="en-001"/>
                    </a:p>
                  </a:txBody>
                  <a:tcPr/>
                </a:tc>
                <a:tc>
                  <a:txBody>
                    <a:bodyPr/>
                    <a:lstStyle/>
                    <a:p>
                      <a:pPr algn="l"/>
                      <a:r>
                        <a:rPr lang="en-US" sz="700">
                          <a:effectLst/>
                        </a:rPr>
                        <a:t>Square_Index</a:t>
                      </a:r>
                    </a:p>
                  </a:txBody>
                  <a:tcPr marL="28477" marR="28477" marT="28477" marB="2847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US" sz="700">
                          <a:effectLst/>
                        </a:rPr>
                        <a:t>Index measuring squareness of the fault</a:t>
                      </a:r>
                    </a:p>
                  </a:txBody>
                  <a:tcPr marL="28477" marR="28477" marT="28477" marB="2847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413595373"/>
                  </a:ext>
                </a:extLst>
              </a:tr>
              <a:tr h="190578">
                <a:tc vMerge="1">
                  <a:txBody>
                    <a:bodyPr/>
                    <a:lstStyle/>
                    <a:p>
                      <a:endParaRPr lang="en-001"/>
                    </a:p>
                  </a:txBody>
                  <a:tcPr/>
                </a:tc>
                <a:tc>
                  <a:txBody>
                    <a:bodyPr/>
                    <a:lstStyle/>
                    <a:p>
                      <a:pPr algn="l"/>
                      <a:r>
                        <a:rPr lang="en-US" sz="700">
                          <a:effectLst/>
                        </a:rPr>
                        <a:t>Outside_X_Index</a:t>
                      </a:r>
                    </a:p>
                  </a:txBody>
                  <a:tcPr marL="28477" marR="28477" marT="28477" marB="2847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US" sz="700">
                          <a:effectLst/>
                        </a:rPr>
                        <a:t>Index measuring alignment along the x-axis</a:t>
                      </a:r>
                    </a:p>
                  </a:txBody>
                  <a:tcPr marL="28477" marR="28477" marT="28477" marB="2847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3601962600"/>
                  </a:ext>
                </a:extLst>
              </a:tr>
              <a:tr h="305132">
                <a:tc vMerge="1">
                  <a:txBody>
                    <a:bodyPr/>
                    <a:lstStyle/>
                    <a:p>
                      <a:endParaRPr lang="en-001"/>
                    </a:p>
                  </a:txBody>
                  <a:tcPr/>
                </a:tc>
                <a:tc>
                  <a:txBody>
                    <a:bodyPr/>
                    <a:lstStyle/>
                    <a:p>
                      <a:pPr algn="l"/>
                      <a:r>
                        <a:rPr lang="en-US" sz="700">
                          <a:effectLst/>
                        </a:rPr>
                        <a:t>Edges_X_Index</a:t>
                      </a:r>
                    </a:p>
                  </a:txBody>
                  <a:tcPr marL="28477" marR="28477" marT="28477" marB="2847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US" sz="700">
                          <a:effectLst/>
                        </a:rPr>
                        <a:t>Index measuring alignment along edges parallel to the x-axis</a:t>
                      </a:r>
                    </a:p>
                  </a:txBody>
                  <a:tcPr marL="28477" marR="28477" marT="28477" marB="2847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4207712479"/>
                  </a:ext>
                </a:extLst>
              </a:tr>
              <a:tr h="305132">
                <a:tc vMerge="1">
                  <a:txBody>
                    <a:bodyPr/>
                    <a:lstStyle/>
                    <a:p>
                      <a:endParaRPr lang="en-001"/>
                    </a:p>
                  </a:txBody>
                  <a:tcPr/>
                </a:tc>
                <a:tc>
                  <a:txBody>
                    <a:bodyPr/>
                    <a:lstStyle/>
                    <a:p>
                      <a:pPr algn="l"/>
                      <a:r>
                        <a:rPr lang="en-US" sz="700">
                          <a:effectLst/>
                        </a:rPr>
                        <a:t>Edges_Y_Index</a:t>
                      </a:r>
                    </a:p>
                  </a:txBody>
                  <a:tcPr marL="28477" marR="28477" marT="28477" marB="2847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US" sz="700">
                          <a:effectLst/>
                        </a:rPr>
                        <a:t>Index measuring alignment along edges parallel to the y-axis</a:t>
                      </a:r>
                    </a:p>
                  </a:txBody>
                  <a:tcPr marL="28477" marR="28477" marT="28477" marB="2847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39244174"/>
                  </a:ext>
                </a:extLst>
              </a:tr>
              <a:tr h="190578">
                <a:tc rowSpan="3">
                  <a:txBody>
                    <a:bodyPr/>
                    <a:lstStyle/>
                    <a:p>
                      <a:pPr algn="l"/>
                      <a:r>
                        <a:rPr lang="en-US" sz="700">
                          <a:effectLst/>
                        </a:rPr>
                        <a:t>Logarithmic Features</a:t>
                      </a:r>
                    </a:p>
                  </a:txBody>
                  <a:tcPr marL="28477" marR="28477" marT="28477" marB="2847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US" sz="700">
                          <a:effectLst/>
                        </a:rPr>
                        <a:t>LogOfAreas</a:t>
                      </a:r>
                    </a:p>
                  </a:txBody>
                  <a:tcPr marL="28477" marR="28477" marT="28477" marB="2847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US" sz="700">
                          <a:effectLst/>
                        </a:rPr>
                        <a:t>Logarithm of the area of the fault</a:t>
                      </a:r>
                    </a:p>
                  </a:txBody>
                  <a:tcPr marL="28477" marR="28477" marT="28477" marB="2847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753174884"/>
                  </a:ext>
                </a:extLst>
              </a:tr>
              <a:tr h="190578">
                <a:tc vMerge="1">
                  <a:txBody>
                    <a:bodyPr/>
                    <a:lstStyle/>
                    <a:p>
                      <a:endParaRPr lang="en-001"/>
                    </a:p>
                  </a:txBody>
                  <a:tcPr/>
                </a:tc>
                <a:tc>
                  <a:txBody>
                    <a:bodyPr/>
                    <a:lstStyle/>
                    <a:p>
                      <a:pPr algn="l"/>
                      <a:r>
                        <a:rPr lang="en-US" sz="700">
                          <a:effectLst/>
                        </a:rPr>
                        <a:t>Log_X_Index</a:t>
                      </a:r>
                    </a:p>
                  </a:txBody>
                  <a:tcPr marL="28477" marR="28477" marT="28477" marB="2847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US" sz="700">
                          <a:effectLst/>
                        </a:rPr>
                        <a:t>Logarithmic index related to the X coordinate</a:t>
                      </a:r>
                    </a:p>
                  </a:txBody>
                  <a:tcPr marL="28477" marR="28477" marT="28477" marB="2847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326183232"/>
                  </a:ext>
                </a:extLst>
              </a:tr>
              <a:tr h="190578">
                <a:tc vMerge="1">
                  <a:txBody>
                    <a:bodyPr/>
                    <a:lstStyle/>
                    <a:p>
                      <a:endParaRPr lang="en-001"/>
                    </a:p>
                  </a:txBody>
                  <a:tcPr/>
                </a:tc>
                <a:tc>
                  <a:txBody>
                    <a:bodyPr/>
                    <a:lstStyle/>
                    <a:p>
                      <a:pPr algn="l"/>
                      <a:r>
                        <a:rPr lang="en-US" sz="700">
                          <a:effectLst/>
                        </a:rPr>
                        <a:t>Log_Y_Index</a:t>
                      </a:r>
                    </a:p>
                  </a:txBody>
                  <a:tcPr marL="28477" marR="28477" marT="28477" marB="2847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US" sz="700">
                          <a:effectLst/>
                        </a:rPr>
                        <a:t>Logarithmic index related to the Y coordinate</a:t>
                      </a:r>
                    </a:p>
                  </a:txBody>
                  <a:tcPr marL="28477" marR="28477" marT="28477" marB="2847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535356188"/>
                  </a:ext>
                </a:extLst>
              </a:tr>
              <a:tr h="190578">
                <a:tc rowSpan="3">
                  <a:txBody>
                    <a:bodyPr/>
                    <a:lstStyle/>
                    <a:p>
                      <a:pPr algn="l"/>
                      <a:r>
                        <a:rPr lang="en-US" sz="700" dirty="0">
                          <a:effectLst/>
                        </a:rPr>
                        <a:t>Statistical Features</a:t>
                      </a:r>
                    </a:p>
                  </a:txBody>
                  <a:tcPr marL="28477" marR="28477" marT="28477" marB="2847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US" sz="700">
                          <a:effectLst/>
                        </a:rPr>
                        <a:t>Orientation_Index</a:t>
                      </a:r>
                    </a:p>
                  </a:txBody>
                  <a:tcPr marL="28477" marR="28477" marT="28477" marB="2847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US" sz="700">
                          <a:effectLst/>
                        </a:rPr>
                        <a:t>Index describing orientation</a:t>
                      </a:r>
                    </a:p>
                  </a:txBody>
                  <a:tcPr marL="28477" marR="28477" marT="28477" marB="2847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3392496705"/>
                  </a:ext>
                </a:extLst>
              </a:tr>
              <a:tr h="190578">
                <a:tc vMerge="1">
                  <a:txBody>
                    <a:bodyPr/>
                    <a:lstStyle/>
                    <a:p>
                      <a:endParaRPr lang="en-001"/>
                    </a:p>
                  </a:txBody>
                  <a:tcPr/>
                </a:tc>
                <a:tc>
                  <a:txBody>
                    <a:bodyPr/>
                    <a:lstStyle/>
                    <a:p>
                      <a:pPr algn="l"/>
                      <a:r>
                        <a:rPr lang="en-US" sz="700">
                          <a:effectLst/>
                        </a:rPr>
                        <a:t>Luminosity_Index</a:t>
                      </a:r>
                    </a:p>
                  </a:txBody>
                  <a:tcPr marL="28477" marR="28477" marT="28477" marB="2847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US" sz="700">
                          <a:effectLst/>
                        </a:rPr>
                        <a:t>Index related to luminosity</a:t>
                      </a:r>
                    </a:p>
                  </a:txBody>
                  <a:tcPr marL="28477" marR="28477" marT="28477" marB="2847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451142819"/>
                  </a:ext>
                </a:extLst>
              </a:tr>
              <a:tr h="190578">
                <a:tc vMerge="1">
                  <a:txBody>
                    <a:bodyPr/>
                    <a:lstStyle/>
                    <a:p>
                      <a:endParaRPr lang="en-001"/>
                    </a:p>
                  </a:txBody>
                  <a:tcPr/>
                </a:tc>
                <a:tc>
                  <a:txBody>
                    <a:bodyPr/>
                    <a:lstStyle/>
                    <a:p>
                      <a:pPr algn="l"/>
                      <a:r>
                        <a:rPr lang="en-US" sz="700">
                          <a:effectLst/>
                        </a:rPr>
                        <a:t>SigmoidOfAreas</a:t>
                      </a:r>
                    </a:p>
                  </a:txBody>
                  <a:tcPr marL="28477" marR="28477" marT="28477" marB="2847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US" sz="700" dirty="0">
                          <a:effectLst/>
                        </a:rPr>
                        <a:t>Sigmoid function applied to areas</a:t>
                      </a:r>
                    </a:p>
                  </a:txBody>
                  <a:tcPr marL="28477" marR="28477" marT="28477" marB="2847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744058352"/>
                  </a:ext>
                </a:extLst>
              </a:tr>
            </a:tbl>
          </a:graphicData>
        </a:graphic>
      </p:graphicFrame>
    </p:spTree>
    <p:extLst>
      <p:ext uri="{BB962C8B-B14F-4D97-AF65-F5344CB8AC3E}">
        <p14:creationId xmlns:p14="http://schemas.microsoft.com/office/powerpoint/2010/main" val="17522732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B102D92-C6F2-C969-C496-F15F04FAE7E2}"/>
              </a:ext>
            </a:extLst>
          </p:cNvPr>
          <p:cNvSpPr>
            <a:spLocks noGrp="1"/>
          </p:cNvSpPr>
          <p:nvPr>
            <p:ph type="title"/>
          </p:nvPr>
        </p:nvSpPr>
        <p:spPr>
          <a:xfrm>
            <a:off x="838200" y="152400"/>
            <a:ext cx="10515600" cy="2275839"/>
          </a:xfrm>
        </p:spPr>
        <p:txBody>
          <a:bodyPr>
            <a:normAutofit/>
          </a:bodyPr>
          <a:lstStyle/>
          <a:p>
            <a:r>
              <a:rPr lang="en-US" sz="1800" b="1" dirty="0">
                <a:latin typeface="CMR10"/>
              </a:rPr>
              <a:t>D</a:t>
            </a:r>
            <a:r>
              <a:rPr lang="en-US" sz="1800" b="1" i="0" u="none" strike="noStrike" baseline="0" dirty="0">
                <a:latin typeface="CMR10"/>
              </a:rPr>
              <a:t>etailed </a:t>
            </a:r>
            <a:r>
              <a:rPr lang="en-US" sz="1800" b="1" dirty="0">
                <a:latin typeface="CMR10"/>
              </a:rPr>
              <a:t>d</a:t>
            </a:r>
            <a:r>
              <a:rPr lang="en-US" sz="1800" b="1" i="0" u="none" strike="noStrike" baseline="0" dirty="0">
                <a:latin typeface="CMR10"/>
              </a:rPr>
              <a:t>escriptions</a:t>
            </a:r>
            <a:br>
              <a:rPr lang="en-US" sz="1800" b="1" i="0" u="none" strike="noStrike" baseline="0" dirty="0">
                <a:latin typeface="CMR10"/>
              </a:rPr>
            </a:br>
            <a:r>
              <a:rPr lang="en-US" sz="1800" b="1" i="0" u="none" strike="noStrike" baseline="0" dirty="0">
                <a:latin typeface="CMR10"/>
              </a:rPr>
              <a:t>here are various types of faults found on steel plates, as identified in quality control processes. Each fault type is discussed in terms of its characteristics and potential implications for steel plate usability.</a:t>
            </a:r>
            <a:br>
              <a:rPr lang="en-US" sz="1800" b="0" i="0" u="none" strike="noStrike" baseline="0" dirty="0">
                <a:latin typeface="CMR10"/>
              </a:rPr>
            </a:br>
            <a:endParaRPr lang="en-001" dirty="0"/>
          </a:p>
        </p:txBody>
      </p:sp>
      <p:sp>
        <p:nvSpPr>
          <p:cNvPr id="6" name="Title 1">
            <a:extLst>
              <a:ext uri="{FF2B5EF4-FFF2-40B4-BE49-F238E27FC236}">
                <a16:creationId xmlns:a16="http://schemas.microsoft.com/office/drawing/2014/main" id="{62A04222-6080-1FC8-A73E-E5BDFE051060}"/>
              </a:ext>
            </a:extLst>
          </p:cNvPr>
          <p:cNvSpPr>
            <a:spLocks noGrp="1"/>
          </p:cNvSpPr>
          <p:nvPr>
            <p:ph idx="1"/>
          </p:nvPr>
        </p:nvSpPr>
        <p:spPr>
          <a:xfrm>
            <a:off x="838200" y="1825625"/>
            <a:ext cx="10515600" cy="4351338"/>
          </a:xfrm>
        </p:spPr>
        <p:txBody>
          <a:bodyPr>
            <a:normAutofit fontScale="90000" lnSpcReduction="20000"/>
          </a:bodyPr>
          <a:lstStyle/>
          <a:p>
            <a:pPr marL="0" indent="0" algn="l">
              <a:buNone/>
            </a:pPr>
            <a:r>
              <a:rPr lang="en-US" sz="1800" b="1" i="0" u="sng" strike="noStrike" baseline="0" dirty="0">
                <a:latin typeface="CMBX12"/>
              </a:rPr>
              <a:t>Pastry</a:t>
            </a:r>
          </a:p>
          <a:p>
            <a:pPr marL="0" indent="0" algn="l">
              <a:buNone/>
            </a:pPr>
            <a:r>
              <a:rPr lang="en-US" sz="1800" b="0" i="0" u="none" strike="noStrike" baseline="0" dirty="0">
                <a:latin typeface="CMR10"/>
              </a:rPr>
              <a:t>Pastry faults refer to small patches or irregularities on the surface of steel plates,</a:t>
            </a:r>
          </a:p>
          <a:p>
            <a:pPr marL="0" indent="0" algn="l">
              <a:buNone/>
            </a:pPr>
            <a:r>
              <a:rPr lang="en-US" sz="1800" b="0" i="0" u="none" strike="noStrike" baseline="0" dirty="0">
                <a:latin typeface="CMR10"/>
              </a:rPr>
              <a:t>typically arising from imperfections in the manufacturing process or handling</a:t>
            </a:r>
          </a:p>
          <a:p>
            <a:pPr marL="0" indent="0" algn="l">
              <a:buNone/>
            </a:pPr>
            <a:r>
              <a:rPr lang="en-US" sz="1800" b="0" i="0" u="none" strike="noStrike" baseline="0" dirty="0">
                <a:latin typeface="CMR10"/>
              </a:rPr>
              <a:t>during transportation. These imperfections can adversely affect the surface</a:t>
            </a:r>
          </a:p>
          <a:p>
            <a:pPr marL="0" indent="0" algn="l">
              <a:buNone/>
            </a:pPr>
            <a:r>
              <a:rPr lang="en-US" sz="1800" b="0" i="0" u="none" strike="noStrike" baseline="0" dirty="0">
                <a:latin typeface="CMR10"/>
              </a:rPr>
              <a:t>smoothness and visual quality of the plates.</a:t>
            </a:r>
          </a:p>
          <a:p>
            <a:pPr marL="0" indent="0" algn="l">
              <a:buNone/>
            </a:pPr>
            <a:r>
              <a:rPr lang="en-US" sz="1800" b="1" i="0" u="sng" strike="noStrike" baseline="0" dirty="0">
                <a:latin typeface="CMBX12"/>
              </a:rPr>
              <a:t>Z-Scratch</a:t>
            </a:r>
          </a:p>
          <a:p>
            <a:pPr marL="0" indent="0" algn="l">
              <a:buNone/>
            </a:pPr>
            <a:r>
              <a:rPr lang="en-US" sz="1800" b="0" i="0" u="none" strike="noStrike" baseline="0" dirty="0">
                <a:latin typeface="CMR10"/>
              </a:rPr>
              <a:t>Z-Scratches are narrow, elongated marks that run parallel to the rolling direction</a:t>
            </a:r>
          </a:p>
          <a:p>
            <a:pPr marL="0" indent="0" algn="l">
              <a:buNone/>
            </a:pPr>
            <a:r>
              <a:rPr lang="en-US" sz="1800" b="0" i="0" u="none" strike="noStrike" baseline="0" dirty="0">
                <a:latin typeface="CMR10"/>
              </a:rPr>
              <a:t>of steel plates. These are often caused by handling issues, machining errors, or</a:t>
            </a:r>
          </a:p>
          <a:p>
            <a:pPr marL="0" indent="0" algn="l">
              <a:buNone/>
            </a:pPr>
            <a:r>
              <a:rPr lang="en-US" sz="1800" b="0" i="0" u="none" strike="noStrike" baseline="0" dirty="0">
                <a:latin typeface="CMR10"/>
              </a:rPr>
              <a:t>contact with abrasive materials during the production or transportation phases.</a:t>
            </a:r>
          </a:p>
          <a:p>
            <a:pPr marL="0" indent="0" algn="l">
              <a:buNone/>
            </a:pPr>
            <a:r>
              <a:rPr lang="en-US" sz="1800" b="1" i="0" u="sng" strike="noStrike" baseline="0" dirty="0">
                <a:latin typeface="CMBX12"/>
              </a:rPr>
              <a:t>K-Scratch</a:t>
            </a:r>
          </a:p>
          <a:p>
            <a:pPr marL="0" indent="0" algn="l">
              <a:buNone/>
            </a:pPr>
            <a:r>
              <a:rPr lang="en-US" sz="1800" b="0" i="0" u="none" strike="noStrike" baseline="0" dirty="0">
                <a:latin typeface="CMR10"/>
              </a:rPr>
              <a:t>Similar to Z-Scratches, K-Scratches run perpendicular to the rolling direction</a:t>
            </a:r>
          </a:p>
          <a:p>
            <a:pPr marL="0" indent="0" algn="l">
              <a:buNone/>
            </a:pPr>
            <a:r>
              <a:rPr lang="en-US" sz="1800" b="0" i="0" u="none" strike="noStrike" baseline="0" dirty="0">
                <a:latin typeface="CMR10"/>
              </a:rPr>
              <a:t>and can also result from similar causative factors, including handling mishaps</a:t>
            </a:r>
          </a:p>
          <a:p>
            <a:pPr marL="0" indent="0" algn="l">
              <a:buNone/>
            </a:pPr>
            <a:r>
              <a:rPr lang="en-US" sz="1800" b="0" i="0" u="none" strike="noStrike" baseline="0" dirty="0">
                <a:latin typeface="CMR10"/>
              </a:rPr>
              <a:t>and interactions with abrasive materials</a:t>
            </a:r>
            <a:br>
              <a:rPr lang="en-US" sz="1800" b="0" i="0" u="none" strike="noStrike" baseline="0" dirty="0">
                <a:latin typeface="CMR10"/>
              </a:rPr>
            </a:br>
            <a:endParaRPr lang="en-001" dirty="0"/>
          </a:p>
        </p:txBody>
      </p:sp>
      <p:pic>
        <p:nvPicPr>
          <p:cNvPr id="7" name="Picture 6">
            <a:extLst>
              <a:ext uri="{FF2B5EF4-FFF2-40B4-BE49-F238E27FC236}">
                <a16:creationId xmlns:a16="http://schemas.microsoft.com/office/drawing/2014/main" id="{F09DEA5A-CC50-492A-9888-D1BC003EECF4}"/>
              </a:ext>
            </a:extLst>
          </p:cNvPr>
          <p:cNvPicPr>
            <a:picLocks noChangeAspect="1"/>
          </p:cNvPicPr>
          <p:nvPr/>
        </p:nvPicPr>
        <p:blipFill>
          <a:blip r:embed="rId2"/>
          <a:stretch>
            <a:fillRect/>
          </a:stretch>
        </p:blipFill>
        <p:spPr>
          <a:xfrm>
            <a:off x="8370851" y="4101464"/>
            <a:ext cx="3212538" cy="2128205"/>
          </a:xfrm>
          <a:prstGeom prst="rect">
            <a:avLst/>
          </a:prstGeom>
        </p:spPr>
      </p:pic>
      <p:pic>
        <p:nvPicPr>
          <p:cNvPr id="8" name="Picture 7">
            <a:extLst>
              <a:ext uri="{FF2B5EF4-FFF2-40B4-BE49-F238E27FC236}">
                <a16:creationId xmlns:a16="http://schemas.microsoft.com/office/drawing/2014/main" id="{CF8BA56D-B14A-B48C-E660-BD516E97EF15}"/>
              </a:ext>
            </a:extLst>
          </p:cNvPr>
          <p:cNvPicPr>
            <a:picLocks noChangeAspect="1"/>
          </p:cNvPicPr>
          <p:nvPr/>
        </p:nvPicPr>
        <p:blipFill>
          <a:blip r:embed="rId3"/>
          <a:stretch>
            <a:fillRect/>
          </a:stretch>
        </p:blipFill>
        <p:spPr>
          <a:xfrm>
            <a:off x="8319452" y="1641556"/>
            <a:ext cx="3315335" cy="1868006"/>
          </a:xfrm>
          <a:prstGeom prst="rect">
            <a:avLst/>
          </a:prstGeom>
        </p:spPr>
      </p:pic>
    </p:spTree>
    <p:extLst>
      <p:ext uri="{BB962C8B-B14F-4D97-AF65-F5344CB8AC3E}">
        <p14:creationId xmlns:p14="http://schemas.microsoft.com/office/powerpoint/2010/main" val="23904438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5673A8-13D6-038E-B407-A28D8BB53EBD}"/>
              </a:ext>
            </a:extLst>
          </p:cNvPr>
          <p:cNvSpPr>
            <a:spLocks noGrp="1"/>
          </p:cNvSpPr>
          <p:nvPr>
            <p:ph idx="1"/>
          </p:nvPr>
        </p:nvSpPr>
        <p:spPr>
          <a:xfrm>
            <a:off x="838200" y="243840"/>
            <a:ext cx="10515600" cy="5933123"/>
          </a:xfrm>
        </p:spPr>
        <p:txBody>
          <a:bodyPr>
            <a:normAutofit fontScale="77500" lnSpcReduction="20000"/>
          </a:bodyPr>
          <a:lstStyle/>
          <a:p>
            <a:pPr marL="0" indent="0" algn="l">
              <a:buNone/>
            </a:pPr>
            <a:r>
              <a:rPr lang="en-US" sz="1800" b="1" i="0" u="sng" strike="noStrike" baseline="0" dirty="0">
                <a:latin typeface="CMBX12"/>
              </a:rPr>
              <a:t>Stains</a:t>
            </a:r>
          </a:p>
          <a:p>
            <a:pPr algn="l"/>
            <a:r>
              <a:rPr lang="en-US" sz="1800" b="0" i="0" u="none" strike="noStrike" baseline="0" dirty="0">
                <a:latin typeface="CMR10"/>
              </a:rPr>
              <a:t>Stains on steel plates manifest as discolored or contaminated areas, typically</a:t>
            </a:r>
          </a:p>
          <a:p>
            <a:pPr algn="l"/>
            <a:r>
              <a:rPr lang="en-US" sz="1800" b="0" i="0" u="none" strike="noStrike" baseline="0" dirty="0">
                <a:latin typeface="CMR10"/>
              </a:rPr>
              <a:t>caused by rust, oil, grease, or other foreign substances. These stains can occur</a:t>
            </a:r>
          </a:p>
          <a:p>
            <a:pPr algn="l"/>
            <a:r>
              <a:rPr lang="en-US" sz="1800" b="0" i="0" u="none" strike="noStrike" baseline="0" dirty="0">
                <a:latin typeface="CMR10"/>
              </a:rPr>
              <a:t>during processing, storage, or handling, and significantly degrade the visual and</a:t>
            </a:r>
          </a:p>
          <a:p>
            <a:pPr algn="l"/>
            <a:r>
              <a:rPr lang="en-US" sz="1800" b="0" i="0" u="none" strike="noStrike" baseline="0" dirty="0">
                <a:latin typeface="CMR10"/>
              </a:rPr>
              <a:t>structural quality of the steel.</a:t>
            </a:r>
          </a:p>
          <a:p>
            <a:pPr algn="l"/>
            <a:endParaRPr lang="en-US" sz="1800" dirty="0">
              <a:latin typeface="CMR10"/>
            </a:endParaRPr>
          </a:p>
          <a:p>
            <a:pPr marL="0" indent="0" algn="l">
              <a:buNone/>
            </a:pPr>
            <a:r>
              <a:rPr lang="en-US" sz="1800" b="1" i="0" u="sng" strike="noStrike" baseline="0" dirty="0">
                <a:latin typeface="CMBX12"/>
              </a:rPr>
              <a:t>Dirtiness</a:t>
            </a:r>
          </a:p>
          <a:p>
            <a:pPr algn="l"/>
            <a:r>
              <a:rPr lang="en-US" sz="1800" b="0" i="0" u="none" strike="noStrike" baseline="0" dirty="0">
                <a:latin typeface="CMR10"/>
              </a:rPr>
              <a:t>Dirtiness indicates the presence of dirt or particulate matter on the surface of</a:t>
            </a:r>
          </a:p>
          <a:p>
            <a:pPr algn="l"/>
            <a:r>
              <a:rPr lang="en-US" sz="1800" b="0" i="0" u="none" strike="noStrike" baseline="0" dirty="0">
                <a:latin typeface="CMR10"/>
              </a:rPr>
              <a:t>steel plates, usually due to inadequate handling or storage conditions. This type</a:t>
            </a:r>
          </a:p>
          <a:p>
            <a:pPr algn="l"/>
            <a:r>
              <a:rPr lang="en-US" sz="1800" b="0" i="0" u="none" strike="noStrike" baseline="0" dirty="0">
                <a:latin typeface="CMR10"/>
              </a:rPr>
              <a:t>of contamination can affect the plate’s surface quality and its performance in</a:t>
            </a:r>
          </a:p>
          <a:p>
            <a:pPr algn="l"/>
            <a:r>
              <a:rPr lang="en-US" sz="1800" b="0" i="0" u="none" strike="noStrike" baseline="0" dirty="0">
                <a:latin typeface="CMR10"/>
              </a:rPr>
              <a:t>applications.</a:t>
            </a:r>
          </a:p>
          <a:p>
            <a:pPr marL="0" indent="0" algn="l">
              <a:buNone/>
            </a:pPr>
            <a:r>
              <a:rPr lang="en-US" sz="1800" b="1" i="0" u="sng" strike="noStrike" baseline="0" dirty="0">
                <a:latin typeface="CMBX12"/>
              </a:rPr>
              <a:t>Bumps</a:t>
            </a:r>
          </a:p>
          <a:p>
            <a:pPr algn="l"/>
            <a:r>
              <a:rPr lang="en-US" sz="1800" b="0" i="0" u="none" strike="noStrike" baseline="0" dirty="0">
                <a:latin typeface="CMR10"/>
              </a:rPr>
              <a:t>Bumps are raised or protruding areas on the surface of steel plates, often caused</a:t>
            </a:r>
          </a:p>
          <a:p>
            <a:pPr algn="l"/>
            <a:r>
              <a:rPr lang="en-US" sz="1800" b="0" i="0" u="none" strike="noStrike" baseline="0" dirty="0">
                <a:latin typeface="CMR10"/>
              </a:rPr>
              <a:t>by anomalies in manufacturing processes such as uneven rolling or improper</a:t>
            </a:r>
          </a:p>
          <a:p>
            <a:pPr algn="l"/>
            <a:r>
              <a:rPr lang="en-US" sz="1800" b="0" i="0" u="none" strike="noStrike" baseline="0" dirty="0">
                <a:latin typeface="CMR10"/>
              </a:rPr>
              <a:t>cooling. Physical damage during transport or handling can also lead to bumps.</a:t>
            </a:r>
          </a:p>
          <a:p>
            <a:pPr marL="0" indent="0" algn="l">
              <a:buNone/>
            </a:pPr>
            <a:r>
              <a:rPr lang="en-US" sz="1800" b="1" i="0" u="sng" strike="noStrike" baseline="0" dirty="0">
                <a:latin typeface="CMBX12"/>
              </a:rPr>
              <a:t>Other Faults</a:t>
            </a:r>
          </a:p>
          <a:p>
            <a:pPr algn="l"/>
            <a:r>
              <a:rPr lang="en-US" sz="1800" b="0" i="0" u="none" strike="noStrike" baseline="0" dirty="0">
                <a:latin typeface="CMR10"/>
              </a:rPr>
              <a:t>This category includes a variety of faults not specifically classified under the</a:t>
            </a:r>
          </a:p>
          <a:p>
            <a:pPr algn="l"/>
            <a:r>
              <a:rPr lang="en-US" sz="1800" b="0" i="0" u="none" strike="noStrike" baseline="0" dirty="0">
                <a:latin typeface="CMR10"/>
              </a:rPr>
              <a:t>other types. It encompasses various forms of surface imperfections, irregularities,</a:t>
            </a:r>
          </a:p>
          <a:p>
            <a:pPr algn="l"/>
            <a:r>
              <a:rPr lang="en-US" sz="1800" b="0" i="0" u="none" strike="noStrike" baseline="0" dirty="0">
                <a:latin typeface="CMR10"/>
              </a:rPr>
              <a:t>and abnormalities that affect the quality or usability of the steel plates.</a:t>
            </a:r>
          </a:p>
          <a:p>
            <a:pPr algn="l"/>
            <a:r>
              <a:rPr lang="en-US" sz="1800" b="0" i="0" u="none" strike="noStrike" baseline="0" dirty="0">
                <a:latin typeface="CMR10"/>
              </a:rPr>
              <a:t>These faults are identified during quality control inspections to ensure compliance</a:t>
            </a:r>
          </a:p>
          <a:p>
            <a:pPr algn="l"/>
            <a:r>
              <a:rPr lang="en-US" sz="1800" b="0" i="0" u="none" strike="noStrike" baseline="0" dirty="0">
                <a:latin typeface="CMR10"/>
              </a:rPr>
              <a:t>with required standards.</a:t>
            </a:r>
            <a:endParaRPr lang="en-001" dirty="0"/>
          </a:p>
        </p:txBody>
      </p:sp>
      <p:pic>
        <p:nvPicPr>
          <p:cNvPr id="5" name="Picture 4">
            <a:extLst>
              <a:ext uri="{FF2B5EF4-FFF2-40B4-BE49-F238E27FC236}">
                <a16:creationId xmlns:a16="http://schemas.microsoft.com/office/drawing/2014/main" id="{DFE18929-EE18-F5F6-5025-F8C459818597}"/>
              </a:ext>
            </a:extLst>
          </p:cNvPr>
          <p:cNvPicPr>
            <a:picLocks noChangeAspect="1"/>
          </p:cNvPicPr>
          <p:nvPr/>
        </p:nvPicPr>
        <p:blipFill>
          <a:blip r:embed="rId2"/>
          <a:stretch>
            <a:fillRect/>
          </a:stretch>
        </p:blipFill>
        <p:spPr>
          <a:xfrm>
            <a:off x="7497710" y="384417"/>
            <a:ext cx="4221850" cy="2541664"/>
          </a:xfrm>
          <a:prstGeom prst="rect">
            <a:avLst/>
          </a:prstGeom>
        </p:spPr>
      </p:pic>
      <p:pic>
        <p:nvPicPr>
          <p:cNvPr id="7" name="Picture 6">
            <a:extLst>
              <a:ext uri="{FF2B5EF4-FFF2-40B4-BE49-F238E27FC236}">
                <a16:creationId xmlns:a16="http://schemas.microsoft.com/office/drawing/2014/main" id="{16EF0E82-4065-3182-1182-C473C707192A}"/>
              </a:ext>
            </a:extLst>
          </p:cNvPr>
          <p:cNvPicPr>
            <a:picLocks noChangeAspect="1"/>
          </p:cNvPicPr>
          <p:nvPr/>
        </p:nvPicPr>
        <p:blipFill>
          <a:blip r:embed="rId3"/>
          <a:stretch>
            <a:fillRect/>
          </a:stretch>
        </p:blipFill>
        <p:spPr>
          <a:xfrm>
            <a:off x="7497710" y="3210401"/>
            <a:ext cx="4221850" cy="2966562"/>
          </a:xfrm>
          <a:prstGeom prst="rect">
            <a:avLst/>
          </a:prstGeom>
        </p:spPr>
      </p:pic>
    </p:spTree>
    <p:extLst>
      <p:ext uri="{BB962C8B-B14F-4D97-AF65-F5344CB8AC3E}">
        <p14:creationId xmlns:p14="http://schemas.microsoft.com/office/powerpoint/2010/main" val="5520830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B9AE8-4EA3-2D09-457F-04E5D5E32B97}"/>
              </a:ext>
            </a:extLst>
          </p:cNvPr>
          <p:cNvSpPr>
            <a:spLocks noGrp="1"/>
          </p:cNvSpPr>
          <p:nvPr>
            <p:ph type="title"/>
          </p:nvPr>
        </p:nvSpPr>
        <p:spPr>
          <a:xfrm>
            <a:off x="401320" y="354965"/>
            <a:ext cx="10515600" cy="1325563"/>
          </a:xfrm>
        </p:spPr>
        <p:txBody>
          <a:bodyPr/>
          <a:lstStyle/>
          <a:p>
            <a:r>
              <a:rPr kumimoji="0" lang="en-001" altLang="en-001" sz="4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Sample Steel Plates Faults Training Data</a:t>
            </a:r>
            <a:br>
              <a:rPr kumimoji="0" lang="en-001" altLang="en-001" sz="4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br>
            <a:endParaRPr lang="en-001" dirty="0"/>
          </a:p>
        </p:txBody>
      </p:sp>
      <p:graphicFrame>
        <p:nvGraphicFramePr>
          <p:cNvPr id="4" name="Content Placeholder 3">
            <a:extLst>
              <a:ext uri="{FF2B5EF4-FFF2-40B4-BE49-F238E27FC236}">
                <a16:creationId xmlns:a16="http://schemas.microsoft.com/office/drawing/2014/main" id="{CA91DC47-E3F3-52A1-D7E6-D79B0B4221D0}"/>
              </a:ext>
            </a:extLst>
          </p:cNvPr>
          <p:cNvGraphicFramePr>
            <a:graphicFrameLocks noGrp="1"/>
          </p:cNvGraphicFramePr>
          <p:nvPr>
            <p:ph idx="1"/>
            <p:extLst>
              <p:ext uri="{D42A27DB-BD31-4B8C-83A1-F6EECF244321}">
                <p14:modId xmlns:p14="http://schemas.microsoft.com/office/powerpoint/2010/main" val="864941999"/>
              </p:ext>
            </p:extLst>
          </p:nvPr>
        </p:nvGraphicFramePr>
        <p:xfrm>
          <a:off x="187960" y="1252564"/>
          <a:ext cx="11816079" cy="1325561"/>
        </p:xfrm>
        <a:graphic>
          <a:graphicData uri="http://schemas.openxmlformats.org/drawingml/2006/table">
            <a:tbl>
              <a:tblPr/>
              <a:tblGrid>
                <a:gridCol w="335359">
                  <a:extLst>
                    <a:ext uri="{9D8B030D-6E8A-4147-A177-3AD203B41FA5}">
                      <a16:colId xmlns:a16="http://schemas.microsoft.com/office/drawing/2014/main" val="487315466"/>
                    </a:ext>
                  </a:extLst>
                </a:gridCol>
                <a:gridCol w="335359">
                  <a:extLst>
                    <a:ext uri="{9D8B030D-6E8A-4147-A177-3AD203B41FA5}">
                      <a16:colId xmlns:a16="http://schemas.microsoft.com/office/drawing/2014/main" val="2834067206"/>
                    </a:ext>
                  </a:extLst>
                </a:gridCol>
                <a:gridCol w="335359">
                  <a:extLst>
                    <a:ext uri="{9D8B030D-6E8A-4147-A177-3AD203B41FA5}">
                      <a16:colId xmlns:a16="http://schemas.microsoft.com/office/drawing/2014/main" val="2915215442"/>
                    </a:ext>
                  </a:extLst>
                </a:gridCol>
                <a:gridCol w="335359">
                  <a:extLst>
                    <a:ext uri="{9D8B030D-6E8A-4147-A177-3AD203B41FA5}">
                      <a16:colId xmlns:a16="http://schemas.microsoft.com/office/drawing/2014/main" val="500167342"/>
                    </a:ext>
                  </a:extLst>
                </a:gridCol>
                <a:gridCol w="335359">
                  <a:extLst>
                    <a:ext uri="{9D8B030D-6E8A-4147-A177-3AD203B41FA5}">
                      <a16:colId xmlns:a16="http://schemas.microsoft.com/office/drawing/2014/main" val="3819849217"/>
                    </a:ext>
                  </a:extLst>
                </a:gridCol>
                <a:gridCol w="335359">
                  <a:extLst>
                    <a:ext uri="{9D8B030D-6E8A-4147-A177-3AD203B41FA5}">
                      <a16:colId xmlns:a16="http://schemas.microsoft.com/office/drawing/2014/main" val="1208075474"/>
                    </a:ext>
                  </a:extLst>
                </a:gridCol>
                <a:gridCol w="335359">
                  <a:extLst>
                    <a:ext uri="{9D8B030D-6E8A-4147-A177-3AD203B41FA5}">
                      <a16:colId xmlns:a16="http://schemas.microsoft.com/office/drawing/2014/main" val="210609820"/>
                    </a:ext>
                  </a:extLst>
                </a:gridCol>
                <a:gridCol w="335359">
                  <a:extLst>
                    <a:ext uri="{9D8B030D-6E8A-4147-A177-3AD203B41FA5}">
                      <a16:colId xmlns:a16="http://schemas.microsoft.com/office/drawing/2014/main" val="3204736232"/>
                    </a:ext>
                  </a:extLst>
                </a:gridCol>
                <a:gridCol w="335359">
                  <a:extLst>
                    <a:ext uri="{9D8B030D-6E8A-4147-A177-3AD203B41FA5}">
                      <a16:colId xmlns:a16="http://schemas.microsoft.com/office/drawing/2014/main" val="1662337284"/>
                    </a:ext>
                  </a:extLst>
                </a:gridCol>
                <a:gridCol w="335359">
                  <a:extLst>
                    <a:ext uri="{9D8B030D-6E8A-4147-A177-3AD203B41FA5}">
                      <a16:colId xmlns:a16="http://schemas.microsoft.com/office/drawing/2014/main" val="1935817773"/>
                    </a:ext>
                  </a:extLst>
                </a:gridCol>
                <a:gridCol w="335359">
                  <a:extLst>
                    <a:ext uri="{9D8B030D-6E8A-4147-A177-3AD203B41FA5}">
                      <a16:colId xmlns:a16="http://schemas.microsoft.com/office/drawing/2014/main" val="1947711678"/>
                    </a:ext>
                  </a:extLst>
                </a:gridCol>
                <a:gridCol w="335359">
                  <a:extLst>
                    <a:ext uri="{9D8B030D-6E8A-4147-A177-3AD203B41FA5}">
                      <a16:colId xmlns:a16="http://schemas.microsoft.com/office/drawing/2014/main" val="688492653"/>
                    </a:ext>
                  </a:extLst>
                </a:gridCol>
                <a:gridCol w="335359">
                  <a:extLst>
                    <a:ext uri="{9D8B030D-6E8A-4147-A177-3AD203B41FA5}">
                      <a16:colId xmlns:a16="http://schemas.microsoft.com/office/drawing/2014/main" val="3414637690"/>
                    </a:ext>
                  </a:extLst>
                </a:gridCol>
                <a:gridCol w="335359">
                  <a:extLst>
                    <a:ext uri="{9D8B030D-6E8A-4147-A177-3AD203B41FA5}">
                      <a16:colId xmlns:a16="http://schemas.microsoft.com/office/drawing/2014/main" val="1605810011"/>
                    </a:ext>
                  </a:extLst>
                </a:gridCol>
                <a:gridCol w="335359">
                  <a:extLst>
                    <a:ext uri="{9D8B030D-6E8A-4147-A177-3AD203B41FA5}">
                      <a16:colId xmlns:a16="http://schemas.microsoft.com/office/drawing/2014/main" val="61031187"/>
                    </a:ext>
                  </a:extLst>
                </a:gridCol>
                <a:gridCol w="335359">
                  <a:extLst>
                    <a:ext uri="{9D8B030D-6E8A-4147-A177-3AD203B41FA5}">
                      <a16:colId xmlns:a16="http://schemas.microsoft.com/office/drawing/2014/main" val="2506785550"/>
                    </a:ext>
                  </a:extLst>
                </a:gridCol>
                <a:gridCol w="335359">
                  <a:extLst>
                    <a:ext uri="{9D8B030D-6E8A-4147-A177-3AD203B41FA5}">
                      <a16:colId xmlns:a16="http://schemas.microsoft.com/office/drawing/2014/main" val="281944368"/>
                    </a:ext>
                  </a:extLst>
                </a:gridCol>
                <a:gridCol w="335359">
                  <a:extLst>
                    <a:ext uri="{9D8B030D-6E8A-4147-A177-3AD203B41FA5}">
                      <a16:colId xmlns:a16="http://schemas.microsoft.com/office/drawing/2014/main" val="2038646029"/>
                    </a:ext>
                  </a:extLst>
                </a:gridCol>
                <a:gridCol w="335359">
                  <a:extLst>
                    <a:ext uri="{9D8B030D-6E8A-4147-A177-3AD203B41FA5}">
                      <a16:colId xmlns:a16="http://schemas.microsoft.com/office/drawing/2014/main" val="116856773"/>
                    </a:ext>
                  </a:extLst>
                </a:gridCol>
                <a:gridCol w="335359">
                  <a:extLst>
                    <a:ext uri="{9D8B030D-6E8A-4147-A177-3AD203B41FA5}">
                      <a16:colId xmlns:a16="http://schemas.microsoft.com/office/drawing/2014/main" val="3662371610"/>
                    </a:ext>
                  </a:extLst>
                </a:gridCol>
                <a:gridCol w="335359">
                  <a:extLst>
                    <a:ext uri="{9D8B030D-6E8A-4147-A177-3AD203B41FA5}">
                      <a16:colId xmlns:a16="http://schemas.microsoft.com/office/drawing/2014/main" val="430439692"/>
                    </a:ext>
                  </a:extLst>
                </a:gridCol>
                <a:gridCol w="335359">
                  <a:extLst>
                    <a:ext uri="{9D8B030D-6E8A-4147-A177-3AD203B41FA5}">
                      <a16:colId xmlns:a16="http://schemas.microsoft.com/office/drawing/2014/main" val="4069700578"/>
                    </a:ext>
                  </a:extLst>
                </a:gridCol>
                <a:gridCol w="335359">
                  <a:extLst>
                    <a:ext uri="{9D8B030D-6E8A-4147-A177-3AD203B41FA5}">
                      <a16:colId xmlns:a16="http://schemas.microsoft.com/office/drawing/2014/main" val="2840020169"/>
                    </a:ext>
                  </a:extLst>
                </a:gridCol>
                <a:gridCol w="335359">
                  <a:extLst>
                    <a:ext uri="{9D8B030D-6E8A-4147-A177-3AD203B41FA5}">
                      <a16:colId xmlns:a16="http://schemas.microsoft.com/office/drawing/2014/main" val="2205684003"/>
                    </a:ext>
                  </a:extLst>
                </a:gridCol>
                <a:gridCol w="335359">
                  <a:extLst>
                    <a:ext uri="{9D8B030D-6E8A-4147-A177-3AD203B41FA5}">
                      <a16:colId xmlns:a16="http://schemas.microsoft.com/office/drawing/2014/main" val="3679655316"/>
                    </a:ext>
                  </a:extLst>
                </a:gridCol>
                <a:gridCol w="335359">
                  <a:extLst>
                    <a:ext uri="{9D8B030D-6E8A-4147-A177-3AD203B41FA5}">
                      <a16:colId xmlns:a16="http://schemas.microsoft.com/office/drawing/2014/main" val="852379758"/>
                    </a:ext>
                  </a:extLst>
                </a:gridCol>
                <a:gridCol w="335359">
                  <a:extLst>
                    <a:ext uri="{9D8B030D-6E8A-4147-A177-3AD203B41FA5}">
                      <a16:colId xmlns:a16="http://schemas.microsoft.com/office/drawing/2014/main" val="3621935433"/>
                    </a:ext>
                  </a:extLst>
                </a:gridCol>
                <a:gridCol w="335359">
                  <a:extLst>
                    <a:ext uri="{9D8B030D-6E8A-4147-A177-3AD203B41FA5}">
                      <a16:colId xmlns:a16="http://schemas.microsoft.com/office/drawing/2014/main" val="2879294392"/>
                    </a:ext>
                  </a:extLst>
                </a:gridCol>
                <a:gridCol w="335359">
                  <a:extLst>
                    <a:ext uri="{9D8B030D-6E8A-4147-A177-3AD203B41FA5}">
                      <a16:colId xmlns:a16="http://schemas.microsoft.com/office/drawing/2014/main" val="350867543"/>
                    </a:ext>
                  </a:extLst>
                </a:gridCol>
                <a:gridCol w="335359">
                  <a:extLst>
                    <a:ext uri="{9D8B030D-6E8A-4147-A177-3AD203B41FA5}">
                      <a16:colId xmlns:a16="http://schemas.microsoft.com/office/drawing/2014/main" val="2934573186"/>
                    </a:ext>
                  </a:extLst>
                </a:gridCol>
                <a:gridCol w="335359">
                  <a:extLst>
                    <a:ext uri="{9D8B030D-6E8A-4147-A177-3AD203B41FA5}">
                      <a16:colId xmlns:a16="http://schemas.microsoft.com/office/drawing/2014/main" val="3792387037"/>
                    </a:ext>
                  </a:extLst>
                </a:gridCol>
                <a:gridCol w="335359">
                  <a:extLst>
                    <a:ext uri="{9D8B030D-6E8A-4147-A177-3AD203B41FA5}">
                      <a16:colId xmlns:a16="http://schemas.microsoft.com/office/drawing/2014/main" val="42109021"/>
                    </a:ext>
                  </a:extLst>
                </a:gridCol>
                <a:gridCol w="335359">
                  <a:extLst>
                    <a:ext uri="{9D8B030D-6E8A-4147-A177-3AD203B41FA5}">
                      <a16:colId xmlns:a16="http://schemas.microsoft.com/office/drawing/2014/main" val="1819591421"/>
                    </a:ext>
                  </a:extLst>
                </a:gridCol>
                <a:gridCol w="335359">
                  <a:extLst>
                    <a:ext uri="{9D8B030D-6E8A-4147-A177-3AD203B41FA5}">
                      <a16:colId xmlns:a16="http://schemas.microsoft.com/office/drawing/2014/main" val="2898993835"/>
                    </a:ext>
                  </a:extLst>
                </a:gridCol>
                <a:gridCol w="413873">
                  <a:extLst>
                    <a:ext uri="{9D8B030D-6E8A-4147-A177-3AD203B41FA5}">
                      <a16:colId xmlns:a16="http://schemas.microsoft.com/office/drawing/2014/main" val="2843436184"/>
                    </a:ext>
                  </a:extLst>
                </a:gridCol>
              </a:tblGrid>
              <a:tr h="417611">
                <a:tc>
                  <a:txBody>
                    <a:bodyPr/>
                    <a:lstStyle/>
                    <a:p>
                      <a:pPr algn="l"/>
                      <a:r>
                        <a:rPr lang="en-US" sz="500">
                          <a:effectLst/>
                        </a:rPr>
                        <a:t>X_Minimum</a:t>
                      </a: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500">
                          <a:effectLst/>
                        </a:rPr>
                        <a:t>X_Maximum</a:t>
                      </a: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500">
                          <a:effectLst/>
                        </a:rPr>
                        <a:t>Y_Minimum</a:t>
                      </a: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500">
                          <a:effectLst/>
                        </a:rPr>
                        <a:t>Y_Maximum</a:t>
                      </a: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500">
                          <a:effectLst/>
                        </a:rPr>
                        <a:t>Pixels_Areas</a:t>
                      </a: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500">
                          <a:effectLst/>
                        </a:rPr>
                        <a:t>X_Perimeter</a:t>
                      </a: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500">
                          <a:effectLst/>
                        </a:rPr>
                        <a:t>Y_Perimeter</a:t>
                      </a: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500">
                          <a:effectLst/>
                        </a:rPr>
                        <a:t>Sum_of_Luminosity</a:t>
                      </a: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500">
                          <a:effectLst/>
                        </a:rPr>
                        <a:t>Minimum_of_Luminosity</a:t>
                      </a: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500">
                          <a:effectLst/>
                        </a:rPr>
                        <a:t>Maximum_of_Luminosity</a:t>
                      </a: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500" dirty="0" err="1">
                          <a:effectLst/>
                        </a:rPr>
                        <a:t>Length_of_Conveyer</a:t>
                      </a:r>
                      <a:endParaRPr lang="en-US" sz="500" dirty="0">
                        <a:effectLst/>
                      </a:endParaRP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500">
                          <a:effectLst/>
                        </a:rPr>
                        <a:t>TypeOfSteel_A300</a:t>
                      </a: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500">
                          <a:effectLst/>
                        </a:rPr>
                        <a:t>TypeOfSteel_A400</a:t>
                      </a: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500">
                          <a:effectLst/>
                        </a:rPr>
                        <a:t>Steel_Plate_Thickness</a:t>
                      </a: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500" dirty="0" err="1">
                          <a:effectLst/>
                        </a:rPr>
                        <a:t>Edges_Index</a:t>
                      </a:r>
                      <a:endParaRPr lang="en-US" sz="500" dirty="0">
                        <a:effectLst/>
                      </a:endParaRP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500">
                          <a:effectLst/>
                        </a:rPr>
                        <a:t>Empty_Index</a:t>
                      </a: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500">
                          <a:effectLst/>
                        </a:rPr>
                        <a:t>Square_Index</a:t>
                      </a: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500">
                          <a:effectLst/>
                        </a:rPr>
                        <a:t>Outside_X_Index</a:t>
                      </a: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500">
                          <a:effectLst/>
                        </a:rPr>
                        <a:t>Edges_X_Index</a:t>
                      </a: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500">
                          <a:effectLst/>
                        </a:rPr>
                        <a:t>Edges_Y_Index</a:t>
                      </a: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500">
                          <a:effectLst/>
                        </a:rPr>
                        <a:t>Outside_Global_Index</a:t>
                      </a: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500">
                          <a:effectLst/>
                        </a:rPr>
                        <a:t>LogOfAreas</a:t>
                      </a: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500">
                          <a:effectLst/>
                        </a:rPr>
                        <a:t>Log_X_Index</a:t>
                      </a: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500">
                          <a:effectLst/>
                        </a:rPr>
                        <a:t>Log_Y_Index</a:t>
                      </a: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500">
                          <a:effectLst/>
                        </a:rPr>
                        <a:t>Orientation_Index</a:t>
                      </a: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500">
                          <a:effectLst/>
                        </a:rPr>
                        <a:t>Luminosity_Index</a:t>
                      </a: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500">
                          <a:effectLst/>
                        </a:rPr>
                        <a:t>SigmoidOfAreas</a:t>
                      </a: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500">
                          <a:effectLst/>
                        </a:rPr>
                        <a:t>Pastry</a:t>
                      </a: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500">
                          <a:effectLst/>
                        </a:rPr>
                        <a:t>Z_Scratch</a:t>
                      </a: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500">
                          <a:effectLst/>
                        </a:rPr>
                        <a:t>K_Scatch</a:t>
                      </a: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500">
                          <a:effectLst/>
                        </a:rPr>
                        <a:t>Stains</a:t>
                      </a: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500">
                          <a:effectLst/>
                        </a:rPr>
                        <a:t>Dirtiness</a:t>
                      </a: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500">
                          <a:effectLst/>
                        </a:rPr>
                        <a:t>Bumps</a:t>
                      </a: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500">
                          <a:effectLst/>
                        </a:rPr>
                        <a:t>Other_Faults</a:t>
                      </a: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500">
                          <a:effectLst/>
                        </a:rPr>
                        <a:t>Target</a:t>
                      </a: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1678920822"/>
                  </a:ext>
                </a:extLst>
              </a:tr>
              <a:tr h="181590">
                <a:tc>
                  <a:txBody>
                    <a:bodyPr/>
                    <a:lstStyle/>
                    <a:p>
                      <a:pPr algn="l"/>
                      <a:r>
                        <a:rPr lang="en-001" sz="500">
                          <a:effectLst/>
                        </a:rPr>
                        <a:t>42</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50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270900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270944</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267</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17</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44</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24220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76</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108</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1687</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80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0.0498</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0.2415</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0.1818</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0.0047</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0.4706</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1.0000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2.4265</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0.9031</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1.6435</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0.8182</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-0.2913</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0.5822</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US" sz="500">
                          <a:effectLst/>
                        </a:rPr>
                        <a:t>Pastry</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4013125904"/>
                  </a:ext>
                </a:extLst>
              </a:tr>
              <a:tr h="181590">
                <a:tc>
                  <a:txBody>
                    <a:bodyPr/>
                    <a:lstStyle/>
                    <a:p>
                      <a:pPr algn="l"/>
                      <a:r>
                        <a:rPr lang="en-001" sz="500">
                          <a:effectLst/>
                        </a:rPr>
                        <a:t>645</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651</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2538079</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2538108</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108</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30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11397</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84</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123</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1687</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80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0.7647</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0.3793</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0.2069</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0.0036</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0.6000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0.9667</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2.0334</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0.7782</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1.4624</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0.7931</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-0.1756</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0.2984</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US" sz="500">
                          <a:effectLst/>
                        </a:rPr>
                        <a:t>Pastry</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71069143"/>
                  </a:ext>
                </a:extLst>
              </a:tr>
              <a:tr h="181590">
                <a:tc>
                  <a:txBody>
                    <a:bodyPr/>
                    <a:lstStyle/>
                    <a:p>
                      <a:pPr algn="l"/>
                      <a:r>
                        <a:rPr lang="en-001" sz="500">
                          <a:effectLst/>
                        </a:rPr>
                        <a:t>829</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835</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1553913</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1553931</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71</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8</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19</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7972</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99</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125</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1623</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100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0.9710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0.3426</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0.3333</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0.0037</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0.7500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0.9474</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1.8513</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0.7782</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1.2553</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0.6667</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-0.1228</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0.2150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US" sz="500">
                          <a:effectLst/>
                        </a:rPr>
                        <a:t>Pastry</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224438673"/>
                  </a:ext>
                </a:extLst>
              </a:tr>
              <a:tr h="181590">
                <a:tc>
                  <a:txBody>
                    <a:bodyPr/>
                    <a:lstStyle/>
                    <a:p>
                      <a:pPr algn="l"/>
                      <a:r>
                        <a:rPr lang="en-001" sz="500">
                          <a:effectLst/>
                        </a:rPr>
                        <a:t>853</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860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369370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369415</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176</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13</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45</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18996</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99</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126</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1353</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290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0.7287</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0.4413</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0.1556</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0.0052</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0.5385</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1.0000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2.2455</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0.8451</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1.6532</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0.8444</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-0.1568</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0.5212</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US" sz="500">
                          <a:effectLst/>
                        </a:rPr>
                        <a:t>Pastry</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863896046"/>
                  </a:ext>
                </a:extLst>
              </a:tr>
              <a:tr h="181590">
                <a:tc>
                  <a:txBody>
                    <a:bodyPr/>
                    <a:lstStyle/>
                    <a:p>
                      <a:pPr algn="l"/>
                      <a:r>
                        <a:rPr lang="en-001" sz="500">
                          <a:effectLst/>
                        </a:rPr>
                        <a:t>1289</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1306</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498078</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498335</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2409</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60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260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246930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37</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126</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1353</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185</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0.0695</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0.4486</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0.0662</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0.0126</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0.2833</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0.9885</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3.3818</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1.2305</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2.4099</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0.9338</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-0.1992</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1.0000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US" sz="500" dirty="0">
                          <a:effectLst/>
                        </a:rPr>
                        <a:t>Pastry</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491642339"/>
                  </a:ext>
                </a:extLst>
              </a:tr>
            </a:tbl>
          </a:graphicData>
        </a:graphic>
      </p:graphicFrame>
      <p:graphicFrame>
        <p:nvGraphicFramePr>
          <p:cNvPr id="6" name="Table 5">
            <a:extLst>
              <a:ext uri="{FF2B5EF4-FFF2-40B4-BE49-F238E27FC236}">
                <a16:creationId xmlns:a16="http://schemas.microsoft.com/office/drawing/2014/main" id="{56BFEF06-415C-0F72-C0D2-B1F0177CE9B3}"/>
              </a:ext>
            </a:extLst>
          </p:cNvPr>
          <p:cNvGraphicFramePr>
            <a:graphicFrameLocks noGrp="1"/>
          </p:cNvGraphicFramePr>
          <p:nvPr>
            <p:extLst>
              <p:ext uri="{D42A27DB-BD31-4B8C-83A1-F6EECF244321}">
                <p14:modId xmlns:p14="http://schemas.microsoft.com/office/powerpoint/2010/main" val="3229390564"/>
              </p:ext>
            </p:extLst>
          </p:nvPr>
        </p:nvGraphicFramePr>
        <p:xfrm>
          <a:off x="187969" y="3459549"/>
          <a:ext cx="11816070" cy="1567628"/>
        </p:xfrm>
        <a:graphic>
          <a:graphicData uri="http://schemas.openxmlformats.org/drawingml/2006/table">
            <a:tbl>
              <a:tblPr/>
              <a:tblGrid>
                <a:gridCol w="337602">
                  <a:extLst>
                    <a:ext uri="{9D8B030D-6E8A-4147-A177-3AD203B41FA5}">
                      <a16:colId xmlns:a16="http://schemas.microsoft.com/office/drawing/2014/main" val="772919084"/>
                    </a:ext>
                  </a:extLst>
                </a:gridCol>
                <a:gridCol w="337602">
                  <a:extLst>
                    <a:ext uri="{9D8B030D-6E8A-4147-A177-3AD203B41FA5}">
                      <a16:colId xmlns:a16="http://schemas.microsoft.com/office/drawing/2014/main" val="649467868"/>
                    </a:ext>
                  </a:extLst>
                </a:gridCol>
                <a:gridCol w="337602">
                  <a:extLst>
                    <a:ext uri="{9D8B030D-6E8A-4147-A177-3AD203B41FA5}">
                      <a16:colId xmlns:a16="http://schemas.microsoft.com/office/drawing/2014/main" val="394361700"/>
                    </a:ext>
                  </a:extLst>
                </a:gridCol>
                <a:gridCol w="337602">
                  <a:extLst>
                    <a:ext uri="{9D8B030D-6E8A-4147-A177-3AD203B41FA5}">
                      <a16:colId xmlns:a16="http://schemas.microsoft.com/office/drawing/2014/main" val="758726704"/>
                    </a:ext>
                  </a:extLst>
                </a:gridCol>
                <a:gridCol w="337602">
                  <a:extLst>
                    <a:ext uri="{9D8B030D-6E8A-4147-A177-3AD203B41FA5}">
                      <a16:colId xmlns:a16="http://schemas.microsoft.com/office/drawing/2014/main" val="3638475387"/>
                    </a:ext>
                  </a:extLst>
                </a:gridCol>
                <a:gridCol w="337602">
                  <a:extLst>
                    <a:ext uri="{9D8B030D-6E8A-4147-A177-3AD203B41FA5}">
                      <a16:colId xmlns:a16="http://schemas.microsoft.com/office/drawing/2014/main" val="2773532333"/>
                    </a:ext>
                  </a:extLst>
                </a:gridCol>
                <a:gridCol w="337602">
                  <a:extLst>
                    <a:ext uri="{9D8B030D-6E8A-4147-A177-3AD203B41FA5}">
                      <a16:colId xmlns:a16="http://schemas.microsoft.com/office/drawing/2014/main" val="4030078727"/>
                    </a:ext>
                  </a:extLst>
                </a:gridCol>
                <a:gridCol w="337602">
                  <a:extLst>
                    <a:ext uri="{9D8B030D-6E8A-4147-A177-3AD203B41FA5}">
                      <a16:colId xmlns:a16="http://schemas.microsoft.com/office/drawing/2014/main" val="1123418144"/>
                    </a:ext>
                  </a:extLst>
                </a:gridCol>
                <a:gridCol w="337602">
                  <a:extLst>
                    <a:ext uri="{9D8B030D-6E8A-4147-A177-3AD203B41FA5}">
                      <a16:colId xmlns:a16="http://schemas.microsoft.com/office/drawing/2014/main" val="3305864182"/>
                    </a:ext>
                  </a:extLst>
                </a:gridCol>
                <a:gridCol w="337602">
                  <a:extLst>
                    <a:ext uri="{9D8B030D-6E8A-4147-A177-3AD203B41FA5}">
                      <a16:colId xmlns:a16="http://schemas.microsoft.com/office/drawing/2014/main" val="2010673551"/>
                    </a:ext>
                  </a:extLst>
                </a:gridCol>
                <a:gridCol w="337602">
                  <a:extLst>
                    <a:ext uri="{9D8B030D-6E8A-4147-A177-3AD203B41FA5}">
                      <a16:colId xmlns:a16="http://schemas.microsoft.com/office/drawing/2014/main" val="4024250535"/>
                    </a:ext>
                  </a:extLst>
                </a:gridCol>
                <a:gridCol w="337602">
                  <a:extLst>
                    <a:ext uri="{9D8B030D-6E8A-4147-A177-3AD203B41FA5}">
                      <a16:colId xmlns:a16="http://schemas.microsoft.com/office/drawing/2014/main" val="2410705432"/>
                    </a:ext>
                  </a:extLst>
                </a:gridCol>
                <a:gridCol w="337602">
                  <a:extLst>
                    <a:ext uri="{9D8B030D-6E8A-4147-A177-3AD203B41FA5}">
                      <a16:colId xmlns:a16="http://schemas.microsoft.com/office/drawing/2014/main" val="3803095438"/>
                    </a:ext>
                  </a:extLst>
                </a:gridCol>
                <a:gridCol w="337602">
                  <a:extLst>
                    <a:ext uri="{9D8B030D-6E8A-4147-A177-3AD203B41FA5}">
                      <a16:colId xmlns:a16="http://schemas.microsoft.com/office/drawing/2014/main" val="1412417309"/>
                    </a:ext>
                  </a:extLst>
                </a:gridCol>
                <a:gridCol w="337602">
                  <a:extLst>
                    <a:ext uri="{9D8B030D-6E8A-4147-A177-3AD203B41FA5}">
                      <a16:colId xmlns:a16="http://schemas.microsoft.com/office/drawing/2014/main" val="94705599"/>
                    </a:ext>
                  </a:extLst>
                </a:gridCol>
                <a:gridCol w="337602">
                  <a:extLst>
                    <a:ext uri="{9D8B030D-6E8A-4147-A177-3AD203B41FA5}">
                      <a16:colId xmlns:a16="http://schemas.microsoft.com/office/drawing/2014/main" val="3054049036"/>
                    </a:ext>
                  </a:extLst>
                </a:gridCol>
                <a:gridCol w="337602">
                  <a:extLst>
                    <a:ext uri="{9D8B030D-6E8A-4147-A177-3AD203B41FA5}">
                      <a16:colId xmlns:a16="http://schemas.microsoft.com/office/drawing/2014/main" val="49664995"/>
                    </a:ext>
                  </a:extLst>
                </a:gridCol>
                <a:gridCol w="337602">
                  <a:extLst>
                    <a:ext uri="{9D8B030D-6E8A-4147-A177-3AD203B41FA5}">
                      <a16:colId xmlns:a16="http://schemas.microsoft.com/office/drawing/2014/main" val="154726128"/>
                    </a:ext>
                  </a:extLst>
                </a:gridCol>
                <a:gridCol w="337602">
                  <a:extLst>
                    <a:ext uri="{9D8B030D-6E8A-4147-A177-3AD203B41FA5}">
                      <a16:colId xmlns:a16="http://schemas.microsoft.com/office/drawing/2014/main" val="3451954519"/>
                    </a:ext>
                  </a:extLst>
                </a:gridCol>
                <a:gridCol w="337602">
                  <a:extLst>
                    <a:ext uri="{9D8B030D-6E8A-4147-A177-3AD203B41FA5}">
                      <a16:colId xmlns:a16="http://schemas.microsoft.com/office/drawing/2014/main" val="2941436366"/>
                    </a:ext>
                  </a:extLst>
                </a:gridCol>
                <a:gridCol w="337602">
                  <a:extLst>
                    <a:ext uri="{9D8B030D-6E8A-4147-A177-3AD203B41FA5}">
                      <a16:colId xmlns:a16="http://schemas.microsoft.com/office/drawing/2014/main" val="2858846763"/>
                    </a:ext>
                  </a:extLst>
                </a:gridCol>
                <a:gridCol w="337602">
                  <a:extLst>
                    <a:ext uri="{9D8B030D-6E8A-4147-A177-3AD203B41FA5}">
                      <a16:colId xmlns:a16="http://schemas.microsoft.com/office/drawing/2014/main" val="898865705"/>
                    </a:ext>
                  </a:extLst>
                </a:gridCol>
                <a:gridCol w="337602">
                  <a:extLst>
                    <a:ext uri="{9D8B030D-6E8A-4147-A177-3AD203B41FA5}">
                      <a16:colId xmlns:a16="http://schemas.microsoft.com/office/drawing/2014/main" val="2875589101"/>
                    </a:ext>
                  </a:extLst>
                </a:gridCol>
                <a:gridCol w="337602">
                  <a:extLst>
                    <a:ext uri="{9D8B030D-6E8A-4147-A177-3AD203B41FA5}">
                      <a16:colId xmlns:a16="http://schemas.microsoft.com/office/drawing/2014/main" val="2781140859"/>
                    </a:ext>
                  </a:extLst>
                </a:gridCol>
                <a:gridCol w="337602">
                  <a:extLst>
                    <a:ext uri="{9D8B030D-6E8A-4147-A177-3AD203B41FA5}">
                      <a16:colId xmlns:a16="http://schemas.microsoft.com/office/drawing/2014/main" val="3522636285"/>
                    </a:ext>
                  </a:extLst>
                </a:gridCol>
                <a:gridCol w="337602">
                  <a:extLst>
                    <a:ext uri="{9D8B030D-6E8A-4147-A177-3AD203B41FA5}">
                      <a16:colId xmlns:a16="http://schemas.microsoft.com/office/drawing/2014/main" val="2816931968"/>
                    </a:ext>
                  </a:extLst>
                </a:gridCol>
                <a:gridCol w="337602">
                  <a:extLst>
                    <a:ext uri="{9D8B030D-6E8A-4147-A177-3AD203B41FA5}">
                      <a16:colId xmlns:a16="http://schemas.microsoft.com/office/drawing/2014/main" val="3255801105"/>
                    </a:ext>
                  </a:extLst>
                </a:gridCol>
                <a:gridCol w="337602">
                  <a:extLst>
                    <a:ext uri="{9D8B030D-6E8A-4147-A177-3AD203B41FA5}">
                      <a16:colId xmlns:a16="http://schemas.microsoft.com/office/drawing/2014/main" val="455721901"/>
                    </a:ext>
                  </a:extLst>
                </a:gridCol>
                <a:gridCol w="337602">
                  <a:extLst>
                    <a:ext uri="{9D8B030D-6E8A-4147-A177-3AD203B41FA5}">
                      <a16:colId xmlns:a16="http://schemas.microsoft.com/office/drawing/2014/main" val="3980413192"/>
                    </a:ext>
                  </a:extLst>
                </a:gridCol>
                <a:gridCol w="337602">
                  <a:extLst>
                    <a:ext uri="{9D8B030D-6E8A-4147-A177-3AD203B41FA5}">
                      <a16:colId xmlns:a16="http://schemas.microsoft.com/office/drawing/2014/main" val="1706288016"/>
                    </a:ext>
                  </a:extLst>
                </a:gridCol>
                <a:gridCol w="337602">
                  <a:extLst>
                    <a:ext uri="{9D8B030D-6E8A-4147-A177-3AD203B41FA5}">
                      <a16:colId xmlns:a16="http://schemas.microsoft.com/office/drawing/2014/main" val="3970756524"/>
                    </a:ext>
                  </a:extLst>
                </a:gridCol>
                <a:gridCol w="337602">
                  <a:extLst>
                    <a:ext uri="{9D8B030D-6E8A-4147-A177-3AD203B41FA5}">
                      <a16:colId xmlns:a16="http://schemas.microsoft.com/office/drawing/2014/main" val="2389091435"/>
                    </a:ext>
                  </a:extLst>
                </a:gridCol>
                <a:gridCol w="337602">
                  <a:extLst>
                    <a:ext uri="{9D8B030D-6E8A-4147-A177-3AD203B41FA5}">
                      <a16:colId xmlns:a16="http://schemas.microsoft.com/office/drawing/2014/main" val="1597562848"/>
                    </a:ext>
                  </a:extLst>
                </a:gridCol>
                <a:gridCol w="337602">
                  <a:extLst>
                    <a:ext uri="{9D8B030D-6E8A-4147-A177-3AD203B41FA5}">
                      <a16:colId xmlns:a16="http://schemas.microsoft.com/office/drawing/2014/main" val="1549952127"/>
                    </a:ext>
                  </a:extLst>
                </a:gridCol>
                <a:gridCol w="337602">
                  <a:extLst>
                    <a:ext uri="{9D8B030D-6E8A-4147-A177-3AD203B41FA5}">
                      <a16:colId xmlns:a16="http://schemas.microsoft.com/office/drawing/2014/main" val="2598980134"/>
                    </a:ext>
                  </a:extLst>
                </a:gridCol>
              </a:tblGrid>
              <a:tr h="493873">
                <a:tc>
                  <a:txBody>
                    <a:bodyPr/>
                    <a:lstStyle/>
                    <a:p>
                      <a:pPr algn="l"/>
                      <a:r>
                        <a:rPr lang="en-US" sz="500">
                          <a:effectLst/>
                        </a:rPr>
                        <a:t>X_Minimum</a:t>
                      </a: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500">
                          <a:effectLst/>
                        </a:rPr>
                        <a:t>X_Maximum</a:t>
                      </a: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500">
                          <a:effectLst/>
                        </a:rPr>
                        <a:t>Y_Minimum</a:t>
                      </a: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500">
                          <a:effectLst/>
                        </a:rPr>
                        <a:t>Y_Maximum</a:t>
                      </a: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500">
                          <a:effectLst/>
                        </a:rPr>
                        <a:t>Pixels_Areas</a:t>
                      </a: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500">
                          <a:effectLst/>
                        </a:rPr>
                        <a:t>X_Perimeter</a:t>
                      </a: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500">
                          <a:effectLst/>
                        </a:rPr>
                        <a:t>Y_Perimeter</a:t>
                      </a: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500">
                          <a:effectLst/>
                        </a:rPr>
                        <a:t>Sum_of_Luminosity</a:t>
                      </a: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500">
                          <a:effectLst/>
                        </a:rPr>
                        <a:t>Minimum_of_Luminosity</a:t>
                      </a: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500">
                          <a:effectLst/>
                        </a:rPr>
                        <a:t>Maximum_of_Luminosity</a:t>
                      </a: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500">
                          <a:effectLst/>
                        </a:rPr>
                        <a:t>Length_of_Conveyer</a:t>
                      </a: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500">
                          <a:effectLst/>
                        </a:rPr>
                        <a:t>TypeOfSteel_A300</a:t>
                      </a: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500">
                          <a:effectLst/>
                        </a:rPr>
                        <a:t>TypeOfSteel_A400</a:t>
                      </a: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500">
                          <a:effectLst/>
                        </a:rPr>
                        <a:t>Steel_Plate_Thickness</a:t>
                      </a: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500">
                          <a:effectLst/>
                        </a:rPr>
                        <a:t>Edges_Index</a:t>
                      </a: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500">
                          <a:effectLst/>
                        </a:rPr>
                        <a:t>Empty_Index</a:t>
                      </a: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500">
                          <a:effectLst/>
                        </a:rPr>
                        <a:t>Square_Index</a:t>
                      </a: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500">
                          <a:effectLst/>
                        </a:rPr>
                        <a:t>Outside_X_Index</a:t>
                      </a: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500">
                          <a:effectLst/>
                        </a:rPr>
                        <a:t>Edges_X_Index</a:t>
                      </a: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500">
                          <a:effectLst/>
                        </a:rPr>
                        <a:t>Edges_Y_Index</a:t>
                      </a: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500">
                          <a:effectLst/>
                        </a:rPr>
                        <a:t>Outside_Global_Index</a:t>
                      </a: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500">
                          <a:effectLst/>
                        </a:rPr>
                        <a:t>LogOfAreas</a:t>
                      </a: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500">
                          <a:effectLst/>
                        </a:rPr>
                        <a:t>Log_X_Index</a:t>
                      </a: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500">
                          <a:effectLst/>
                        </a:rPr>
                        <a:t>Log_Y_Index</a:t>
                      </a: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500">
                          <a:effectLst/>
                        </a:rPr>
                        <a:t>Orientation_Index</a:t>
                      </a: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500">
                          <a:effectLst/>
                        </a:rPr>
                        <a:t>Luminosity_Index</a:t>
                      </a: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500">
                          <a:effectLst/>
                        </a:rPr>
                        <a:t>SigmoidOfAreas</a:t>
                      </a: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500">
                          <a:effectLst/>
                        </a:rPr>
                        <a:t>Pastry</a:t>
                      </a: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500">
                          <a:effectLst/>
                        </a:rPr>
                        <a:t>Z_Scratch</a:t>
                      </a: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500">
                          <a:effectLst/>
                        </a:rPr>
                        <a:t>K_Scatch</a:t>
                      </a: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500">
                          <a:effectLst/>
                        </a:rPr>
                        <a:t>Stains</a:t>
                      </a: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500">
                          <a:effectLst/>
                        </a:rPr>
                        <a:t>Dirtiness</a:t>
                      </a: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500">
                          <a:effectLst/>
                        </a:rPr>
                        <a:t>Bumps</a:t>
                      </a: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500">
                          <a:effectLst/>
                        </a:rPr>
                        <a:t>Other_Faults</a:t>
                      </a: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500">
                          <a:effectLst/>
                        </a:rPr>
                        <a:t>Target</a:t>
                      </a:r>
                    </a:p>
                  </a:txBody>
                  <a:tcPr marL="20527" marR="20527" marT="20527" marB="20527" anchor="ctr">
                    <a:lnL>
                      <a:noFill/>
                    </a:lnL>
                    <a:lnR>
                      <a:noFill/>
                    </a:lnR>
                    <a:lnT>
                      <a:noFill/>
                    </a:lnT>
                    <a:lnB w="9525"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2650139079"/>
                  </a:ext>
                </a:extLst>
              </a:tr>
              <a:tr h="214751">
                <a:tc>
                  <a:txBody>
                    <a:bodyPr/>
                    <a:lstStyle/>
                    <a:p>
                      <a:pPr algn="l"/>
                      <a:r>
                        <a:rPr lang="en-001" sz="500">
                          <a:effectLst/>
                        </a:rPr>
                        <a:t>42</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50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270900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270944</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267</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17</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44</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24220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76</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108</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1687</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80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0.0498</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0.2415</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0.1818</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0.0047</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0.4706</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1.0000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2.4265</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0.9031</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1.6435</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0.8182</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-0.2913</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0.5822</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US" sz="500">
                          <a:effectLst/>
                        </a:rPr>
                        <a:t>Pastry</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938566771"/>
                  </a:ext>
                </a:extLst>
              </a:tr>
              <a:tr h="214751">
                <a:tc>
                  <a:txBody>
                    <a:bodyPr/>
                    <a:lstStyle/>
                    <a:p>
                      <a:pPr algn="l"/>
                      <a:r>
                        <a:rPr lang="en-001" sz="500">
                          <a:effectLst/>
                        </a:rPr>
                        <a:t>645</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651</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2538079</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2538108</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108</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30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11397</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84</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123</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1687</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80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0.7647</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0.3793</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0.2069</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0.0036</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0.6000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0.9667</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2.0334</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0.7782</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1.4624</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0.7931</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-0.1756</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0.2984</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US" sz="500">
                          <a:effectLst/>
                        </a:rPr>
                        <a:t>Pastry</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997712001"/>
                  </a:ext>
                </a:extLst>
              </a:tr>
              <a:tr h="214751">
                <a:tc>
                  <a:txBody>
                    <a:bodyPr/>
                    <a:lstStyle/>
                    <a:p>
                      <a:pPr algn="l"/>
                      <a:r>
                        <a:rPr lang="en-001" sz="500">
                          <a:effectLst/>
                        </a:rPr>
                        <a:t>829</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835</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1553913</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1553931</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71</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8</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19</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7972</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99</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125</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1623</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100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0.9710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0.3426</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0.3333</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0.0037</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0.7500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0.9474</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1.8513</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0.7782</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1.2553</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0.6667</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-0.1228</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0.2150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US" sz="500">
                          <a:effectLst/>
                        </a:rPr>
                        <a:t>Pastry</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3643022695"/>
                  </a:ext>
                </a:extLst>
              </a:tr>
              <a:tr h="214751">
                <a:tc>
                  <a:txBody>
                    <a:bodyPr/>
                    <a:lstStyle/>
                    <a:p>
                      <a:pPr algn="l"/>
                      <a:r>
                        <a:rPr lang="en-001" sz="500">
                          <a:effectLst/>
                        </a:rPr>
                        <a:t>853</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860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369370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369415</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176</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13</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45</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18996</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99</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126</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1353</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290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0.7287</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0.4413</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0.1556</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0.0052</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0.5385</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1.0000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2.2455</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0.8451</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1.6532</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0.8444</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-0.1568</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0.5212</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US" sz="500">
                          <a:effectLst/>
                        </a:rPr>
                        <a:t>Pastry</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992332387"/>
                  </a:ext>
                </a:extLst>
              </a:tr>
              <a:tr h="214751">
                <a:tc>
                  <a:txBody>
                    <a:bodyPr/>
                    <a:lstStyle/>
                    <a:p>
                      <a:pPr algn="l"/>
                      <a:r>
                        <a:rPr lang="en-001" sz="500">
                          <a:effectLst/>
                        </a:rPr>
                        <a:t>1289</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1306</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498078</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498335</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2409</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60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260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246930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37</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126</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1353</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185</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0.0695</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0.4486</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0.0662</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0.0126</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0.2833</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0.9885</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3.3818</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1.2305</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2.4099</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0.9338</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-0.1992</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1.0000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1</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001" sz="500">
                          <a:effectLst/>
                        </a:rPr>
                        <a:t>0</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US" sz="500" dirty="0">
                          <a:effectLst/>
                        </a:rPr>
                        <a:t>Pastry</a:t>
                      </a:r>
                    </a:p>
                  </a:txBody>
                  <a:tcPr marL="20527" marR="20527" marT="20527" marB="20527"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706288228"/>
                  </a:ext>
                </a:extLst>
              </a:tr>
            </a:tbl>
          </a:graphicData>
        </a:graphic>
      </p:graphicFrame>
      <p:sp>
        <p:nvSpPr>
          <p:cNvPr id="7" name="Rectangle 2">
            <a:extLst>
              <a:ext uri="{FF2B5EF4-FFF2-40B4-BE49-F238E27FC236}">
                <a16:creationId xmlns:a16="http://schemas.microsoft.com/office/drawing/2014/main" id="{C625B68C-BBC4-6728-47B2-0E65DEDB3E0F}"/>
              </a:ext>
            </a:extLst>
          </p:cNvPr>
          <p:cNvSpPr>
            <a:spLocks noChangeArrowheads="1"/>
          </p:cNvSpPr>
          <p:nvPr/>
        </p:nvSpPr>
        <p:spPr bwMode="auto">
          <a:xfrm>
            <a:off x="401320" y="2715428"/>
            <a:ext cx="732822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kumimoji="0" lang="en-001" altLang="en-001" sz="3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Sample Steel Plates Faults T</a:t>
            </a:r>
            <a:r>
              <a:rPr lang="en-US" altLang="en-001" sz="3600" b="1" dirty="0" err="1">
                <a:solidFill>
                  <a:srgbClr val="000000"/>
                </a:solidFill>
                <a:latin typeface="Times New Roman" panose="02020603050405020304" pitchFamily="18" charset="0"/>
                <a:cs typeface="Times New Roman" panose="02020603050405020304" pitchFamily="18" charset="0"/>
              </a:rPr>
              <a:t>est</a:t>
            </a:r>
            <a:r>
              <a:rPr kumimoji="0" lang="en-001" altLang="en-001" sz="3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Data</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001" altLang="en-001" sz="1800" b="0" i="0" u="none"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DD0C70B6-3342-E0D4-80FE-CB031943F891}"/>
              </a:ext>
            </a:extLst>
          </p:cNvPr>
          <p:cNvSpPr txBox="1"/>
          <p:nvPr/>
        </p:nvSpPr>
        <p:spPr>
          <a:xfrm>
            <a:off x="1813559" y="5093778"/>
            <a:ext cx="8564880" cy="923330"/>
          </a:xfrm>
          <a:prstGeom prst="rect">
            <a:avLst/>
          </a:prstGeom>
          <a:noFill/>
        </p:spPr>
        <p:txBody>
          <a:bodyPr wrap="square">
            <a:spAutoFit/>
          </a:bodyPr>
          <a:lstStyle/>
          <a:p>
            <a:r>
              <a:rPr lang="en-US" b="1" i="0" u="sng" dirty="0">
                <a:solidFill>
                  <a:srgbClr val="3B3A39"/>
                </a:solidFill>
                <a:effectLst/>
                <a:latin typeface="Courier New" panose="02070309020205020404" pitchFamily="49" charset="0"/>
              </a:rPr>
              <a:t>Training Data: </a:t>
            </a:r>
            <a:r>
              <a:rPr lang="en-US" b="1" i="0" dirty="0">
                <a:solidFill>
                  <a:srgbClr val="3B3A39"/>
                </a:solidFill>
                <a:effectLst/>
                <a:latin typeface="Courier New" panose="02070309020205020404" pitchFamily="49" charset="0"/>
              </a:rPr>
              <a:t>Number of Rows: </a:t>
            </a:r>
            <a:r>
              <a:rPr lang="en-US" b="0" i="0" dirty="0">
                <a:solidFill>
                  <a:srgbClr val="3B3A39"/>
                </a:solidFill>
                <a:effectLst/>
                <a:latin typeface="Courier New" panose="02070309020205020404" pitchFamily="49" charset="0"/>
              </a:rPr>
              <a:t>21160 </a:t>
            </a:r>
            <a:r>
              <a:rPr lang="en-US" b="1" i="0" dirty="0">
                <a:solidFill>
                  <a:srgbClr val="3B3A39"/>
                </a:solidFill>
                <a:effectLst/>
                <a:latin typeface="Courier New" panose="02070309020205020404" pitchFamily="49" charset="0"/>
              </a:rPr>
              <a:t>Number of Columns: </a:t>
            </a:r>
            <a:r>
              <a:rPr lang="en-US" b="0" i="0" dirty="0">
                <a:solidFill>
                  <a:srgbClr val="3B3A39"/>
                </a:solidFill>
                <a:effectLst/>
                <a:latin typeface="Courier New" panose="02070309020205020404" pitchFamily="49" charset="0"/>
              </a:rPr>
              <a:t>35 </a:t>
            </a:r>
            <a:r>
              <a:rPr lang="en-US" b="1" i="0" u="sng" dirty="0">
                <a:solidFill>
                  <a:srgbClr val="3B3A39"/>
                </a:solidFill>
                <a:effectLst/>
                <a:latin typeface="Courier New" panose="02070309020205020404" pitchFamily="49" charset="0"/>
              </a:rPr>
              <a:t>Test Data</a:t>
            </a:r>
            <a:r>
              <a:rPr lang="en-US" b="0" i="0" dirty="0">
                <a:solidFill>
                  <a:srgbClr val="3B3A39"/>
                </a:solidFill>
                <a:effectLst/>
                <a:latin typeface="Courier New" panose="02070309020205020404" pitchFamily="49" charset="0"/>
              </a:rPr>
              <a:t>: </a:t>
            </a:r>
            <a:r>
              <a:rPr lang="en-US" b="1" i="0" dirty="0">
                <a:solidFill>
                  <a:srgbClr val="3B3A39"/>
                </a:solidFill>
                <a:effectLst/>
                <a:latin typeface="Courier New" panose="02070309020205020404" pitchFamily="49" charset="0"/>
              </a:rPr>
              <a:t>Number of Rows: </a:t>
            </a:r>
            <a:r>
              <a:rPr lang="en-US" b="0" i="0" dirty="0">
                <a:solidFill>
                  <a:srgbClr val="3B3A39"/>
                </a:solidFill>
                <a:effectLst/>
                <a:latin typeface="Courier New" panose="02070309020205020404" pitchFamily="49" charset="0"/>
              </a:rPr>
              <a:t>12814 </a:t>
            </a:r>
            <a:r>
              <a:rPr lang="en-US" b="1" i="0" dirty="0">
                <a:solidFill>
                  <a:srgbClr val="3B3A39"/>
                </a:solidFill>
                <a:effectLst/>
                <a:latin typeface="Courier New" panose="02070309020205020404" pitchFamily="49" charset="0"/>
              </a:rPr>
              <a:t>Number of Columns</a:t>
            </a:r>
            <a:r>
              <a:rPr lang="en-US" b="0" i="0" dirty="0">
                <a:solidFill>
                  <a:srgbClr val="3B3A39"/>
                </a:solidFill>
                <a:effectLst/>
                <a:latin typeface="Courier New" panose="02070309020205020404" pitchFamily="49" charset="0"/>
              </a:rPr>
              <a:t>: 28 </a:t>
            </a:r>
            <a:r>
              <a:rPr lang="en-US" b="1" i="0" u="sng" dirty="0">
                <a:solidFill>
                  <a:srgbClr val="3B3A39"/>
                </a:solidFill>
                <a:effectLst/>
                <a:latin typeface="Courier New" panose="02070309020205020404" pitchFamily="49" charset="0"/>
              </a:rPr>
              <a:t>Submission Data: </a:t>
            </a:r>
            <a:r>
              <a:rPr lang="en-US" b="1" i="0" dirty="0">
                <a:solidFill>
                  <a:srgbClr val="3B3A39"/>
                </a:solidFill>
                <a:effectLst/>
                <a:latin typeface="Courier New" panose="02070309020205020404" pitchFamily="49" charset="0"/>
              </a:rPr>
              <a:t>Number of Rows: </a:t>
            </a:r>
            <a:r>
              <a:rPr lang="en-US" b="0" i="0" dirty="0">
                <a:solidFill>
                  <a:srgbClr val="3B3A39"/>
                </a:solidFill>
                <a:effectLst/>
                <a:latin typeface="Courier New" panose="02070309020205020404" pitchFamily="49" charset="0"/>
              </a:rPr>
              <a:t>12814 </a:t>
            </a:r>
            <a:r>
              <a:rPr lang="en-US" b="1" i="0" dirty="0">
                <a:solidFill>
                  <a:srgbClr val="3B3A39"/>
                </a:solidFill>
                <a:effectLst/>
                <a:latin typeface="Courier New" panose="02070309020205020404" pitchFamily="49" charset="0"/>
              </a:rPr>
              <a:t>Number of Columns</a:t>
            </a:r>
            <a:r>
              <a:rPr lang="en-US" b="0" i="0" dirty="0">
                <a:solidFill>
                  <a:srgbClr val="3B3A39"/>
                </a:solidFill>
                <a:effectLst/>
                <a:latin typeface="Courier New" panose="02070309020205020404" pitchFamily="49" charset="0"/>
              </a:rPr>
              <a:t>: 8</a:t>
            </a:r>
            <a:endParaRPr lang="en-001" dirty="0"/>
          </a:p>
        </p:txBody>
      </p:sp>
    </p:spTree>
    <p:extLst>
      <p:ext uri="{BB962C8B-B14F-4D97-AF65-F5344CB8AC3E}">
        <p14:creationId xmlns:p14="http://schemas.microsoft.com/office/powerpoint/2010/main" val="3042444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92830-DF2D-7271-5140-366371EBD369}"/>
              </a:ext>
            </a:extLst>
          </p:cNvPr>
          <p:cNvSpPr>
            <a:spLocks noGrp="1"/>
          </p:cNvSpPr>
          <p:nvPr>
            <p:ph type="title"/>
          </p:nvPr>
        </p:nvSpPr>
        <p:spPr>
          <a:xfrm>
            <a:off x="299720" y="89818"/>
            <a:ext cx="10515600" cy="1325563"/>
          </a:xfrm>
        </p:spPr>
        <p:txBody>
          <a:bodyPr/>
          <a:lstStyle/>
          <a:p>
            <a:r>
              <a:rPr lang="en-US" b="1" u="sng" dirty="0"/>
              <a:t>Data cleaning and preparing</a:t>
            </a:r>
            <a:endParaRPr lang="en-001" b="1" u="sng" dirty="0"/>
          </a:p>
        </p:txBody>
      </p:sp>
      <p:sp>
        <p:nvSpPr>
          <p:cNvPr id="5" name="Content Placeholder 4">
            <a:extLst>
              <a:ext uri="{FF2B5EF4-FFF2-40B4-BE49-F238E27FC236}">
                <a16:creationId xmlns:a16="http://schemas.microsoft.com/office/drawing/2014/main" id="{1758BB19-D3E2-0361-8AA3-BCC6254AD49A}"/>
              </a:ext>
            </a:extLst>
          </p:cNvPr>
          <p:cNvSpPr>
            <a:spLocks noGrp="1"/>
          </p:cNvSpPr>
          <p:nvPr>
            <p:ph idx="1"/>
          </p:nvPr>
        </p:nvSpPr>
        <p:spPr>
          <a:xfrm>
            <a:off x="299720" y="1155065"/>
            <a:ext cx="10515600" cy="4351338"/>
          </a:xfrm>
        </p:spPr>
        <p:txBody>
          <a:bodyPr/>
          <a:lstStyle/>
          <a:p>
            <a:pPr marL="0" indent="0">
              <a:buNone/>
            </a:pPr>
            <a:r>
              <a:rPr lang="en-US" b="1" dirty="0"/>
              <a:t>Null values :</a:t>
            </a:r>
          </a:p>
          <a:p>
            <a:pPr marL="0" indent="0">
              <a:buNone/>
            </a:pPr>
            <a:endParaRPr lang="en-US" b="1" dirty="0"/>
          </a:p>
        </p:txBody>
      </p:sp>
      <p:sp>
        <p:nvSpPr>
          <p:cNvPr id="8" name="Rectangle 2">
            <a:extLst>
              <a:ext uri="{FF2B5EF4-FFF2-40B4-BE49-F238E27FC236}">
                <a16:creationId xmlns:a16="http://schemas.microsoft.com/office/drawing/2014/main" id="{02B7D01C-114A-0228-2FEE-99153B44931E}"/>
              </a:ext>
            </a:extLst>
          </p:cNvPr>
          <p:cNvSpPr>
            <a:spLocks noChangeArrowheads="1"/>
          </p:cNvSpPr>
          <p:nvPr/>
        </p:nvSpPr>
        <p:spPr bwMode="auto">
          <a:xfrm>
            <a:off x="538480" y="1751985"/>
            <a:ext cx="7132320"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001" altLang="en-001" sz="1200" b="0" i="0" u="none" strike="noStrike" cap="none" normalizeH="0" baseline="0" dirty="0">
                <a:ln>
                  <a:noFill/>
                </a:ln>
                <a:solidFill>
                  <a:srgbClr val="3C4043"/>
                </a:solidFill>
                <a:effectLst/>
                <a:latin typeface="Roboto Mono" panose="00000009000000000000" pitchFamily="49" charset="0"/>
              </a:rPr>
              <a:t>Null Count in Train: 0 Null Count in Test: 0 Null Count in Submission: 0</a:t>
            </a:r>
            <a:r>
              <a:rPr kumimoji="0" lang="en-001" altLang="en-001" sz="1200" b="0" i="0" u="none" strike="noStrike" cap="none" normalizeH="0" baseline="0" dirty="0">
                <a:ln>
                  <a:noFill/>
                </a:ln>
                <a:solidFill>
                  <a:schemeClr val="tx1"/>
                </a:solidFill>
                <a:effectLst/>
              </a:rPr>
              <a:t> </a:t>
            </a:r>
            <a:endParaRPr kumimoji="0" lang="en-001" altLang="en-001" sz="1200" b="0" i="0" u="none" strike="noStrike" cap="none" normalizeH="0" baseline="0" dirty="0">
              <a:ln>
                <a:noFill/>
              </a:ln>
              <a:solidFill>
                <a:schemeClr val="tx1"/>
              </a:solidFill>
              <a:effectLst/>
              <a:latin typeface="Arial" panose="020B0604020202020204" pitchFamily="34" charset="0"/>
            </a:endParaRPr>
          </a:p>
        </p:txBody>
      </p:sp>
      <p:pic>
        <p:nvPicPr>
          <p:cNvPr id="4100" name="Picture 4">
            <a:extLst>
              <a:ext uri="{FF2B5EF4-FFF2-40B4-BE49-F238E27FC236}">
                <a16:creationId xmlns:a16="http://schemas.microsoft.com/office/drawing/2014/main" id="{2B268410-6AE1-5705-8724-2829F05E96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01560" y="147"/>
            <a:ext cx="4597400" cy="4560451"/>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E0CB4FCE-3B8C-5ABC-B699-9608D8B3E16D}"/>
              </a:ext>
            </a:extLst>
          </p:cNvPr>
          <p:cNvSpPr txBox="1"/>
          <p:nvPr/>
        </p:nvSpPr>
        <p:spPr>
          <a:xfrm>
            <a:off x="299720" y="2187559"/>
            <a:ext cx="6096000" cy="523220"/>
          </a:xfrm>
          <a:prstGeom prst="rect">
            <a:avLst/>
          </a:prstGeom>
          <a:noFill/>
        </p:spPr>
        <p:txBody>
          <a:bodyPr wrap="square">
            <a:spAutoFit/>
          </a:bodyPr>
          <a:lstStyle/>
          <a:p>
            <a:r>
              <a:rPr lang="en-US" sz="2800" b="1" dirty="0"/>
              <a:t>Duplicates:</a:t>
            </a:r>
            <a:endParaRPr lang="en-001" sz="2800" b="1" dirty="0"/>
          </a:p>
        </p:txBody>
      </p:sp>
      <p:sp>
        <p:nvSpPr>
          <p:cNvPr id="11" name="Rectangle 5">
            <a:extLst>
              <a:ext uri="{FF2B5EF4-FFF2-40B4-BE49-F238E27FC236}">
                <a16:creationId xmlns:a16="http://schemas.microsoft.com/office/drawing/2014/main" id="{470BF157-0524-572C-CC8F-1A4BB4278936}"/>
              </a:ext>
            </a:extLst>
          </p:cNvPr>
          <p:cNvSpPr>
            <a:spLocks noChangeArrowheads="1"/>
          </p:cNvSpPr>
          <p:nvPr/>
        </p:nvSpPr>
        <p:spPr bwMode="auto">
          <a:xfrm>
            <a:off x="431800" y="2873280"/>
            <a:ext cx="6624320"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001" altLang="en-001" sz="1200" b="0" i="0" u="none" strike="noStrike" cap="none" normalizeH="0" baseline="0" dirty="0">
                <a:ln>
                  <a:noFill/>
                </a:ln>
                <a:solidFill>
                  <a:srgbClr val="3C4043"/>
                </a:solidFill>
                <a:effectLst/>
                <a:latin typeface="Roboto Mono" panose="00000009000000000000" pitchFamily="49" charset="0"/>
              </a:rPr>
              <a:t>Number of duplicate rows in </a:t>
            </a:r>
            <a:r>
              <a:rPr kumimoji="0" lang="en-001" altLang="en-001" sz="1200" b="0" i="0" u="none" strike="noStrike" cap="none" normalizeH="0" baseline="0" dirty="0" err="1">
                <a:ln>
                  <a:noFill/>
                </a:ln>
                <a:solidFill>
                  <a:srgbClr val="3C4043"/>
                </a:solidFill>
                <a:effectLst/>
                <a:latin typeface="Roboto Mono" panose="00000009000000000000" pitchFamily="49" charset="0"/>
              </a:rPr>
              <a:t>train_data</a:t>
            </a:r>
            <a:r>
              <a:rPr kumimoji="0" lang="en-001" altLang="en-001" sz="1200" b="0" i="0" u="none" strike="noStrike" cap="none" normalizeH="0" baseline="0" dirty="0">
                <a:ln>
                  <a:noFill/>
                </a:ln>
                <a:solidFill>
                  <a:srgbClr val="3C4043"/>
                </a:solidFill>
                <a:effectLst/>
                <a:latin typeface="Roboto Mono" panose="00000009000000000000" pitchFamily="49" charset="0"/>
              </a:rPr>
              <a:t>: 0 Number of duplicate rows </a:t>
            </a:r>
            <a:r>
              <a:rPr kumimoji="0" lang="en-001" altLang="en-001" sz="1200" b="0" i="0" u="none" strike="noStrike" cap="none" normalizeH="0" baseline="0" dirty="0" err="1">
                <a:ln>
                  <a:noFill/>
                </a:ln>
                <a:solidFill>
                  <a:srgbClr val="3C4043"/>
                </a:solidFill>
                <a:effectLst/>
                <a:latin typeface="Roboto Mono" panose="00000009000000000000" pitchFamily="49" charset="0"/>
              </a:rPr>
              <a:t>itest_data</a:t>
            </a:r>
            <a:r>
              <a:rPr kumimoji="0" lang="en-001" altLang="en-001" sz="1200" b="0" i="0" u="none" strike="noStrike" cap="none" normalizeH="0" baseline="0" dirty="0">
                <a:ln>
                  <a:noFill/>
                </a:ln>
                <a:solidFill>
                  <a:srgbClr val="3C4043"/>
                </a:solidFill>
                <a:effectLst/>
                <a:latin typeface="Roboto Mono" panose="00000009000000000000" pitchFamily="49" charset="0"/>
              </a:rPr>
              <a:t>: 0 Number of duplicate rows in </a:t>
            </a:r>
            <a:r>
              <a:rPr kumimoji="0" lang="en-001" altLang="en-001" sz="1200" b="0" i="0" u="none" strike="noStrike" cap="none" normalizeH="0" baseline="0" dirty="0" err="1">
                <a:ln>
                  <a:noFill/>
                </a:ln>
                <a:solidFill>
                  <a:srgbClr val="3C4043"/>
                </a:solidFill>
                <a:effectLst/>
                <a:latin typeface="Roboto Mono" panose="00000009000000000000" pitchFamily="49" charset="0"/>
              </a:rPr>
              <a:t>test_data</a:t>
            </a:r>
            <a:r>
              <a:rPr kumimoji="0" lang="en-001" altLang="en-001" sz="1200" b="0" i="0" u="none" strike="noStrike" cap="none" normalizeH="0" baseline="0" dirty="0">
                <a:ln>
                  <a:noFill/>
                </a:ln>
                <a:solidFill>
                  <a:srgbClr val="3C4043"/>
                </a:solidFill>
                <a:effectLst/>
                <a:latin typeface="Roboto Mono" panose="00000009000000000000" pitchFamily="49" charset="0"/>
              </a:rPr>
              <a:t>: 0</a:t>
            </a:r>
            <a:r>
              <a:rPr kumimoji="0" lang="en-001" altLang="en-001" sz="1200" b="0" i="0" u="none" strike="noStrike" cap="none" normalizeH="0" baseline="0" dirty="0">
                <a:ln>
                  <a:noFill/>
                </a:ln>
                <a:solidFill>
                  <a:schemeClr val="tx1"/>
                </a:solidFill>
                <a:effectLst/>
              </a:rPr>
              <a:t> </a:t>
            </a:r>
            <a:endParaRPr kumimoji="0" lang="en-US" altLang="en-001"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001" altLang="en-001" sz="1200" b="0" i="0" u="none" strike="noStrike" cap="none" normalizeH="0" baseline="0" dirty="0">
              <a:ln>
                <a:noFill/>
              </a:ln>
              <a:solidFill>
                <a:schemeClr val="tx1"/>
              </a:solidFill>
              <a:effectLst/>
              <a:latin typeface="Arial" panose="020B0604020202020204" pitchFamily="34" charset="0"/>
            </a:endParaRPr>
          </a:p>
        </p:txBody>
      </p:sp>
      <p:graphicFrame>
        <p:nvGraphicFramePr>
          <p:cNvPr id="12" name="Content Placeholder 9">
            <a:extLst>
              <a:ext uri="{FF2B5EF4-FFF2-40B4-BE49-F238E27FC236}">
                <a16:creationId xmlns:a16="http://schemas.microsoft.com/office/drawing/2014/main" id="{3CA97976-C76F-74D0-521B-CE87942B3C72}"/>
              </a:ext>
            </a:extLst>
          </p:cNvPr>
          <p:cNvGraphicFramePr>
            <a:graphicFrameLocks/>
          </p:cNvGraphicFramePr>
          <p:nvPr>
            <p:extLst>
              <p:ext uri="{D42A27DB-BD31-4B8C-83A1-F6EECF244321}">
                <p14:modId xmlns:p14="http://schemas.microsoft.com/office/powerpoint/2010/main" val="3236760539"/>
              </p:ext>
            </p:extLst>
          </p:nvPr>
        </p:nvGraphicFramePr>
        <p:xfrm>
          <a:off x="538480" y="4652257"/>
          <a:ext cx="11013450" cy="1325562"/>
        </p:xfrm>
        <a:graphic>
          <a:graphicData uri="http://schemas.openxmlformats.org/drawingml/2006/table">
            <a:tbl>
              <a:tblPr/>
              <a:tblGrid>
                <a:gridCol w="314670">
                  <a:extLst>
                    <a:ext uri="{9D8B030D-6E8A-4147-A177-3AD203B41FA5}">
                      <a16:colId xmlns:a16="http://schemas.microsoft.com/office/drawing/2014/main" val="4291118765"/>
                    </a:ext>
                  </a:extLst>
                </a:gridCol>
                <a:gridCol w="314670">
                  <a:extLst>
                    <a:ext uri="{9D8B030D-6E8A-4147-A177-3AD203B41FA5}">
                      <a16:colId xmlns:a16="http://schemas.microsoft.com/office/drawing/2014/main" val="2786827011"/>
                    </a:ext>
                  </a:extLst>
                </a:gridCol>
                <a:gridCol w="314670">
                  <a:extLst>
                    <a:ext uri="{9D8B030D-6E8A-4147-A177-3AD203B41FA5}">
                      <a16:colId xmlns:a16="http://schemas.microsoft.com/office/drawing/2014/main" val="1971543064"/>
                    </a:ext>
                  </a:extLst>
                </a:gridCol>
                <a:gridCol w="314670">
                  <a:extLst>
                    <a:ext uri="{9D8B030D-6E8A-4147-A177-3AD203B41FA5}">
                      <a16:colId xmlns:a16="http://schemas.microsoft.com/office/drawing/2014/main" val="3481741993"/>
                    </a:ext>
                  </a:extLst>
                </a:gridCol>
                <a:gridCol w="314670">
                  <a:extLst>
                    <a:ext uri="{9D8B030D-6E8A-4147-A177-3AD203B41FA5}">
                      <a16:colId xmlns:a16="http://schemas.microsoft.com/office/drawing/2014/main" val="2203913920"/>
                    </a:ext>
                  </a:extLst>
                </a:gridCol>
                <a:gridCol w="314670">
                  <a:extLst>
                    <a:ext uri="{9D8B030D-6E8A-4147-A177-3AD203B41FA5}">
                      <a16:colId xmlns:a16="http://schemas.microsoft.com/office/drawing/2014/main" val="2807005038"/>
                    </a:ext>
                  </a:extLst>
                </a:gridCol>
                <a:gridCol w="314670">
                  <a:extLst>
                    <a:ext uri="{9D8B030D-6E8A-4147-A177-3AD203B41FA5}">
                      <a16:colId xmlns:a16="http://schemas.microsoft.com/office/drawing/2014/main" val="3043507588"/>
                    </a:ext>
                  </a:extLst>
                </a:gridCol>
                <a:gridCol w="314670">
                  <a:extLst>
                    <a:ext uri="{9D8B030D-6E8A-4147-A177-3AD203B41FA5}">
                      <a16:colId xmlns:a16="http://schemas.microsoft.com/office/drawing/2014/main" val="1199215235"/>
                    </a:ext>
                  </a:extLst>
                </a:gridCol>
                <a:gridCol w="314670">
                  <a:extLst>
                    <a:ext uri="{9D8B030D-6E8A-4147-A177-3AD203B41FA5}">
                      <a16:colId xmlns:a16="http://schemas.microsoft.com/office/drawing/2014/main" val="3164835113"/>
                    </a:ext>
                  </a:extLst>
                </a:gridCol>
                <a:gridCol w="314670">
                  <a:extLst>
                    <a:ext uri="{9D8B030D-6E8A-4147-A177-3AD203B41FA5}">
                      <a16:colId xmlns:a16="http://schemas.microsoft.com/office/drawing/2014/main" val="3348129156"/>
                    </a:ext>
                  </a:extLst>
                </a:gridCol>
                <a:gridCol w="314670">
                  <a:extLst>
                    <a:ext uri="{9D8B030D-6E8A-4147-A177-3AD203B41FA5}">
                      <a16:colId xmlns:a16="http://schemas.microsoft.com/office/drawing/2014/main" val="837765994"/>
                    </a:ext>
                  </a:extLst>
                </a:gridCol>
                <a:gridCol w="314670">
                  <a:extLst>
                    <a:ext uri="{9D8B030D-6E8A-4147-A177-3AD203B41FA5}">
                      <a16:colId xmlns:a16="http://schemas.microsoft.com/office/drawing/2014/main" val="3921030040"/>
                    </a:ext>
                  </a:extLst>
                </a:gridCol>
                <a:gridCol w="314670">
                  <a:extLst>
                    <a:ext uri="{9D8B030D-6E8A-4147-A177-3AD203B41FA5}">
                      <a16:colId xmlns:a16="http://schemas.microsoft.com/office/drawing/2014/main" val="2298235512"/>
                    </a:ext>
                  </a:extLst>
                </a:gridCol>
                <a:gridCol w="314670">
                  <a:extLst>
                    <a:ext uri="{9D8B030D-6E8A-4147-A177-3AD203B41FA5}">
                      <a16:colId xmlns:a16="http://schemas.microsoft.com/office/drawing/2014/main" val="4260125288"/>
                    </a:ext>
                  </a:extLst>
                </a:gridCol>
                <a:gridCol w="314670">
                  <a:extLst>
                    <a:ext uri="{9D8B030D-6E8A-4147-A177-3AD203B41FA5}">
                      <a16:colId xmlns:a16="http://schemas.microsoft.com/office/drawing/2014/main" val="3148678209"/>
                    </a:ext>
                  </a:extLst>
                </a:gridCol>
                <a:gridCol w="314670">
                  <a:extLst>
                    <a:ext uri="{9D8B030D-6E8A-4147-A177-3AD203B41FA5}">
                      <a16:colId xmlns:a16="http://schemas.microsoft.com/office/drawing/2014/main" val="3118999385"/>
                    </a:ext>
                  </a:extLst>
                </a:gridCol>
                <a:gridCol w="314670">
                  <a:extLst>
                    <a:ext uri="{9D8B030D-6E8A-4147-A177-3AD203B41FA5}">
                      <a16:colId xmlns:a16="http://schemas.microsoft.com/office/drawing/2014/main" val="2751927534"/>
                    </a:ext>
                  </a:extLst>
                </a:gridCol>
                <a:gridCol w="314670">
                  <a:extLst>
                    <a:ext uri="{9D8B030D-6E8A-4147-A177-3AD203B41FA5}">
                      <a16:colId xmlns:a16="http://schemas.microsoft.com/office/drawing/2014/main" val="1306591164"/>
                    </a:ext>
                  </a:extLst>
                </a:gridCol>
                <a:gridCol w="314670">
                  <a:extLst>
                    <a:ext uri="{9D8B030D-6E8A-4147-A177-3AD203B41FA5}">
                      <a16:colId xmlns:a16="http://schemas.microsoft.com/office/drawing/2014/main" val="1795857199"/>
                    </a:ext>
                  </a:extLst>
                </a:gridCol>
                <a:gridCol w="314670">
                  <a:extLst>
                    <a:ext uri="{9D8B030D-6E8A-4147-A177-3AD203B41FA5}">
                      <a16:colId xmlns:a16="http://schemas.microsoft.com/office/drawing/2014/main" val="67160168"/>
                    </a:ext>
                  </a:extLst>
                </a:gridCol>
                <a:gridCol w="314670">
                  <a:extLst>
                    <a:ext uri="{9D8B030D-6E8A-4147-A177-3AD203B41FA5}">
                      <a16:colId xmlns:a16="http://schemas.microsoft.com/office/drawing/2014/main" val="328681935"/>
                    </a:ext>
                  </a:extLst>
                </a:gridCol>
                <a:gridCol w="314670">
                  <a:extLst>
                    <a:ext uri="{9D8B030D-6E8A-4147-A177-3AD203B41FA5}">
                      <a16:colId xmlns:a16="http://schemas.microsoft.com/office/drawing/2014/main" val="160922905"/>
                    </a:ext>
                  </a:extLst>
                </a:gridCol>
                <a:gridCol w="314670">
                  <a:extLst>
                    <a:ext uri="{9D8B030D-6E8A-4147-A177-3AD203B41FA5}">
                      <a16:colId xmlns:a16="http://schemas.microsoft.com/office/drawing/2014/main" val="787408389"/>
                    </a:ext>
                  </a:extLst>
                </a:gridCol>
                <a:gridCol w="314670">
                  <a:extLst>
                    <a:ext uri="{9D8B030D-6E8A-4147-A177-3AD203B41FA5}">
                      <a16:colId xmlns:a16="http://schemas.microsoft.com/office/drawing/2014/main" val="2267171765"/>
                    </a:ext>
                  </a:extLst>
                </a:gridCol>
                <a:gridCol w="314670">
                  <a:extLst>
                    <a:ext uri="{9D8B030D-6E8A-4147-A177-3AD203B41FA5}">
                      <a16:colId xmlns:a16="http://schemas.microsoft.com/office/drawing/2014/main" val="981639486"/>
                    </a:ext>
                  </a:extLst>
                </a:gridCol>
                <a:gridCol w="314670">
                  <a:extLst>
                    <a:ext uri="{9D8B030D-6E8A-4147-A177-3AD203B41FA5}">
                      <a16:colId xmlns:a16="http://schemas.microsoft.com/office/drawing/2014/main" val="393463130"/>
                    </a:ext>
                  </a:extLst>
                </a:gridCol>
                <a:gridCol w="314670">
                  <a:extLst>
                    <a:ext uri="{9D8B030D-6E8A-4147-A177-3AD203B41FA5}">
                      <a16:colId xmlns:a16="http://schemas.microsoft.com/office/drawing/2014/main" val="3950071962"/>
                    </a:ext>
                  </a:extLst>
                </a:gridCol>
                <a:gridCol w="314670">
                  <a:extLst>
                    <a:ext uri="{9D8B030D-6E8A-4147-A177-3AD203B41FA5}">
                      <a16:colId xmlns:a16="http://schemas.microsoft.com/office/drawing/2014/main" val="761387315"/>
                    </a:ext>
                  </a:extLst>
                </a:gridCol>
                <a:gridCol w="314670">
                  <a:extLst>
                    <a:ext uri="{9D8B030D-6E8A-4147-A177-3AD203B41FA5}">
                      <a16:colId xmlns:a16="http://schemas.microsoft.com/office/drawing/2014/main" val="2133807553"/>
                    </a:ext>
                  </a:extLst>
                </a:gridCol>
                <a:gridCol w="314670">
                  <a:extLst>
                    <a:ext uri="{9D8B030D-6E8A-4147-A177-3AD203B41FA5}">
                      <a16:colId xmlns:a16="http://schemas.microsoft.com/office/drawing/2014/main" val="1115641184"/>
                    </a:ext>
                  </a:extLst>
                </a:gridCol>
                <a:gridCol w="314670">
                  <a:extLst>
                    <a:ext uri="{9D8B030D-6E8A-4147-A177-3AD203B41FA5}">
                      <a16:colId xmlns:a16="http://schemas.microsoft.com/office/drawing/2014/main" val="3979365142"/>
                    </a:ext>
                  </a:extLst>
                </a:gridCol>
                <a:gridCol w="314670">
                  <a:extLst>
                    <a:ext uri="{9D8B030D-6E8A-4147-A177-3AD203B41FA5}">
                      <a16:colId xmlns:a16="http://schemas.microsoft.com/office/drawing/2014/main" val="3969286345"/>
                    </a:ext>
                  </a:extLst>
                </a:gridCol>
                <a:gridCol w="314670">
                  <a:extLst>
                    <a:ext uri="{9D8B030D-6E8A-4147-A177-3AD203B41FA5}">
                      <a16:colId xmlns:a16="http://schemas.microsoft.com/office/drawing/2014/main" val="1179787509"/>
                    </a:ext>
                  </a:extLst>
                </a:gridCol>
                <a:gridCol w="314670">
                  <a:extLst>
                    <a:ext uri="{9D8B030D-6E8A-4147-A177-3AD203B41FA5}">
                      <a16:colId xmlns:a16="http://schemas.microsoft.com/office/drawing/2014/main" val="959130139"/>
                    </a:ext>
                  </a:extLst>
                </a:gridCol>
                <a:gridCol w="314670">
                  <a:extLst>
                    <a:ext uri="{9D8B030D-6E8A-4147-A177-3AD203B41FA5}">
                      <a16:colId xmlns:a16="http://schemas.microsoft.com/office/drawing/2014/main" val="796480634"/>
                    </a:ext>
                  </a:extLst>
                </a:gridCol>
              </a:tblGrid>
              <a:tr h="616687">
                <a:tc>
                  <a:txBody>
                    <a:bodyPr/>
                    <a:lstStyle/>
                    <a:p>
                      <a:pPr algn="r"/>
                      <a:r>
                        <a:rPr lang="en-US" sz="500">
                          <a:effectLst/>
                        </a:rPr>
                        <a:t>Measure</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r"/>
                      <a:r>
                        <a:rPr lang="en-US" sz="500">
                          <a:effectLst/>
                        </a:rPr>
                        <a:t>X_Minimum</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r"/>
                      <a:r>
                        <a:rPr lang="en-US" sz="500">
                          <a:effectLst/>
                        </a:rPr>
                        <a:t>X_Maximum</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r"/>
                      <a:r>
                        <a:rPr lang="en-US" sz="500">
                          <a:effectLst/>
                        </a:rPr>
                        <a:t>Y_Minimum</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r"/>
                      <a:r>
                        <a:rPr lang="en-US" sz="500">
                          <a:effectLst/>
                        </a:rPr>
                        <a:t>Y_Maximum</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r"/>
                      <a:r>
                        <a:rPr lang="en-US" sz="500" dirty="0" err="1">
                          <a:effectLst/>
                        </a:rPr>
                        <a:t>Pixels_Areas</a:t>
                      </a:r>
                      <a:endParaRPr lang="en-US" sz="500" dirty="0">
                        <a:effectLst/>
                      </a:endParaRP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r"/>
                      <a:r>
                        <a:rPr lang="en-US" sz="500">
                          <a:effectLst/>
                        </a:rPr>
                        <a:t>X_Perimeter</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r"/>
                      <a:r>
                        <a:rPr lang="en-US" sz="500">
                          <a:effectLst/>
                        </a:rPr>
                        <a:t>Y_Perimeter</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r"/>
                      <a:r>
                        <a:rPr lang="en-US" sz="500">
                          <a:effectLst/>
                        </a:rPr>
                        <a:t>Sum_of_Luminosity</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r"/>
                      <a:r>
                        <a:rPr lang="en-US" sz="500">
                          <a:effectLst/>
                        </a:rPr>
                        <a:t>Minimum_of_Luminosity</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r"/>
                      <a:r>
                        <a:rPr lang="en-US" sz="500">
                          <a:effectLst/>
                        </a:rPr>
                        <a:t>Maximum_of_Luminosity</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r"/>
                      <a:r>
                        <a:rPr lang="en-US" sz="500">
                          <a:effectLst/>
                        </a:rPr>
                        <a:t>Length_of_Conveyer</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r"/>
                      <a:r>
                        <a:rPr lang="en-US" sz="500">
                          <a:effectLst/>
                        </a:rPr>
                        <a:t>TypeOfSteel_A300</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r"/>
                      <a:r>
                        <a:rPr lang="en-US" sz="500">
                          <a:effectLst/>
                        </a:rPr>
                        <a:t>TypeOfSteel_A400</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r"/>
                      <a:r>
                        <a:rPr lang="en-US" sz="500">
                          <a:effectLst/>
                        </a:rPr>
                        <a:t>Steel_Plate_Thickness</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r"/>
                      <a:r>
                        <a:rPr lang="en-US" sz="500">
                          <a:effectLst/>
                        </a:rPr>
                        <a:t>Edges_Index</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r"/>
                      <a:r>
                        <a:rPr lang="en-US" sz="500" dirty="0" err="1">
                          <a:effectLst/>
                        </a:rPr>
                        <a:t>Empty_Index</a:t>
                      </a:r>
                      <a:endParaRPr lang="en-US" sz="500" dirty="0">
                        <a:effectLst/>
                      </a:endParaRP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r"/>
                      <a:r>
                        <a:rPr lang="en-US" sz="500">
                          <a:effectLst/>
                        </a:rPr>
                        <a:t>Square_Index</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r"/>
                      <a:r>
                        <a:rPr lang="en-US" sz="500">
                          <a:effectLst/>
                        </a:rPr>
                        <a:t>Outside_X_Index</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r"/>
                      <a:r>
                        <a:rPr lang="en-US" sz="500">
                          <a:effectLst/>
                        </a:rPr>
                        <a:t>Edges_X_Index</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r"/>
                      <a:r>
                        <a:rPr lang="en-US" sz="500">
                          <a:effectLst/>
                        </a:rPr>
                        <a:t>Edges_Y_Index</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r"/>
                      <a:r>
                        <a:rPr lang="en-US" sz="500" dirty="0" err="1">
                          <a:effectLst/>
                        </a:rPr>
                        <a:t>Outside_Global_Index</a:t>
                      </a:r>
                      <a:endParaRPr lang="en-US" sz="500" dirty="0">
                        <a:effectLst/>
                      </a:endParaRP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r"/>
                      <a:r>
                        <a:rPr lang="en-US" sz="500">
                          <a:effectLst/>
                        </a:rPr>
                        <a:t>LogOfAreas</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r"/>
                      <a:r>
                        <a:rPr lang="en-US" sz="500">
                          <a:effectLst/>
                        </a:rPr>
                        <a:t>Log_X_Index</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r"/>
                      <a:r>
                        <a:rPr lang="en-US" sz="500">
                          <a:effectLst/>
                        </a:rPr>
                        <a:t>Log_Y_Index</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r"/>
                      <a:r>
                        <a:rPr lang="en-US" sz="500">
                          <a:effectLst/>
                        </a:rPr>
                        <a:t>Orientation_Index</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r"/>
                      <a:r>
                        <a:rPr lang="en-US" sz="500">
                          <a:effectLst/>
                        </a:rPr>
                        <a:t>Luminosity_Index</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r"/>
                      <a:r>
                        <a:rPr lang="en-US" sz="500">
                          <a:effectLst/>
                        </a:rPr>
                        <a:t>SigmoidOfAreas</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r"/>
                      <a:r>
                        <a:rPr lang="en-US" sz="500" dirty="0">
                          <a:effectLst/>
                        </a:rPr>
                        <a:t>Pastry</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r"/>
                      <a:r>
                        <a:rPr lang="en-US" sz="500">
                          <a:effectLst/>
                        </a:rPr>
                        <a:t>Z_Scratch</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r"/>
                      <a:r>
                        <a:rPr lang="en-US" sz="500">
                          <a:effectLst/>
                        </a:rPr>
                        <a:t>K_Scatch</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r"/>
                      <a:r>
                        <a:rPr lang="en-US" sz="500">
                          <a:effectLst/>
                        </a:rPr>
                        <a:t>Stains</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r"/>
                      <a:r>
                        <a:rPr lang="en-US" sz="500">
                          <a:effectLst/>
                        </a:rPr>
                        <a:t>Dirtiness</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r"/>
                      <a:r>
                        <a:rPr lang="en-US" sz="500">
                          <a:effectLst/>
                        </a:rPr>
                        <a:t>Bumps</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r"/>
                      <a:r>
                        <a:rPr lang="en-US" sz="500">
                          <a:effectLst/>
                        </a:rPr>
                        <a:t>Other_Faults</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994108953"/>
                  </a:ext>
                </a:extLst>
              </a:tr>
              <a:tr h="267021">
                <a:tc>
                  <a:txBody>
                    <a:bodyPr/>
                    <a:lstStyle/>
                    <a:p>
                      <a:pPr algn="r"/>
                      <a:r>
                        <a:rPr lang="en-US" sz="500">
                          <a:effectLst/>
                        </a:rPr>
                        <a:t>Count</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r"/>
                      <a:r>
                        <a:rPr lang="en-001" sz="500">
                          <a:effectLst/>
                        </a:rPr>
                        <a:t>21160</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r"/>
                      <a:r>
                        <a:rPr lang="en-001" sz="500">
                          <a:effectLst/>
                        </a:rPr>
                        <a:t>21160</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r"/>
                      <a:r>
                        <a:rPr lang="en-001" sz="500">
                          <a:effectLst/>
                        </a:rPr>
                        <a:t>21160</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r"/>
                      <a:r>
                        <a:rPr lang="en-001" sz="500" dirty="0">
                          <a:effectLst/>
                        </a:rPr>
                        <a:t>21160</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r"/>
                      <a:r>
                        <a:rPr lang="en-001" sz="500">
                          <a:effectLst/>
                        </a:rPr>
                        <a:t>21160</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r"/>
                      <a:r>
                        <a:rPr lang="en-001" sz="500">
                          <a:effectLst/>
                        </a:rPr>
                        <a:t>21160</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r"/>
                      <a:r>
                        <a:rPr lang="en-001" sz="500">
                          <a:effectLst/>
                        </a:rPr>
                        <a:t>21160</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r"/>
                      <a:r>
                        <a:rPr lang="en-001" sz="500">
                          <a:effectLst/>
                        </a:rPr>
                        <a:t>21160</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r"/>
                      <a:r>
                        <a:rPr lang="en-001" sz="500">
                          <a:effectLst/>
                        </a:rPr>
                        <a:t>21160</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r"/>
                      <a:r>
                        <a:rPr lang="en-001" sz="500">
                          <a:effectLst/>
                        </a:rPr>
                        <a:t>21160</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r"/>
                      <a:r>
                        <a:rPr lang="en-001" sz="500">
                          <a:effectLst/>
                        </a:rPr>
                        <a:t>21160</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r"/>
                      <a:r>
                        <a:rPr lang="en-001" sz="500">
                          <a:effectLst/>
                        </a:rPr>
                        <a:t>21160</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r"/>
                      <a:r>
                        <a:rPr lang="en-001" sz="500">
                          <a:effectLst/>
                        </a:rPr>
                        <a:t>21160</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r"/>
                      <a:r>
                        <a:rPr lang="en-001" sz="500">
                          <a:effectLst/>
                        </a:rPr>
                        <a:t>21160</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r"/>
                      <a:r>
                        <a:rPr lang="en-001" sz="500">
                          <a:effectLst/>
                        </a:rPr>
                        <a:t>21160</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r"/>
                      <a:r>
                        <a:rPr lang="en-001" sz="500">
                          <a:effectLst/>
                        </a:rPr>
                        <a:t>21160</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r"/>
                      <a:r>
                        <a:rPr lang="en-001" sz="500">
                          <a:effectLst/>
                        </a:rPr>
                        <a:t>21160</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r"/>
                      <a:r>
                        <a:rPr lang="en-001" sz="500">
                          <a:effectLst/>
                        </a:rPr>
                        <a:t>21160</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r"/>
                      <a:r>
                        <a:rPr lang="en-001" sz="500">
                          <a:effectLst/>
                        </a:rPr>
                        <a:t>21160</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r"/>
                      <a:r>
                        <a:rPr lang="en-001" sz="500">
                          <a:effectLst/>
                        </a:rPr>
                        <a:t>21160</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r"/>
                      <a:r>
                        <a:rPr lang="en-001" sz="500">
                          <a:effectLst/>
                        </a:rPr>
                        <a:t>21160</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r"/>
                      <a:r>
                        <a:rPr lang="en-001" sz="500">
                          <a:effectLst/>
                        </a:rPr>
                        <a:t>21160</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r"/>
                      <a:r>
                        <a:rPr lang="en-001" sz="500">
                          <a:effectLst/>
                        </a:rPr>
                        <a:t>21160</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r"/>
                      <a:r>
                        <a:rPr lang="en-001" sz="500">
                          <a:effectLst/>
                        </a:rPr>
                        <a:t>21160</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r"/>
                      <a:r>
                        <a:rPr lang="en-001" sz="500">
                          <a:effectLst/>
                        </a:rPr>
                        <a:t>21160</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r"/>
                      <a:r>
                        <a:rPr lang="en-001" sz="500">
                          <a:effectLst/>
                        </a:rPr>
                        <a:t>21160</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r"/>
                      <a:r>
                        <a:rPr lang="en-001" sz="500">
                          <a:effectLst/>
                        </a:rPr>
                        <a:t>21160</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r"/>
                      <a:r>
                        <a:rPr lang="en-001" sz="500" dirty="0">
                          <a:effectLst/>
                        </a:rPr>
                        <a:t>21160</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r"/>
                      <a:r>
                        <a:rPr lang="en-001" sz="500">
                          <a:effectLst/>
                        </a:rPr>
                        <a:t>21160</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r"/>
                      <a:r>
                        <a:rPr lang="en-001" sz="500">
                          <a:effectLst/>
                        </a:rPr>
                        <a:t>21160</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r"/>
                      <a:r>
                        <a:rPr lang="en-001" sz="500">
                          <a:effectLst/>
                        </a:rPr>
                        <a:t>21160</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r"/>
                      <a:r>
                        <a:rPr lang="en-001" sz="500">
                          <a:effectLst/>
                        </a:rPr>
                        <a:t>21160</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r"/>
                      <a:r>
                        <a:rPr lang="en-001" sz="500">
                          <a:effectLst/>
                        </a:rPr>
                        <a:t>21160</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r"/>
                      <a:r>
                        <a:rPr lang="en-001" sz="500">
                          <a:effectLst/>
                        </a:rPr>
                        <a:t>21160</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3335069096"/>
                  </a:ext>
                </a:extLst>
              </a:tr>
              <a:tr h="441854">
                <a:tc>
                  <a:txBody>
                    <a:bodyPr/>
                    <a:lstStyle/>
                    <a:p>
                      <a:pPr algn="r"/>
                      <a:r>
                        <a:rPr lang="en-US" sz="500">
                          <a:effectLst/>
                        </a:rPr>
                        <a:t>Mean</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r"/>
                      <a:r>
                        <a:rPr lang="en-001" sz="500">
                          <a:effectLst/>
                        </a:rPr>
                        <a:t>697.130057</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r"/>
                      <a:r>
                        <a:rPr lang="en-001" sz="500" dirty="0">
                          <a:effectLst/>
                        </a:rPr>
                        <a:t>741.392202</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r"/>
                      <a:r>
                        <a:rPr lang="en-001" sz="500">
                          <a:effectLst/>
                        </a:rPr>
                        <a:t>1831495</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r"/>
                      <a:r>
                        <a:rPr lang="en-001" sz="500">
                          <a:effectLst/>
                        </a:rPr>
                        <a:t>1828639</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r"/>
                      <a:r>
                        <a:rPr lang="en-001" sz="500">
                          <a:effectLst/>
                        </a:rPr>
                        <a:t>1703.24</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r"/>
                      <a:r>
                        <a:rPr lang="en-001" sz="500">
                          <a:effectLst/>
                        </a:rPr>
                        <a:t>97.14</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r"/>
                      <a:r>
                        <a:rPr lang="en-001" sz="500" dirty="0">
                          <a:effectLst/>
                        </a:rPr>
                        <a:t>65.85</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r"/>
                      <a:r>
                        <a:rPr lang="en-001" sz="500">
                          <a:effectLst/>
                        </a:rPr>
                        <a:t>193173.6</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r"/>
                      <a:r>
                        <a:rPr lang="en-001" sz="500">
                          <a:effectLst/>
                        </a:rPr>
                        <a:t>84.78</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r"/>
                      <a:r>
                        <a:rPr lang="en-001" sz="500">
                          <a:effectLst/>
                        </a:rPr>
                        <a:t>128.79</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r"/>
                      <a:r>
                        <a:rPr lang="en-001" sz="500">
                          <a:effectLst/>
                        </a:rPr>
                        <a:t>1459.33</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r"/>
                      <a:r>
                        <a:rPr lang="en-001" sz="500">
                          <a:effectLst/>
                        </a:rPr>
                        <a:t>0.402457</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r"/>
                      <a:r>
                        <a:rPr lang="en-001" sz="500">
                          <a:effectLst/>
                        </a:rPr>
                        <a:t>0.596645</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r"/>
                      <a:r>
                        <a:rPr lang="en-001" sz="500">
                          <a:effectLst/>
                        </a:rPr>
                        <a:t>76.44</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r"/>
                      <a:r>
                        <a:rPr lang="en-001" sz="500">
                          <a:effectLst/>
                        </a:rPr>
                        <a:t>0.350992</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r"/>
                      <a:r>
                        <a:rPr lang="en-001" sz="500">
                          <a:effectLst/>
                        </a:rPr>
                        <a:t>0.409758</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r"/>
                      <a:r>
                        <a:rPr lang="en-001" sz="500">
                          <a:effectLst/>
                        </a:rPr>
                        <a:t>0.574176</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r"/>
                      <a:r>
                        <a:rPr lang="en-001" sz="500">
                          <a:effectLst/>
                        </a:rPr>
                        <a:t>0.030862</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r"/>
                      <a:r>
                        <a:rPr lang="en-001" sz="500" dirty="0">
                          <a:effectLst/>
                        </a:rPr>
                        <a:t>0.614362</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r"/>
                      <a:r>
                        <a:rPr lang="en-001" sz="500">
                          <a:effectLst/>
                        </a:rPr>
                        <a:t>0.829984</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r"/>
                      <a:r>
                        <a:rPr lang="en-001" sz="500">
                          <a:effectLst/>
                        </a:rPr>
                        <a:t>0.590416</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r"/>
                      <a:r>
                        <a:rPr lang="en-001" sz="500">
                          <a:effectLst/>
                        </a:rPr>
                        <a:t>2.47521</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r"/>
                      <a:r>
                        <a:rPr lang="en-001" sz="500">
                          <a:effectLst/>
                        </a:rPr>
                        <a:t>1.314778</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r"/>
                      <a:r>
                        <a:rPr lang="en-001" sz="500">
                          <a:effectLst/>
                        </a:rPr>
                        <a:t>1.390978</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r"/>
                      <a:r>
                        <a:rPr lang="en-001" sz="500">
                          <a:effectLst/>
                        </a:rPr>
                        <a:t>0.100958</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r"/>
                      <a:r>
                        <a:rPr lang="en-001" sz="500">
                          <a:effectLst/>
                        </a:rPr>
                        <a:t>-0.137733</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r"/>
                      <a:r>
                        <a:rPr lang="en-001" sz="500">
                          <a:effectLst/>
                        </a:rPr>
                        <a:t>0.573142</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r"/>
                      <a:r>
                        <a:rPr lang="en-001" sz="500">
                          <a:effectLst/>
                        </a:rPr>
                        <a:t>0.076749</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r"/>
                      <a:r>
                        <a:rPr lang="en-001" sz="500">
                          <a:effectLst/>
                        </a:rPr>
                        <a:t>0.063327</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r"/>
                      <a:r>
                        <a:rPr lang="en-001" sz="500">
                          <a:effectLst/>
                        </a:rPr>
                        <a:t>0.180671</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r"/>
                      <a:r>
                        <a:rPr lang="en-001" sz="500">
                          <a:effectLst/>
                        </a:rPr>
                        <a:t>0.030246</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r"/>
                      <a:r>
                        <a:rPr lang="en-001" sz="500">
                          <a:effectLst/>
                        </a:rPr>
                        <a:t>0.025520</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r"/>
                      <a:r>
                        <a:rPr lang="en-001" sz="500">
                          <a:effectLst/>
                        </a:rPr>
                        <a:t>0.244093</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r"/>
                      <a:r>
                        <a:rPr lang="en-001" sz="500" dirty="0">
                          <a:effectLst/>
                        </a:rPr>
                        <a:t>0.341730</a:t>
                      </a:r>
                    </a:p>
                  </a:txBody>
                  <a:tcPr marL="20090" marR="20090" marT="20090" marB="2009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096069251"/>
                  </a:ext>
                </a:extLst>
              </a:tr>
            </a:tbl>
          </a:graphicData>
        </a:graphic>
      </p:graphicFrame>
      <p:sp>
        <p:nvSpPr>
          <p:cNvPr id="14" name="TextBox 13">
            <a:extLst>
              <a:ext uri="{FF2B5EF4-FFF2-40B4-BE49-F238E27FC236}">
                <a16:creationId xmlns:a16="http://schemas.microsoft.com/office/drawing/2014/main" id="{D46F2396-D6B6-E507-45D2-7AC5EE298DC3}"/>
              </a:ext>
            </a:extLst>
          </p:cNvPr>
          <p:cNvSpPr txBox="1"/>
          <p:nvPr/>
        </p:nvSpPr>
        <p:spPr>
          <a:xfrm>
            <a:off x="431800" y="3780731"/>
            <a:ext cx="6096000" cy="523220"/>
          </a:xfrm>
          <a:prstGeom prst="rect">
            <a:avLst/>
          </a:prstGeom>
          <a:noFill/>
        </p:spPr>
        <p:txBody>
          <a:bodyPr wrap="square">
            <a:spAutoFit/>
          </a:bodyPr>
          <a:lstStyle/>
          <a:p>
            <a:r>
              <a:rPr lang="en-US" sz="2800" b="1" dirty="0"/>
              <a:t>Data statistics :</a:t>
            </a:r>
            <a:endParaRPr lang="en-001" sz="2800" dirty="0"/>
          </a:p>
        </p:txBody>
      </p:sp>
    </p:spTree>
    <p:extLst>
      <p:ext uri="{BB962C8B-B14F-4D97-AF65-F5344CB8AC3E}">
        <p14:creationId xmlns:p14="http://schemas.microsoft.com/office/powerpoint/2010/main" val="33549828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279B3-25EC-AE97-9F85-942D0DE80588}"/>
              </a:ext>
            </a:extLst>
          </p:cNvPr>
          <p:cNvSpPr>
            <a:spLocks noGrp="1"/>
          </p:cNvSpPr>
          <p:nvPr>
            <p:ph type="title"/>
          </p:nvPr>
        </p:nvSpPr>
        <p:spPr>
          <a:xfrm>
            <a:off x="710938" y="228600"/>
            <a:ext cx="10515600" cy="1325563"/>
          </a:xfrm>
        </p:spPr>
        <p:txBody>
          <a:bodyPr/>
          <a:lstStyle/>
          <a:p>
            <a:r>
              <a:rPr lang="en-US" b="0" i="0" u="sng" dirty="0">
                <a:solidFill>
                  <a:srgbClr val="3B3A39"/>
                </a:solidFill>
                <a:effectLst/>
                <a:latin typeface="-apple-system"/>
              </a:rPr>
              <a:t>EDA (</a:t>
            </a:r>
            <a:r>
              <a:rPr lang="en-US" b="0" i="0" u="sng" dirty="0" err="1">
                <a:solidFill>
                  <a:srgbClr val="3B3A39"/>
                </a:solidFill>
                <a:effectLst/>
                <a:latin typeface="-apple-system"/>
              </a:rPr>
              <a:t>Explorartary</a:t>
            </a:r>
            <a:r>
              <a:rPr lang="en-US" b="0" i="0" u="sng" dirty="0">
                <a:solidFill>
                  <a:srgbClr val="3B3A39"/>
                </a:solidFill>
                <a:effectLst/>
                <a:latin typeface="-apple-system"/>
              </a:rPr>
              <a:t> Data Analysis)</a:t>
            </a:r>
            <a:br>
              <a:rPr lang="en-US" b="0" i="0" u="sng" dirty="0">
                <a:solidFill>
                  <a:srgbClr val="3B3A39"/>
                </a:solidFill>
                <a:effectLst/>
                <a:latin typeface="-apple-system"/>
              </a:rPr>
            </a:br>
            <a:endParaRPr lang="en-001" b="1" u="sng" dirty="0"/>
          </a:p>
        </p:txBody>
      </p:sp>
      <p:sp>
        <p:nvSpPr>
          <p:cNvPr id="11" name="Rectangle 2">
            <a:extLst>
              <a:ext uri="{FF2B5EF4-FFF2-40B4-BE49-F238E27FC236}">
                <a16:creationId xmlns:a16="http://schemas.microsoft.com/office/drawing/2014/main" id="{C617C95E-8651-0A25-1681-B639D99C0CBC}"/>
              </a:ext>
            </a:extLst>
          </p:cNvPr>
          <p:cNvSpPr>
            <a:spLocks noChangeArrowheads="1"/>
          </p:cNvSpPr>
          <p:nvPr/>
        </p:nvSpPr>
        <p:spPr bwMode="auto">
          <a:xfrm>
            <a:off x="0" y="-48399"/>
            <a:ext cx="18473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001" altLang="en-001" sz="12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001" altLang="en-001" sz="1800" b="0" i="0" u="none" strike="noStrike" cap="none" normalizeH="0" baseline="0" dirty="0">
              <a:ln>
                <a:noFill/>
              </a:ln>
              <a:solidFill>
                <a:schemeClr val="tx1"/>
              </a:solidFill>
              <a:effectLst/>
              <a:latin typeface="Arial" panose="020B0604020202020204" pitchFamily="34" charset="0"/>
            </a:endParaRPr>
          </a:p>
        </p:txBody>
      </p:sp>
      <p:pic>
        <p:nvPicPr>
          <p:cNvPr id="5124" name="Picture 4">
            <a:extLst>
              <a:ext uri="{FF2B5EF4-FFF2-40B4-BE49-F238E27FC236}">
                <a16:creationId xmlns:a16="http://schemas.microsoft.com/office/drawing/2014/main" id="{F505BF0C-5F1F-AE63-3D05-3B7AFE6F441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14960" y="1234528"/>
            <a:ext cx="11744960" cy="47801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34682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DF17A1-0666-2DA0-D74B-4E6244C5AF4D}"/>
              </a:ext>
            </a:extLst>
          </p:cNvPr>
          <p:cNvSpPr>
            <a:spLocks noGrp="1"/>
          </p:cNvSpPr>
          <p:nvPr>
            <p:ph idx="1"/>
          </p:nvPr>
        </p:nvSpPr>
        <p:spPr>
          <a:xfrm>
            <a:off x="838200" y="355600"/>
            <a:ext cx="10927080" cy="5984239"/>
          </a:xfrm>
        </p:spPr>
        <p:txBody>
          <a:bodyPr>
            <a:normAutofit lnSpcReduction="10000"/>
          </a:bodyPr>
          <a:lstStyle/>
          <a:p>
            <a:r>
              <a:rPr lang="en-US" dirty="0"/>
              <a:t>The dataset includes several fault categories, each representing different challenges and frequencies. </a:t>
            </a:r>
          </a:p>
          <a:p>
            <a:r>
              <a:rPr lang="en-US" b="1" u="sng" dirty="0"/>
              <a:t>Other Faults</a:t>
            </a:r>
            <a:r>
              <a:rPr lang="en-US" dirty="0"/>
              <a:t>, with 7,213 instances, constitutes a sig-</a:t>
            </a:r>
            <a:r>
              <a:rPr lang="en-US" dirty="0" err="1"/>
              <a:t>nificant</a:t>
            </a:r>
            <a:r>
              <a:rPr lang="en-US" dirty="0"/>
              <a:t> portion of the dataset, highlighting its prominence and suggesting a di-verse range of faults that are not classified under more specific categories. </a:t>
            </a:r>
            <a:r>
              <a:rPr lang="en-US" dirty="0" err="1"/>
              <a:t>Thisdiversity</a:t>
            </a:r>
            <a:r>
              <a:rPr lang="en-US" dirty="0"/>
              <a:t> may present challenges in model training due to the heterogeneity </a:t>
            </a:r>
            <a:r>
              <a:rPr lang="en-US" dirty="0" err="1"/>
              <a:t>ofthe</a:t>
            </a:r>
            <a:r>
              <a:rPr lang="en-US" dirty="0"/>
              <a:t> faults.</a:t>
            </a:r>
          </a:p>
          <a:p>
            <a:r>
              <a:rPr lang="en-US" dirty="0"/>
              <a:t> </a:t>
            </a:r>
            <a:r>
              <a:rPr lang="en-US" b="1" u="sng" dirty="0"/>
              <a:t>Bumps</a:t>
            </a:r>
            <a:r>
              <a:rPr lang="en-US" dirty="0"/>
              <a:t> are noted in 5,163 instances and represent another </a:t>
            </a:r>
            <a:r>
              <a:rPr lang="en-US" dirty="0" err="1"/>
              <a:t>majorfault</a:t>
            </a:r>
            <a:r>
              <a:rPr lang="en-US" dirty="0"/>
              <a:t> category, albeit slightly less frequent than Other Faults. The </a:t>
            </a:r>
            <a:r>
              <a:rPr lang="en-US" dirty="0" err="1"/>
              <a:t>considerablepresence</a:t>
            </a:r>
            <a:r>
              <a:rPr lang="en-US" dirty="0"/>
              <a:t> of bumps underscores the importance of robust feature recognition </a:t>
            </a:r>
            <a:r>
              <a:rPr lang="en-US" dirty="0" err="1"/>
              <a:t>bypredictive</a:t>
            </a:r>
            <a:r>
              <a:rPr lang="en-US" dirty="0"/>
              <a:t> models to differentiate these faults effectively.</a:t>
            </a:r>
          </a:p>
          <a:p>
            <a:r>
              <a:rPr lang="en-US" b="1" dirty="0"/>
              <a:t>K </a:t>
            </a:r>
            <a:r>
              <a:rPr lang="en-US" b="1" dirty="0" err="1"/>
              <a:t>Scatch</a:t>
            </a:r>
            <a:r>
              <a:rPr lang="en-US" dirty="0"/>
              <a:t>, with 3,822 instances, forms a substantial part of the </a:t>
            </a:r>
            <a:r>
              <a:rPr lang="en-US" dirty="0" err="1"/>
              <a:t>datasetand</a:t>
            </a:r>
            <a:r>
              <a:rPr lang="en-US" dirty="0"/>
              <a:t> is critical in classification tasks, indicating that distinguishing this </a:t>
            </a:r>
            <a:r>
              <a:rPr lang="en-US" dirty="0" err="1"/>
              <a:t>faulttype</a:t>
            </a:r>
            <a:r>
              <a:rPr lang="en-US" dirty="0"/>
              <a:t> effectively is crucial for achieving high accuracy</a:t>
            </a:r>
            <a:endParaRPr lang="en-001" dirty="0"/>
          </a:p>
        </p:txBody>
      </p:sp>
    </p:spTree>
    <p:extLst>
      <p:ext uri="{BB962C8B-B14F-4D97-AF65-F5344CB8AC3E}">
        <p14:creationId xmlns:p14="http://schemas.microsoft.com/office/powerpoint/2010/main" val="34616113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189468-B256-B793-E63C-410216ECE43B}"/>
              </a:ext>
            </a:extLst>
          </p:cNvPr>
          <p:cNvSpPr>
            <a:spLocks noGrp="1"/>
          </p:cNvSpPr>
          <p:nvPr>
            <p:ph idx="1"/>
          </p:nvPr>
        </p:nvSpPr>
        <p:spPr>
          <a:xfrm>
            <a:off x="838200" y="687704"/>
            <a:ext cx="10515600" cy="5560695"/>
          </a:xfrm>
        </p:spPr>
        <p:txBody>
          <a:bodyPr/>
          <a:lstStyle/>
          <a:p>
            <a:r>
              <a:rPr lang="en-US" b="1" dirty="0"/>
              <a:t>Z Scratch </a:t>
            </a:r>
            <a:r>
              <a:rPr lang="en-US" dirty="0" err="1"/>
              <a:t>andStains</a:t>
            </a:r>
            <a:r>
              <a:rPr lang="en-US" dirty="0"/>
              <a:t>, with 1,340 and 640 instances respectively, represent smaller </a:t>
            </a:r>
            <a:r>
              <a:rPr lang="en-US" dirty="0" err="1"/>
              <a:t>segmentsof</a:t>
            </a:r>
            <a:r>
              <a:rPr lang="en-US" dirty="0"/>
              <a:t> the dataset, emphasizing the need for models to also focus on less </a:t>
            </a:r>
            <a:r>
              <a:rPr lang="en-US" dirty="0" err="1"/>
              <a:t>frequentfault</a:t>
            </a:r>
            <a:r>
              <a:rPr lang="en-US" dirty="0"/>
              <a:t> types to ensure comprehensive classification </a:t>
            </a:r>
            <a:r>
              <a:rPr lang="en-US" dirty="0" err="1"/>
              <a:t>coverage.The</a:t>
            </a:r>
            <a:r>
              <a:rPr lang="en-US" dirty="0"/>
              <a:t> dataset also includes 818 instances labeled as </a:t>
            </a:r>
            <a:r>
              <a:rPr lang="en-US" b="1" dirty="0"/>
              <a:t>No Defect</a:t>
            </a:r>
            <a:r>
              <a:rPr lang="en-US" dirty="0"/>
              <a:t>, which </a:t>
            </a:r>
            <a:r>
              <a:rPr lang="en-US" dirty="0" err="1"/>
              <a:t>isrelatively</a:t>
            </a:r>
            <a:r>
              <a:rPr lang="en-US" dirty="0"/>
              <a:t> minor compared to other categories but crucial for understanding </a:t>
            </a:r>
            <a:r>
              <a:rPr lang="en-US" dirty="0" err="1"/>
              <a:t>thedataset’s</a:t>
            </a:r>
            <a:r>
              <a:rPr lang="en-US" dirty="0"/>
              <a:t> overall quality.</a:t>
            </a:r>
          </a:p>
          <a:p>
            <a:r>
              <a:rPr lang="en-US" dirty="0"/>
              <a:t> Similarly, </a:t>
            </a:r>
            <a:r>
              <a:rPr lang="en-US" b="1" dirty="0"/>
              <a:t>Dirtiness</a:t>
            </a:r>
            <a:r>
              <a:rPr lang="en-US" dirty="0"/>
              <a:t>, found in 540 instances, </a:t>
            </a:r>
            <a:r>
              <a:rPr lang="en-US" dirty="0" err="1"/>
              <a:t>thoughinfrequent</a:t>
            </a:r>
            <a:r>
              <a:rPr lang="en-US" dirty="0"/>
              <a:t>, points to specific contamination faults that are essential to </a:t>
            </a:r>
            <a:r>
              <a:rPr lang="en-US" dirty="0" err="1"/>
              <a:t>recognizefor</a:t>
            </a:r>
            <a:r>
              <a:rPr lang="en-US" dirty="0"/>
              <a:t> maintaining high-quality standards in steel plate production.</a:t>
            </a:r>
          </a:p>
          <a:p>
            <a:r>
              <a:rPr lang="en-US" b="1" dirty="0"/>
              <a:t>Pastry</a:t>
            </a:r>
            <a:r>
              <a:rPr lang="en-US" dirty="0"/>
              <a:t> faults are </a:t>
            </a:r>
            <a:r>
              <a:rPr lang="en-US" dirty="0" err="1"/>
              <a:t>lesscommon</a:t>
            </a:r>
            <a:r>
              <a:rPr lang="en-US" dirty="0"/>
              <a:t>, with 1,624 instances, suggesting that while they are less </a:t>
            </a:r>
            <a:r>
              <a:rPr lang="en-US" dirty="0" err="1"/>
              <a:t>prevalent,their</a:t>
            </a:r>
            <a:r>
              <a:rPr lang="en-US" dirty="0"/>
              <a:t> recognition is still important for detailed fault analysis.</a:t>
            </a:r>
            <a:endParaRPr lang="en-001" dirty="0"/>
          </a:p>
        </p:txBody>
      </p:sp>
    </p:spTree>
    <p:extLst>
      <p:ext uri="{BB962C8B-B14F-4D97-AF65-F5344CB8AC3E}">
        <p14:creationId xmlns:p14="http://schemas.microsoft.com/office/powerpoint/2010/main" val="41979667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a:extLst>
              <a:ext uri="{FF2B5EF4-FFF2-40B4-BE49-F238E27FC236}">
                <a16:creationId xmlns:a16="http://schemas.microsoft.com/office/drawing/2014/main" id="{90CCA577-8DF7-795E-F4EE-E1C53D0E834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44041" y="355600"/>
            <a:ext cx="11503918" cy="2956560"/>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a:extLst>
              <a:ext uri="{FF2B5EF4-FFF2-40B4-BE49-F238E27FC236}">
                <a16:creationId xmlns:a16="http://schemas.microsoft.com/office/drawing/2014/main" id="{2944A148-136F-560B-E6F6-2A87CA9C4E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1039" y="3528833"/>
            <a:ext cx="9876919" cy="32575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91512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a:extLst>
              <a:ext uri="{FF2B5EF4-FFF2-40B4-BE49-F238E27FC236}">
                <a16:creationId xmlns:a16="http://schemas.microsoft.com/office/drawing/2014/main" id="{97B7B0A3-DD20-7C4B-22CC-97A99F37D9E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94280" y="3327558"/>
            <a:ext cx="7609840" cy="3450749"/>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a:extLst>
              <a:ext uri="{FF2B5EF4-FFF2-40B4-BE49-F238E27FC236}">
                <a16:creationId xmlns:a16="http://schemas.microsoft.com/office/drawing/2014/main" id="{E390CD56-3D4F-5AA7-22EE-A55F75282E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45360" y="79693"/>
            <a:ext cx="8107680" cy="32103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64810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B3FF8A-896F-C7B3-508F-DC0005E9CD81}"/>
              </a:ext>
            </a:extLst>
          </p:cNvPr>
          <p:cNvSpPr>
            <a:spLocks noGrp="1"/>
          </p:cNvSpPr>
          <p:nvPr>
            <p:ph idx="1"/>
          </p:nvPr>
        </p:nvSpPr>
        <p:spPr>
          <a:xfrm>
            <a:off x="838200" y="413384"/>
            <a:ext cx="10515600" cy="5550535"/>
          </a:xfrm>
        </p:spPr>
        <p:txBody>
          <a:bodyPr/>
          <a:lstStyle/>
          <a:p>
            <a:r>
              <a:rPr lang="en-US" b="1" u="sng" dirty="0"/>
              <a:t>Fault Analysis </a:t>
            </a:r>
            <a:r>
              <a:rPr lang="en-US" dirty="0"/>
              <a:t>Common </a:t>
            </a:r>
            <a:r>
              <a:rPr lang="en-US" dirty="0" err="1"/>
              <a:t>FaultsWe</a:t>
            </a:r>
            <a:r>
              <a:rPr lang="en-US" dirty="0"/>
              <a:t> categorize the faults into several types, each representing a specific </a:t>
            </a:r>
            <a:r>
              <a:rPr lang="en-US" dirty="0" err="1"/>
              <a:t>defectin</a:t>
            </a:r>
            <a:r>
              <a:rPr lang="en-US" dirty="0"/>
              <a:t> the production line.</a:t>
            </a:r>
          </a:p>
          <a:p>
            <a:r>
              <a:rPr lang="en-US" dirty="0"/>
              <a:t> </a:t>
            </a:r>
            <a:r>
              <a:rPr lang="en-US" b="1" u="sng" dirty="0" err="1"/>
              <a:t>Pastry</a:t>
            </a:r>
            <a:r>
              <a:rPr lang="en-US" dirty="0" err="1"/>
              <a:t>As</a:t>
            </a:r>
            <a:r>
              <a:rPr lang="en-US" dirty="0"/>
              <a:t> shown in the chart, 92.3% of instances do not have the Pastry fault, </a:t>
            </a:r>
            <a:r>
              <a:rPr lang="en-US" dirty="0" err="1"/>
              <a:t>indicatingeffective</a:t>
            </a:r>
            <a:r>
              <a:rPr lang="en-US" dirty="0"/>
              <a:t> control measures against this type of defect</a:t>
            </a:r>
            <a:r>
              <a:rPr lang="en-US" b="1" u="sng" dirty="0"/>
              <a:t>.</a:t>
            </a:r>
          </a:p>
          <a:p>
            <a:r>
              <a:rPr lang="en-US" b="1" u="sng" dirty="0"/>
              <a:t> Z </a:t>
            </a:r>
            <a:r>
              <a:rPr lang="en-US" b="1" u="sng" dirty="0" err="1"/>
              <a:t>Scratch</a:t>
            </a:r>
            <a:r>
              <a:rPr lang="en-US" dirty="0" err="1"/>
              <a:t>The</a:t>
            </a:r>
            <a:r>
              <a:rPr lang="en-US" dirty="0"/>
              <a:t> data reveals that 93.7% of samples are free from Z Scratch faults, highlight-</a:t>
            </a:r>
            <a:r>
              <a:rPr lang="en-US" dirty="0" err="1"/>
              <a:t>ing</a:t>
            </a:r>
            <a:r>
              <a:rPr lang="en-US" dirty="0"/>
              <a:t> successful prevention strategies in current quality management practices.</a:t>
            </a:r>
          </a:p>
          <a:p>
            <a:r>
              <a:rPr lang="en-US" dirty="0"/>
              <a:t> </a:t>
            </a:r>
            <a:r>
              <a:rPr lang="en-US" b="1" u="sng" dirty="0"/>
              <a:t>K </a:t>
            </a:r>
            <a:r>
              <a:rPr lang="en-US" b="1" u="sng" dirty="0" err="1"/>
              <a:t>Scatch</a:t>
            </a:r>
            <a:r>
              <a:rPr lang="en-US" dirty="0" err="1"/>
              <a:t>K</a:t>
            </a:r>
            <a:r>
              <a:rPr lang="en-US" dirty="0"/>
              <a:t> </a:t>
            </a:r>
            <a:r>
              <a:rPr lang="en-US" dirty="0" err="1"/>
              <a:t>Scatch</a:t>
            </a:r>
            <a:r>
              <a:rPr lang="en-US" dirty="0"/>
              <a:t> faults are more prevalent, with 18.1% of items affected. This </a:t>
            </a:r>
            <a:r>
              <a:rPr lang="en-US" dirty="0" err="1"/>
              <a:t>suggestsa</a:t>
            </a:r>
            <a:r>
              <a:rPr lang="en-US" dirty="0"/>
              <a:t> potential area for improvement in detecting and preventing these faults </a:t>
            </a:r>
            <a:r>
              <a:rPr lang="en-US" dirty="0" err="1"/>
              <a:t>duringproduction</a:t>
            </a:r>
            <a:r>
              <a:rPr lang="en-US" dirty="0"/>
              <a:t>.</a:t>
            </a:r>
          </a:p>
          <a:p>
            <a:endParaRPr lang="en-001" dirty="0"/>
          </a:p>
        </p:txBody>
      </p:sp>
    </p:spTree>
    <p:extLst>
      <p:ext uri="{BB962C8B-B14F-4D97-AF65-F5344CB8AC3E}">
        <p14:creationId xmlns:p14="http://schemas.microsoft.com/office/powerpoint/2010/main" val="27939980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F20A9E-1CA6-1016-859A-A24C6CB45150}"/>
              </a:ext>
            </a:extLst>
          </p:cNvPr>
          <p:cNvSpPr>
            <a:spLocks noGrp="1"/>
          </p:cNvSpPr>
          <p:nvPr>
            <p:ph idx="1"/>
          </p:nvPr>
        </p:nvSpPr>
        <p:spPr>
          <a:xfrm>
            <a:off x="726440" y="657224"/>
            <a:ext cx="10515600" cy="5296535"/>
          </a:xfrm>
        </p:spPr>
        <p:txBody>
          <a:bodyPr/>
          <a:lstStyle/>
          <a:p>
            <a:r>
              <a:rPr lang="en-US" b="1" u="sng" dirty="0" err="1"/>
              <a:t>Bumps</a:t>
            </a:r>
            <a:r>
              <a:rPr lang="en-US" dirty="0" err="1"/>
              <a:t>Approximately</a:t>
            </a:r>
            <a:r>
              <a:rPr lang="en-US" dirty="0"/>
              <a:t> 24.4% of products have Bumps faults, making this a </a:t>
            </a:r>
            <a:r>
              <a:rPr lang="en-US" dirty="0" err="1"/>
              <a:t>commonissue</a:t>
            </a:r>
            <a:r>
              <a:rPr lang="en-US" dirty="0"/>
              <a:t> that requires targeted interventions to reduce occurrence.</a:t>
            </a:r>
          </a:p>
          <a:p>
            <a:r>
              <a:rPr lang="en-US" b="1" u="sng" dirty="0"/>
              <a:t>Stains, Dirtiness, and Other Faults </a:t>
            </a:r>
            <a:r>
              <a:rPr lang="en-US" dirty="0"/>
              <a:t>These plots illustrate that while Stains and Dirtiness are relatively rare (affecting3% and 2.5% of products, respectively), Other Faults are more frequent </a:t>
            </a:r>
            <a:r>
              <a:rPr lang="en-US" dirty="0" err="1"/>
              <a:t>andvaried</a:t>
            </a:r>
            <a:r>
              <a:rPr lang="en-US" dirty="0"/>
              <a:t>, affecting 34.2% of products.</a:t>
            </a:r>
          </a:p>
          <a:p>
            <a:r>
              <a:rPr lang="en-US" dirty="0"/>
              <a:t>The analysis indicates that while certain faults such as Pastry and Z Scratch </a:t>
            </a:r>
            <a:r>
              <a:rPr lang="en-US" dirty="0" err="1"/>
              <a:t>arewell</a:t>
            </a:r>
            <a:r>
              <a:rPr lang="en-US" dirty="0"/>
              <a:t> controlled, other areas like K </a:t>
            </a:r>
            <a:r>
              <a:rPr lang="en-US" dirty="0" err="1"/>
              <a:t>Scatch</a:t>
            </a:r>
            <a:r>
              <a:rPr lang="en-US" dirty="0"/>
              <a:t> and Bumps need further </a:t>
            </a:r>
            <a:r>
              <a:rPr lang="en-US" dirty="0" err="1"/>
              <a:t>investigationand</a:t>
            </a:r>
            <a:r>
              <a:rPr lang="en-US" dirty="0"/>
              <a:t> improvement. Ongoing efforts to monitor and reduce all types of faults </a:t>
            </a:r>
            <a:r>
              <a:rPr lang="en-US" dirty="0" err="1"/>
              <a:t>arecrucial</a:t>
            </a:r>
            <a:r>
              <a:rPr lang="en-US" dirty="0"/>
              <a:t> for maintaining high standards of product quality.</a:t>
            </a:r>
          </a:p>
          <a:p>
            <a:endParaRPr lang="en-US" dirty="0"/>
          </a:p>
          <a:p>
            <a:pPr marL="0" indent="0">
              <a:buNone/>
            </a:pPr>
            <a:endParaRPr lang="en-001" dirty="0"/>
          </a:p>
        </p:txBody>
      </p:sp>
    </p:spTree>
    <p:extLst>
      <p:ext uri="{BB962C8B-B14F-4D97-AF65-F5344CB8AC3E}">
        <p14:creationId xmlns:p14="http://schemas.microsoft.com/office/powerpoint/2010/main" val="42857628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8898E-9636-C65F-7122-860FF568370A}"/>
              </a:ext>
            </a:extLst>
          </p:cNvPr>
          <p:cNvSpPr>
            <a:spLocks noGrp="1"/>
          </p:cNvSpPr>
          <p:nvPr>
            <p:ph type="title"/>
          </p:nvPr>
        </p:nvSpPr>
        <p:spPr>
          <a:xfrm>
            <a:off x="627394" y="-132715"/>
            <a:ext cx="10515600" cy="1325563"/>
          </a:xfrm>
        </p:spPr>
        <p:txBody>
          <a:bodyPr>
            <a:normAutofit/>
          </a:bodyPr>
          <a:lstStyle/>
          <a:p>
            <a:r>
              <a:rPr lang="en-US" sz="2400" b="1" u="sng" dirty="0"/>
              <a:t>Scatter plot -  Y Minimum and X Minimum vs. Target: </a:t>
            </a:r>
            <a:endParaRPr lang="en-001" sz="2400" b="1" u="sng" dirty="0"/>
          </a:p>
        </p:txBody>
      </p:sp>
      <p:pic>
        <p:nvPicPr>
          <p:cNvPr id="8194" name="Picture 2">
            <a:extLst>
              <a:ext uri="{FF2B5EF4-FFF2-40B4-BE49-F238E27FC236}">
                <a16:creationId xmlns:a16="http://schemas.microsoft.com/office/drawing/2014/main" id="{D4657141-8936-AE46-B083-DE0B475FB31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099" y="1018222"/>
            <a:ext cx="11764189" cy="52606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01651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30B89-311E-24D9-A4DC-0B626D5A9F8A}"/>
              </a:ext>
            </a:extLst>
          </p:cNvPr>
          <p:cNvSpPr>
            <a:spLocks noGrp="1"/>
          </p:cNvSpPr>
          <p:nvPr>
            <p:ph type="title"/>
          </p:nvPr>
        </p:nvSpPr>
        <p:spPr>
          <a:xfrm>
            <a:off x="259080" y="-193675"/>
            <a:ext cx="10515600" cy="1325563"/>
          </a:xfrm>
        </p:spPr>
        <p:txBody>
          <a:bodyPr>
            <a:normAutofit/>
          </a:bodyPr>
          <a:lstStyle/>
          <a:p>
            <a:r>
              <a:rPr lang="en-US" sz="2400" b="1" u="sng" dirty="0"/>
              <a:t>X Perimeter and Pixels Areas vs. Target:</a:t>
            </a:r>
            <a:endParaRPr lang="en-001" sz="2400" dirty="0"/>
          </a:p>
        </p:txBody>
      </p:sp>
      <p:pic>
        <p:nvPicPr>
          <p:cNvPr id="9218" name="Picture 2">
            <a:extLst>
              <a:ext uri="{FF2B5EF4-FFF2-40B4-BE49-F238E27FC236}">
                <a16:creationId xmlns:a16="http://schemas.microsoft.com/office/drawing/2014/main" id="{C8F1C507-BE4F-526D-1095-AD3636B87B0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9080" y="824634"/>
            <a:ext cx="11392195" cy="52087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94528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BFBE3-4F00-E703-6280-2DD9902A3BAF}"/>
              </a:ext>
            </a:extLst>
          </p:cNvPr>
          <p:cNvSpPr>
            <a:spLocks noGrp="1"/>
          </p:cNvSpPr>
          <p:nvPr>
            <p:ph type="title"/>
          </p:nvPr>
        </p:nvSpPr>
        <p:spPr>
          <a:xfrm>
            <a:off x="383760" y="-71755"/>
            <a:ext cx="11584719" cy="1325563"/>
          </a:xfrm>
        </p:spPr>
        <p:txBody>
          <a:bodyPr>
            <a:normAutofit/>
          </a:bodyPr>
          <a:lstStyle/>
          <a:p>
            <a:r>
              <a:rPr lang="en-US" sz="2400" b="1" u="sng" dirty="0"/>
              <a:t>Orientation Index and Luminosity Index vs. Target:</a:t>
            </a:r>
            <a:endParaRPr lang="en-001" sz="2400" dirty="0"/>
          </a:p>
        </p:txBody>
      </p:sp>
      <p:pic>
        <p:nvPicPr>
          <p:cNvPr id="10242" name="Picture 2">
            <a:extLst>
              <a:ext uri="{FF2B5EF4-FFF2-40B4-BE49-F238E27FC236}">
                <a16:creationId xmlns:a16="http://schemas.microsoft.com/office/drawing/2014/main" id="{7DB19EA7-E50F-5D35-CE1C-D35F841065B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3521" y="813678"/>
            <a:ext cx="11584719" cy="52920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80164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B15F0E-1810-C9B9-A6C9-1AF8BD0EE8E3}"/>
              </a:ext>
            </a:extLst>
          </p:cNvPr>
          <p:cNvSpPr>
            <a:spLocks noGrp="1"/>
          </p:cNvSpPr>
          <p:nvPr>
            <p:ph type="title"/>
          </p:nvPr>
        </p:nvSpPr>
        <p:spPr>
          <a:xfrm>
            <a:off x="838200" y="96837"/>
            <a:ext cx="10515600" cy="1325563"/>
          </a:xfrm>
        </p:spPr>
        <p:txBody>
          <a:bodyPr/>
          <a:lstStyle/>
          <a:p>
            <a:r>
              <a:rPr lang="en-US" b="1" u="sng" dirty="0"/>
              <a:t>Plot Insights</a:t>
            </a:r>
            <a:endParaRPr lang="en-001" b="1" u="sng" dirty="0"/>
          </a:p>
        </p:txBody>
      </p:sp>
      <p:sp>
        <p:nvSpPr>
          <p:cNvPr id="3" name="Content Placeholder 2">
            <a:extLst>
              <a:ext uri="{FF2B5EF4-FFF2-40B4-BE49-F238E27FC236}">
                <a16:creationId xmlns:a16="http://schemas.microsoft.com/office/drawing/2014/main" id="{5751399B-717A-94DC-8BCA-B7554D20680B}"/>
              </a:ext>
            </a:extLst>
          </p:cNvPr>
          <p:cNvSpPr>
            <a:spLocks noGrp="1"/>
          </p:cNvSpPr>
          <p:nvPr>
            <p:ph idx="1"/>
          </p:nvPr>
        </p:nvSpPr>
        <p:spPr>
          <a:xfrm>
            <a:off x="838200" y="1137920"/>
            <a:ext cx="10515600" cy="4754563"/>
          </a:xfrm>
        </p:spPr>
        <p:txBody>
          <a:bodyPr>
            <a:normAutofit fontScale="92500" lnSpcReduction="10000"/>
          </a:bodyPr>
          <a:lstStyle/>
          <a:p>
            <a:pPr marL="0" indent="0">
              <a:buNone/>
            </a:pPr>
            <a:r>
              <a:rPr lang="en-US" b="1" u="sng" dirty="0"/>
              <a:t>• Y Minimum and X Minimum vs. Target: </a:t>
            </a:r>
            <a:r>
              <a:rPr lang="en-US" dirty="0"/>
              <a:t>This scatter plot visual-</a:t>
            </a:r>
            <a:r>
              <a:rPr lang="en-US" dirty="0" err="1"/>
              <a:t>izes</a:t>
            </a:r>
            <a:r>
              <a:rPr lang="en-US" dirty="0"/>
              <a:t> the distribution of faults based on the minimum Y and X </a:t>
            </a:r>
            <a:r>
              <a:rPr lang="en-US" dirty="0" err="1"/>
              <a:t>coordinatesof</a:t>
            </a:r>
            <a:r>
              <a:rPr lang="en-US" dirty="0"/>
              <a:t> the defects. Most of the data points, regardless of defect type, are </a:t>
            </a:r>
            <a:r>
              <a:rPr lang="en-US" dirty="0" err="1"/>
              <a:t>clus-tered</a:t>
            </a:r>
            <a:r>
              <a:rPr lang="en-US" dirty="0"/>
              <a:t> around lower values of Y and X, indicating that faults are </a:t>
            </a:r>
            <a:r>
              <a:rPr lang="en-US" dirty="0" err="1"/>
              <a:t>frequentlyoccurring</a:t>
            </a:r>
            <a:r>
              <a:rPr lang="en-US" dirty="0"/>
              <a:t> closer to the origin of the steel plates. There is no clear </a:t>
            </a:r>
            <a:r>
              <a:rPr lang="en-US" dirty="0" err="1"/>
              <a:t>separa-tion</a:t>
            </a:r>
            <a:r>
              <a:rPr lang="en-US" dirty="0"/>
              <a:t> between different types of faults, suggesting that spatial </a:t>
            </a:r>
            <a:r>
              <a:rPr lang="en-US" dirty="0" err="1"/>
              <a:t>coordinatesalone</a:t>
            </a:r>
            <a:r>
              <a:rPr lang="en-US" dirty="0"/>
              <a:t> might not be sufficient to classify defects effectively.</a:t>
            </a:r>
          </a:p>
          <a:p>
            <a:pPr marL="0" indent="0">
              <a:buNone/>
            </a:pPr>
            <a:r>
              <a:rPr lang="en-US" dirty="0"/>
              <a:t>• </a:t>
            </a:r>
            <a:r>
              <a:rPr lang="en-US" b="1" u="sng" dirty="0"/>
              <a:t>X Perimeter and Pixels Areas vs. Target: </a:t>
            </a:r>
            <a:r>
              <a:rPr lang="en-US" dirty="0"/>
              <a:t>A trend analysis </a:t>
            </a:r>
            <a:r>
              <a:rPr lang="en-US" dirty="0" err="1"/>
              <a:t>inthis</a:t>
            </a:r>
            <a:r>
              <a:rPr lang="en-US" dirty="0"/>
              <a:t> plot shows a positive correlation between pixel area and </a:t>
            </a:r>
            <a:r>
              <a:rPr lang="en-US" dirty="0" err="1"/>
              <a:t>perimetersize</a:t>
            </a:r>
            <a:r>
              <a:rPr lang="en-US" dirty="0"/>
              <a:t>, which is expected as larger defects typically encompass a </a:t>
            </a:r>
            <a:r>
              <a:rPr lang="en-US" dirty="0" err="1"/>
              <a:t>greaterperimeter</a:t>
            </a:r>
            <a:r>
              <a:rPr lang="en-US" dirty="0"/>
              <a:t>. The green confidence band highlights this relationship </a:t>
            </a:r>
            <a:r>
              <a:rPr lang="en-US" dirty="0" err="1"/>
              <a:t>andshows</a:t>
            </a:r>
            <a:r>
              <a:rPr lang="en-US" dirty="0"/>
              <a:t> a consistent increase in perimeter as pixel area increases, across </a:t>
            </a:r>
            <a:r>
              <a:rPr lang="en-US" dirty="0" err="1"/>
              <a:t>alldefect</a:t>
            </a:r>
            <a:r>
              <a:rPr lang="en-US" dirty="0"/>
              <a:t> types. This implies that pixel area can be a strong indicator of </a:t>
            </a:r>
            <a:r>
              <a:rPr lang="en-US" dirty="0" err="1"/>
              <a:t>thesize</a:t>
            </a:r>
            <a:r>
              <a:rPr lang="en-US" dirty="0"/>
              <a:t> of the defect but less about the type of defect.</a:t>
            </a:r>
            <a:endParaRPr lang="en-001" dirty="0"/>
          </a:p>
        </p:txBody>
      </p:sp>
    </p:spTree>
    <p:extLst>
      <p:ext uri="{BB962C8B-B14F-4D97-AF65-F5344CB8AC3E}">
        <p14:creationId xmlns:p14="http://schemas.microsoft.com/office/powerpoint/2010/main" val="213795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47694F0-D751-CE17-021D-9824B503E95C}"/>
              </a:ext>
            </a:extLst>
          </p:cNvPr>
          <p:cNvSpPr>
            <a:spLocks noGrp="1"/>
          </p:cNvSpPr>
          <p:nvPr>
            <p:ph idx="1"/>
          </p:nvPr>
        </p:nvSpPr>
        <p:spPr>
          <a:xfrm>
            <a:off x="838200" y="413384"/>
            <a:ext cx="10515600" cy="5570855"/>
          </a:xfrm>
        </p:spPr>
        <p:txBody>
          <a:bodyPr>
            <a:normAutofit fontScale="92500" lnSpcReduction="10000"/>
          </a:bodyPr>
          <a:lstStyle/>
          <a:p>
            <a:r>
              <a:rPr lang="en-US" b="1" u="sng" dirty="0"/>
              <a:t>Orientation Index and Luminosity Index vs. Target: </a:t>
            </a:r>
            <a:r>
              <a:rPr lang="en-US" dirty="0"/>
              <a:t>This </a:t>
            </a:r>
            <a:r>
              <a:rPr lang="en-US" dirty="0" err="1"/>
              <a:t>plotshows</a:t>
            </a:r>
            <a:r>
              <a:rPr lang="en-US" dirty="0"/>
              <a:t> the spread of defect types against the orientation and </a:t>
            </a:r>
            <a:r>
              <a:rPr lang="en-US" dirty="0" err="1"/>
              <a:t>luminosityindices</a:t>
            </a:r>
            <a:r>
              <a:rPr lang="en-US" dirty="0"/>
              <a:t>. Most defects types are dispersed across a narrow range of </a:t>
            </a:r>
            <a:r>
              <a:rPr lang="en-US" dirty="0" err="1"/>
              <a:t>lumi-nosity</a:t>
            </a:r>
            <a:r>
              <a:rPr lang="en-US" dirty="0"/>
              <a:t> but vary more widely in orientation, suggesting that the angle </a:t>
            </a:r>
            <a:r>
              <a:rPr lang="en-US" dirty="0" err="1"/>
              <a:t>atwhich</a:t>
            </a:r>
            <a:r>
              <a:rPr lang="en-US" dirty="0"/>
              <a:t> the defects lie on the surface of the steel might vary more than </a:t>
            </a:r>
            <a:r>
              <a:rPr lang="en-US" dirty="0" err="1"/>
              <a:t>theirbrightness</a:t>
            </a:r>
            <a:r>
              <a:rPr lang="en-US" dirty="0"/>
              <a:t> or color. However, like other plots, the overlap is </a:t>
            </a:r>
            <a:r>
              <a:rPr lang="en-US" dirty="0" err="1"/>
              <a:t>significant,indicating</a:t>
            </a:r>
            <a:r>
              <a:rPr lang="en-US" dirty="0"/>
              <a:t> complexity in using these features alone to distinguish between defect types.</a:t>
            </a:r>
          </a:p>
          <a:p>
            <a:endParaRPr lang="en-US" dirty="0"/>
          </a:p>
          <a:p>
            <a:r>
              <a:rPr lang="en-US" b="1" dirty="0"/>
              <a:t>General Observations </a:t>
            </a:r>
            <a:r>
              <a:rPr lang="en-US" dirty="0"/>
              <a:t>-Across all plots, the defect types are not distinctly separable based on the </a:t>
            </a:r>
            <a:r>
              <a:rPr lang="en-US" dirty="0" err="1"/>
              <a:t>visu-alized</a:t>
            </a:r>
            <a:r>
              <a:rPr lang="en-US" dirty="0"/>
              <a:t> features. The overlap in the distributions suggests that a combination </a:t>
            </a:r>
            <a:r>
              <a:rPr lang="en-US" dirty="0" err="1"/>
              <a:t>offeatures</a:t>
            </a:r>
            <a:r>
              <a:rPr lang="en-US" dirty="0"/>
              <a:t> or more sophisticated machine learning models might be necessary </a:t>
            </a:r>
            <a:r>
              <a:rPr lang="en-US" dirty="0" err="1"/>
              <a:t>toaccurately</a:t>
            </a:r>
            <a:r>
              <a:rPr lang="en-US" dirty="0"/>
              <a:t> classify the type of defect. Advanced feature engineering or the in-</a:t>
            </a:r>
            <a:r>
              <a:rPr lang="en-US" dirty="0" err="1"/>
              <a:t>clusion</a:t>
            </a:r>
            <a:r>
              <a:rPr lang="en-US" dirty="0"/>
              <a:t> of additional context-specific attributes could potentially enhance </a:t>
            </a:r>
            <a:r>
              <a:rPr lang="en-US" dirty="0" err="1"/>
              <a:t>modelperformance</a:t>
            </a:r>
            <a:r>
              <a:rPr lang="en-US" dirty="0"/>
              <a:t>.</a:t>
            </a:r>
            <a:endParaRPr lang="en-001" dirty="0"/>
          </a:p>
        </p:txBody>
      </p:sp>
    </p:spTree>
    <p:extLst>
      <p:ext uri="{BB962C8B-B14F-4D97-AF65-F5344CB8AC3E}">
        <p14:creationId xmlns:p14="http://schemas.microsoft.com/office/powerpoint/2010/main" val="17304406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0A9C1-0535-176B-F7E1-32CD64C6E237}"/>
              </a:ext>
            </a:extLst>
          </p:cNvPr>
          <p:cNvSpPr>
            <a:spLocks noGrp="1"/>
          </p:cNvSpPr>
          <p:nvPr>
            <p:ph type="title"/>
          </p:nvPr>
        </p:nvSpPr>
        <p:spPr>
          <a:xfrm>
            <a:off x="2067560" y="2103437"/>
            <a:ext cx="10515600" cy="1325563"/>
          </a:xfrm>
        </p:spPr>
        <p:txBody>
          <a:bodyPr/>
          <a:lstStyle/>
          <a:p>
            <a:r>
              <a:rPr lang="en-US" b="1" i="0" u="sng" dirty="0">
                <a:effectLst/>
                <a:latin typeface="newtimeroman"/>
              </a:rPr>
              <a:t>Numerical Feature Distribution</a:t>
            </a:r>
            <a:endParaRPr lang="en-001" b="1" u="sng" dirty="0"/>
          </a:p>
        </p:txBody>
      </p:sp>
    </p:spTree>
    <p:extLst>
      <p:ext uri="{BB962C8B-B14F-4D97-AF65-F5344CB8AC3E}">
        <p14:creationId xmlns:p14="http://schemas.microsoft.com/office/powerpoint/2010/main" val="28379644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a:extLst>
              <a:ext uri="{FF2B5EF4-FFF2-40B4-BE49-F238E27FC236}">
                <a16:creationId xmlns:a16="http://schemas.microsoft.com/office/drawing/2014/main" id="{82135AF9-DC0E-F41D-74B0-257E47B2311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35280" y="162560"/>
            <a:ext cx="11714480" cy="60350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34375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DDD5B-3428-3D95-909C-49DE1D207F9C}"/>
              </a:ext>
            </a:extLst>
          </p:cNvPr>
          <p:cNvSpPr>
            <a:spLocks noGrp="1"/>
          </p:cNvSpPr>
          <p:nvPr>
            <p:ph type="title"/>
          </p:nvPr>
        </p:nvSpPr>
        <p:spPr>
          <a:xfrm>
            <a:off x="584200" y="-153035"/>
            <a:ext cx="10515600" cy="1325563"/>
          </a:xfrm>
        </p:spPr>
        <p:txBody>
          <a:bodyPr/>
          <a:lstStyle/>
          <a:p>
            <a:r>
              <a:rPr lang="en-US" b="1" u="sng" dirty="0"/>
              <a:t>Plot insights </a:t>
            </a:r>
            <a:endParaRPr lang="en-001" b="1" u="sng" dirty="0"/>
          </a:p>
        </p:txBody>
      </p:sp>
      <p:sp>
        <p:nvSpPr>
          <p:cNvPr id="3" name="Content Placeholder 2">
            <a:extLst>
              <a:ext uri="{FF2B5EF4-FFF2-40B4-BE49-F238E27FC236}">
                <a16:creationId xmlns:a16="http://schemas.microsoft.com/office/drawing/2014/main" id="{92ADDCE5-B2CC-98C3-ACAA-BA6E335777E7}"/>
              </a:ext>
            </a:extLst>
          </p:cNvPr>
          <p:cNvSpPr>
            <a:spLocks noGrp="1"/>
          </p:cNvSpPr>
          <p:nvPr>
            <p:ph idx="1"/>
          </p:nvPr>
        </p:nvSpPr>
        <p:spPr>
          <a:xfrm>
            <a:off x="584200" y="934720"/>
            <a:ext cx="10434320" cy="5140959"/>
          </a:xfrm>
        </p:spPr>
        <p:txBody>
          <a:bodyPr>
            <a:normAutofit fontScale="70000" lnSpcReduction="20000"/>
          </a:bodyPr>
          <a:lstStyle/>
          <a:p>
            <a:r>
              <a:rPr lang="en-US" dirty="0" err="1"/>
              <a:t>OverviewThe</a:t>
            </a:r>
            <a:r>
              <a:rPr lang="en-US" dirty="0"/>
              <a:t> histograms provide a detailed visualization of the distributions of several features relevant to steel plate defect detection. These features exhibit a range of distribution shapes, skewness, and concentrations of values, indicating varied characteristics and potential challenges in data modeling.</a:t>
            </a:r>
          </a:p>
          <a:p>
            <a:pPr marL="0" indent="0">
              <a:buNone/>
            </a:pPr>
            <a:r>
              <a:rPr lang="en-US" b="1" dirty="0"/>
              <a:t>Detailed Observations :</a:t>
            </a:r>
          </a:p>
          <a:p>
            <a:pPr marL="0" indent="0">
              <a:buNone/>
            </a:pPr>
            <a:r>
              <a:rPr lang="en-US" dirty="0"/>
              <a:t>• </a:t>
            </a:r>
            <a:r>
              <a:rPr lang="en-US" b="1" dirty="0"/>
              <a:t>Gaussian-like Distributions</a:t>
            </a:r>
            <a:r>
              <a:rPr lang="en-US" dirty="0"/>
              <a:t>: Some features, such as ’Edges Y </a:t>
            </a:r>
            <a:r>
              <a:rPr lang="en-US" dirty="0" err="1"/>
              <a:t>Index’,show</a:t>
            </a:r>
            <a:r>
              <a:rPr lang="en-US" dirty="0"/>
              <a:t> distributions that are nearly Gaussian, suggesting that these </a:t>
            </a:r>
            <a:r>
              <a:rPr lang="en-US" dirty="0" err="1"/>
              <a:t>featuresmight</a:t>
            </a:r>
            <a:r>
              <a:rPr lang="en-US" dirty="0"/>
              <a:t> be well-modeled by algorithms assuming normality.</a:t>
            </a:r>
          </a:p>
          <a:p>
            <a:pPr marL="0" indent="0">
              <a:buNone/>
            </a:pPr>
            <a:r>
              <a:rPr lang="en-US" dirty="0"/>
              <a:t>• </a:t>
            </a:r>
            <a:r>
              <a:rPr lang="en-US" b="1" dirty="0"/>
              <a:t>Skewed Distributions: </a:t>
            </a:r>
            <a:r>
              <a:rPr lang="en-US" dirty="0"/>
              <a:t>A significant number of features display skew-ness:– Left-Skewed: Features like ’Minimum of Luminosity’ and ’Edges </a:t>
            </a:r>
            <a:r>
              <a:rPr lang="en-US" dirty="0" err="1"/>
              <a:t>Index’show</a:t>
            </a:r>
            <a:r>
              <a:rPr lang="en-US" dirty="0"/>
              <a:t> a concentration of values towards the higher end of the </a:t>
            </a:r>
            <a:r>
              <a:rPr lang="en-US" dirty="0" err="1"/>
              <a:t>range,with</a:t>
            </a:r>
            <a:r>
              <a:rPr lang="en-US" dirty="0"/>
              <a:t> fewer lower values.– Right-Skewed: Conversely, features such as ’Pixels Areas’, ’X </a:t>
            </a:r>
            <a:r>
              <a:rPr lang="en-US" dirty="0" err="1"/>
              <a:t>Perimeter’,and</a:t>
            </a:r>
            <a:r>
              <a:rPr lang="en-US" dirty="0"/>
              <a:t> ’Y Perimeter’ are predominantly skewed towards the lower </a:t>
            </a:r>
            <a:r>
              <a:rPr lang="en-US" dirty="0" err="1"/>
              <a:t>end,with</a:t>
            </a:r>
            <a:r>
              <a:rPr lang="en-US" dirty="0"/>
              <a:t> long tails extending towards higher values.</a:t>
            </a:r>
          </a:p>
          <a:p>
            <a:pPr marL="0" indent="0">
              <a:buNone/>
            </a:pPr>
            <a:r>
              <a:rPr lang="en-US" dirty="0"/>
              <a:t>• </a:t>
            </a:r>
            <a:r>
              <a:rPr lang="en-US" b="1" dirty="0"/>
              <a:t>High Skewness and Kurtosis</a:t>
            </a:r>
            <a:r>
              <a:rPr lang="en-US" dirty="0"/>
              <a:t>: Most features, including ’Orientation </a:t>
            </a:r>
            <a:r>
              <a:rPr lang="en-US" dirty="0" err="1"/>
              <a:t>Index’and</a:t>
            </a:r>
            <a:r>
              <a:rPr lang="en-US" dirty="0"/>
              <a:t> ’Luminosity Index’, are highly skewed, either to the right or left, in-</a:t>
            </a:r>
            <a:r>
              <a:rPr lang="en-US" dirty="0" err="1"/>
              <a:t>dicating</a:t>
            </a:r>
            <a:r>
              <a:rPr lang="en-US" dirty="0"/>
              <a:t> extreme values that could affect model performance.</a:t>
            </a:r>
          </a:p>
          <a:p>
            <a:pPr marL="0" indent="0">
              <a:buNone/>
            </a:pPr>
            <a:r>
              <a:rPr lang="en-US" dirty="0"/>
              <a:t>• </a:t>
            </a:r>
            <a:r>
              <a:rPr lang="en-US" b="1" dirty="0"/>
              <a:t>Varied Scales and Units</a:t>
            </a:r>
            <a:r>
              <a:rPr lang="en-US" dirty="0"/>
              <a:t>: The features also differ significantly in </a:t>
            </a:r>
            <a:r>
              <a:rPr lang="en-US" dirty="0" err="1"/>
              <a:t>theirscales</a:t>
            </a:r>
            <a:r>
              <a:rPr lang="en-US" dirty="0"/>
              <a:t> and units, as evident from the axes of the histograms, which </a:t>
            </a:r>
            <a:r>
              <a:rPr lang="en-US" dirty="0" err="1"/>
              <a:t>canimpact</a:t>
            </a:r>
            <a:r>
              <a:rPr lang="en-US" dirty="0"/>
              <a:t> the performance of machine learning models that are sensitive </a:t>
            </a:r>
            <a:r>
              <a:rPr lang="en-US" dirty="0" err="1"/>
              <a:t>tofeature</a:t>
            </a:r>
            <a:r>
              <a:rPr lang="en-US" dirty="0"/>
              <a:t> magnitude.</a:t>
            </a:r>
            <a:endParaRPr lang="en-001" dirty="0"/>
          </a:p>
        </p:txBody>
      </p:sp>
    </p:spTree>
    <p:extLst>
      <p:ext uri="{BB962C8B-B14F-4D97-AF65-F5344CB8AC3E}">
        <p14:creationId xmlns:p14="http://schemas.microsoft.com/office/powerpoint/2010/main" val="32066536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15EEBA-883D-B97E-8F81-BF77E8D7D7FE}"/>
              </a:ext>
            </a:extLst>
          </p:cNvPr>
          <p:cNvSpPr>
            <a:spLocks noGrp="1"/>
          </p:cNvSpPr>
          <p:nvPr>
            <p:ph idx="1"/>
          </p:nvPr>
        </p:nvSpPr>
        <p:spPr>
          <a:xfrm>
            <a:off x="574040" y="250824"/>
            <a:ext cx="11424920" cy="5611495"/>
          </a:xfrm>
        </p:spPr>
        <p:txBody>
          <a:bodyPr>
            <a:normAutofit fontScale="92500" lnSpcReduction="10000"/>
          </a:bodyPr>
          <a:lstStyle/>
          <a:p>
            <a:pPr marL="0" indent="0">
              <a:buNone/>
            </a:pPr>
            <a:r>
              <a:rPr lang="en-US" b="1" u="sng" dirty="0"/>
              <a:t>Preprocessing Recommendations</a:t>
            </a:r>
          </a:p>
          <a:p>
            <a:pPr marL="0" indent="0">
              <a:buNone/>
            </a:pPr>
            <a:r>
              <a:rPr lang="en-US" dirty="0"/>
              <a:t>Given the diverse nature of the feature distributions:</a:t>
            </a:r>
          </a:p>
          <a:p>
            <a:pPr marL="0" indent="0">
              <a:buNone/>
            </a:pPr>
            <a:r>
              <a:rPr lang="en-US" dirty="0"/>
              <a:t>• </a:t>
            </a:r>
            <a:r>
              <a:rPr lang="en-US" b="1" dirty="0"/>
              <a:t>Normalization:</a:t>
            </a:r>
            <a:r>
              <a:rPr lang="en-US" dirty="0"/>
              <a:t> Applying normalization methods, such as the </a:t>
            </a:r>
            <a:r>
              <a:rPr lang="en-US" dirty="0" err="1"/>
              <a:t>QuantileTransformer</a:t>
            </a:r>
            <a:r>
              <a:rPr lang="en-US" dirty="0"/>
              <a:t>, is recommended to mitigate issues related to skewness </a:t>
            </a:r>
            <a:r>
              <a:rPr lang="en-US" dirty="0" err="1"/>
              <a:t>andto</a:t>
            </a:r>
            <a:r>
              <a:rPr lang="en-US" dirty="0"/>
              <a:t> standardize features onto a similar scale.</a:t>
            </a:r>
          </a:p>
          <a:p>
            <a:pPr marL="0" indent="0">
              <a:buNone/>
            </a:pPr>
            <a:r>
              <a:rPr lang="en-US" dirty="0"/>
              <a:t>• </a:t>
            </a:r>
            <a:r>
              <a:rPr lang="en-US" b="1" dirty="0"/>
              <a:t>Handling Outliers: </a:t>
            </a:r>
            <a:r>
              <a:rPr lang="en-US" dirty="0"/>
              <a:t>Considering the presence of outliers as </a:t>
            </a:r>
            <a:r>
              <a:rPr lang="en-US" dirty="0" err="1"/>
              <a:t>suggestedby</a:t>
            </a:r>
            <a:r>
              <a:rPr lang="en-US" dirty="0"/>
              <a:t> the long tails in skewed distributions, outlier detection and removal </a:t>
            </a:r>
            <a:r>
              <a:rPr lang="en-US" dirty="0" err="1"/>
              <a:t>orcapping</a:t>
            </a:r>
            <a:r>
              <a:rPr lang="en-US" dirty="0"/>
              <a:t> methods should be evaluated.</a:t>
            </a:r>
          </a:p>
          <a:p>
            <a:pPr marL="0" indent="0">
              <a:buNone/>
            </a:pPr>
            <a:r>
              <a:rPr lang="en-US" dirty="0"/>
              <a:t>• </a:t>
            </a:r>
            <a:r>
              <a:rPr lang="en-US" b="1" dirty="0"/>
              <a:t>Feature Engineering</a:t>
            </a:r>
            <a:r>
              <a:rPr lang="en-US" dirty="0"/>
              <a:t>: Generating new features or transforming </a:t>
            </a:r>
            <a:r>
              <a:rPr lang="en-US" dirty="0" err="1"/>
              <a:t>existingones</a:t>
            </a:r>
            <a:r>
              <a:rPr lang="en-US" dirty="0"/>
              <a:t>, such as logarithmic scaling or binning, could help in stabilizing </a:t>
            </a:r>
            <a:r>
              <a:rPr lang="en-US" dirty="0" err="1"/>
              <a:t>thevariance</a:t>
            </a:r>
            <a:r>
              <a:rPr lang="en-US" dirty="0"/>
              <a:t> and making the distributions more symmetric.</a:t>
            </a:r>
          </a:p>
          <a:p>
            <a:pPr marL="0" indent="0">
              <a:buNone/>
            </a:pPr>
            <a:r>
              <a:rPr lang="en-US" dirty="0"/>
              <a:t>The detailed analysis of feature distributions helps in understanding the </a:t>
            </a:r>
            <a:r>
              <a:rPr lang="en-US" dirty="0" err="1"/>
              <a:t>prepro-cessing</a:t>
            </a:r>
            <a:r>
              <a:rPr lang="en-US" dirty="0"/>
              <a:t> needs essential for optimal modeling of steel plate defects. </a:t>
            </a:r>
            <a:r>
              <a:rPr lang="en-US" dirty="0" err="1"/>
              <a:t>Appropriatehandling</a:t>
            </a:r>
            <a:r>
              <a:rPr lang="en-US" dirty="0"/>
              <a:t> of these characteristics through robust preprocessing techniques </a:t>
            </a:r>
            <a:r>
              <a:rPr lang="en-US" dirty="0" err="1"/>
              <a:t>willbe</a:t>
            </a:r>
            <a:r>
              <a:rPr lang="en-US" dirty="0"/>
              <a:t> crucial in developing a predictive model with high accuracy.</a:t>
            </a:r>
          </a:p>
        </p:txBody>
      </p:sp>
    </p:spTree>
    <p:extLst>
      <p:ext uri="{BB962C8B-B14F-4D97-AF65-F5344CB8AC3E}">
        <p14:creationId xmlns:p14="http://schemas.microsoft.com/office/powerpoint/2010/main" val="19018168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71278322-536E-170C-AFC2-2EC3BE790495}"/>
              </a:ext>
            </a:extLst>
          </p:cNvPr>
          <p:cNvPicPr>
            <a:picLocks noGrp="1" noChangeAspect="1"/>
          </p:cNvPicPr>
          <p:nvPr>
            <p:ph idx="1"/>
          </p:nvPr>
        </p:nvPicPr>
        <p:blipFill>
          <a:blip r:embed="rId2"/>
          <a:stretch>
            <a:fillRect/>
          </a:stretch>
        </p:blipFill>
        <p:spPr>
          <a:xfrm>
            <a:off x="162560" y="91440"/>
            <a:ext cx="11866880" cy="6146800"/>
          </a:xfrm>
        </p:spPr>
      </p:pic>
    </p:spTree>
    <p:extLst>
      <p:ext uri="{BB962C8B-B14F-4D97-AF65-F5344CB8AC3E}">
        <p14:creationId xmlns:p14="http://schemas.microsoft.com/office/powerpoint/2010/main" val="37446080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E8130-DBA5-6719-E97A-7B3DE0B93765}"/>
              </a:ext>
            </a:extLst>
          </p:cNvPr>
          <p:cNvSpPr>
            <a:spLocks noGrp="1"/>
          </p:cNvSpPr>
          <p:nvPr>
            <p:ph type="title"/>
          </p:nvPr>
        </p:nvSpPr>
        <p:spPr>
          <a:xfrm>
            <a:off x="838200" y="0"/>
            <a:ext cx="10515600" cy="1325563"/>
          </a:xfrm>
        </p:spPr>
        <p:txBody>
          <a:bodyPr/>
          <a:lstStyle/>
          <a:p>
            <a:r>
              <a:rPr lang="en-US" dirty="0"/>
              <a:t>Normalization </a:t>
            </a:r>
            <a:endParaRPr lang="en-001" dirty="0"/>
          </a:p>
        </p:txBody>
      </p:sp>
      <p:sp>
        <p:nvSpPr>
          <p:cNvPr id="3" name="Content Placeholder 2">
            <a:extLst>
              <a:ext uri="{FF2B5EF4-FFF2-40B4-BE49-F238E27FC236}">
                <a16:creationId xmlns:a16="http://schemas.microsoft.com/office/drawing/2014/main" id="{4E2FFD94-57FB-781E-3727-8099785683D5}"/>
              </a:ext>
            </a:extLst>
          </p:cNvPr>
          <p:cNvSpPr>
            <a:spLocks noGrp="1"/>
          </p:cNvSpPr>
          <p:nvPr>
            <p:ph idx="1"/>
          </p:nvPr>
        </p:nvSpPr>
        <p:spPr>
          <a:xfrm>
            <a:off x="838200" y="1137920"/>
            <a:ext cx="10515600" cy="5039360"/>
          </a:xfrm>
        </p:spPr>
        <p:txBody>
          <a:bodyPr>
            <a:normAutofit fontScale="70000" lnSpcReduction="20000"/>
          </a:bodyPr>
          <a:lstStyle/>
          <a:p>
            <a:pPr marL="0" indent="0">
              <a:buNone/>
            </a:pPr>
            <a:r>
              <a:rPr lang="en-US" b="1" dirty="0"/>
              <a:t>Introduction to Normalization</a:t>
            </a:r>
          </a:p>
          <a:p>
            <a:r>
              <a:rPr lang="en-US" dirty="0"/>
              <a:t>Normalization is an essential preprocessing technique in data analysis and ma-chine learning, particularly effective when dealing with features that vary </a:t>
            </a:r>
            <a:r>
              <a:rPr lang="en-US" dirty="0" err="1"/>
              <a:t>inscale</a:t>
            </a:r>
            <a:r>
              <a:rPr lang="en-US" dirty="0"/>
              <a:t> and distribution. The Quantile Transformer is a robust method used </a:t>
            </a:r>
            <a:r>
              <a:rPr lang="en-US" dirty="0" err="1"/>
              <a:t>tonormalize</a:t>
            </a:r>
            <a:r>
              <a:rPr lang="en-US" dirty="0"/>
              <a:t> data by transforming the features to follow a specific statistical dis-</a:t>
            </a:r>
            <a:r>
              <a:rPr lang="en-US" dirty="0" err="1"/>
              <a:t>tribution</a:t>
            </a:r>
            <a:r>
              <a:rPr lang="en-US" dirty="0"/>
              <a:t>. This transformation is crucial for models that are sensitive to </a:t>
            </a:r>
            <a:r>
              <a:rPr lang="en-US" dirty="0" err="1"/>
              <a:t>thescale</a:t>
            </a:r>
            <a:r>
              <a:rPr lang="en-US" dirty="0"/>
              <a:t> of input data, such as linear regression and neural </a:t>
            </a:r>
            <a:r>
              <a:rPr lang="en-US" dirty="0" err="1"/>
              <a:t>networks.Normalization</a:t>
            </a:r>
            <a:r>
              <a:rPr lang="en-US" dirty="0"/>
              <a:t> helps in adjusting the scale of features so that they have amore uniform spread. This is particularly beneficial for algorithms that </a:t>
            </a:r>
            <a:r>
              <a:rPr lang="en-US" dirty="0" err="1"/>
              <a:t>dependon</a:t>
            </a:r>
            <a:r>
              <a:rPr lang="en-US" dirty="0"/>
              <a:t> the distance between data points, as it ensures that all features </a:t>
            </a:r>
            <a:r>
              <a:rPr lang="en-US" dirty="0" err="1"/>
              <a:t>contributeequally</a:t>
            </a:r>
            <a:r>
              <a:rPr lang="en-US" dirty="0"/>
              <a:t> to the result, preventing features with wider ranges from </a:t>
            </a:r>
            <a:r>
              <a:rPr lang="en-US" dirty="0" err="1"/>
              <a:t>dominatingthe</a:t>
            </a:r>
            <a:r>
              <a:rPr lang="en-US" dirty="0"/>
              <a:t> decision process.</a:t>
            </a:r>
          </a:p>
          <a:p>
            <a:pPr marL="0" indent="0">
              <a:buNone/>
            </a:pPr>
            <a:r>
              <a:rPr lang="en-US" b="1" dirty="0"/>
              <a:t>Gaussian Distribution</a:t>
            </a:r>
          </a:p>
          <a:p>
            <a:r>
              <a:rPr lang="en-US" dirty="0"/>
              <a:t>The Gaussian distribution, also known as the normal distribution, is a type of continuous probability distribution for a real-valued random variable. It is </a:t>
            </a:r>
            <a:r>
              <a:rPr lang="en-US" dirty="0" err="1"/>
              <a:t>sym</a:t>
            </a:r>
            <a:r>
              <a:rPr lang="en-US" dirty="0"/>
              <a:t>-metrically distributed around the mean, describing many natural </a:t>
            </a:r>
            <a:r>
              <a:rPr lang="en-US" dirty="0" err="1"/>
              <a:t>phenomen</a:t>
            </a:r>
            <a:r>
              <a:rPr lang="en-US" dirty="0"/>
              <a:t> </a:t>
            </a:r>
            <a:r>
              <a:rPr lang="en-US" dirty="0" err="1"/>
              <a:t>aand</a:t>
            </a:r>
            <a:r>
              <a:rPr lang="en-US" dirty="0"/>
              <a:t> commonly used in statistical practices as a default model for many </a:t>
            </a:r>
            <a:r>
              <a:rPr lang="en-US" dirty="0" err="1"/>
              <a:t>naturalprocesses.In</a:t>
            </a:r>
            <a:r>
              <a:rPr lang="en-US" dirty="0"/>
              <a:t> the context of feature normalization using a Quantile Transformer, trans-forming data to a Gaussian distribution involves mapping the quantiles of </a:t>
            </a:r>
            <a:r>
              <a:rPr lang="en-US" dirty="0" err="1"/>
              <a:t>thefeature’s</a:t>
            </a:r>
            <a:r>
              <a:rPr lang="en-US" dirty="0"/>
              <a:t> empirical distribution to the quantiles of the theoretical Gaussian dis-</a:t>
            </a:r>
            <a:r>
              <a:rPr lang="en-US" dirty="0" err="1"/>
              <a:t>tribution</a:t>
            </a:r>
            <a:r>
              <a:rPr lang="en-US" dirty="0"/>
              <a:t>. This approach is particularly useful because many statistical </a:t>
            </a:r>
            <a:r>
              <a:rPr lang="en-US" dirty="0" err="1"/>
              <a:t>methodsand</a:t>
            </a:r>
            <a:r>
              <a:rPr lang="en-US" dirty="0"/>
              <a:t> machine learning algorithms assume or perform better if the data follows a Gaussian distribution</a:t>
            </a:r>
            <a:endParaRPr lang="en-001" dirty="0"/>
          </a:p>
        </p:txBody>
      </p:sp>
    </p:spTree>
    <p:extLst>
      <p:ext uri="{BB962C8B-B14F-4D97-AF65-F5344CB8AC3E}">
        <p14:creationId xmlns:p14="http://schemas.microsoft.com/office/powerpoint/2010/main" val="26599996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CFCFCF-2A6F-340E-8E2E-B9B7BD7E12B8}"/>
              </a:ext>
            </a:extLst>
          </p:cNvPr>
          <p:cNvSpPr>
            <a:spLocks noGrp="1"/>
          </p:cNvSpPr>
          <p:nvPr>
            <p:ph idx="1"/>
          </p:nvPr>
        </p:nvSpPr>
        <p:spPr>
          <a:xfrm>
            <a:off x="838200" y="362584"/>
            <a:ext cx="10515600" cy="5601335"/>
          </a:xfrm>
        </p:spPr>
        <p:txBody>
          <a:bodyPr>
            <a:normAutofit/>
          </a:bodyPr>
          <a:lstStyle/>
          <a:p>
            <a:r>
              <a:rPr lang="en-US" dirty="0"/>
              <a:t>The histograms above display the distributions of various features from the Steel Plate Faults dataset, transformed to approximate Gaussian distributions using a Quantile Transformer. Each panel represents a different feature, showing the transformed distribution in yellow and the original distribution in blue. This transformation highlights the effectiveness of normalization in making the data more suitable for algorithms that assume normally distributed input.</a:t>
            </a:r>
          </a:p>
          <a:p>
            <a:r>
              <a:rPr lang="en-US" dirty="0"/>
              <a:t>By transforming feature distributions to be Gaussian, the Quantile Transformer helps in stabilizing variance and normalizing the behavior of outlier </a:t>
            </a:r>
            <a:r>
              <a:rPr lang="en-US" dirty="0" err="1"/>
              <a:t>values,which</a:t>
            </a:r>
            <a:r>
              <a:rPr lang="en-US" dirty="0"/>
              <a:t> enhances the performance of many machine learning algorithms. Such transformations are pivotal in preparing data for sophisticated models, ensuring that each feature contributes optimally to the predictive process.</a:t>
            </a:r>
            <a:endParaRPr lang="en-001" dirty="0"/>
          </a:p>
        </p:txBody>
      </p:sp>
    </p:spTree>
    <p:extLst>
      <p:ext uri="{BB962C8B-B14F-4D97-AF65-F5344CB8AC3E}">
        <p14:creationId xmlns:p14="http://schemas.microsoft.com/office/powerpoint/2010/main" val="5937406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BF41E59-6A1C-FDB1-F667-C1C8F57FB0AB}"/>
              </a:ext>
            </a:extLst>
          </p:cNvPr>
          <p:cNvPicPr>
            <a:picLocks noGrp="1" noChangeAspect="1"/>
          </p:cNvPicPr>
          <p:nvPr>
            <p:ph idx="1"/>
          </p:nvPr>
        </p:nvPicPr>
        <p:blipFill>
          <a:blip r:embed="rId2"/>
          <a:stretch>
            <a:fillRect/>
          </a:stretch>
        </p:blipFill>
        <p:spPr>
          <a:xfrm>
            <a:off x="124550" y="78105"/>
            <a:ext cx="11884570" cy="6200776"/>
          </a:xfrm>
        </p:spPr>
      </p:pic>
    </p:spTree>
    <p:extLst>
      <p:ext uri="{BB962C8B-B14F-4D97-AF65-F5344CB8AC3E}">
        <p14:creationId xmlns:p14="http://schemas.microsoft.com/office/powerpoint/2010/main" val="22774235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1B896-D42F-F629-D951-6C4F1728DA4B}"/>
              </a:ext>
            </a:extLst>
          </p:cNvPr>
          <p:cNvSpPr>
            <a:spLocks noGrp="1"/>
          </p:cNvSpPr>
          <p:nvPr>
            <p:ph type="title"/>
          </p:nvPr>
        </p:nvSpPr>
        <p:spPr>
          <a:xfrm>
            <a:off x="838200" y="18255"/>
            <a:ext cx="10515600" cy="1325563"/>
          </a:xfrm>
        </p:spPr>
        <p:txBody>
          <a:bodyPr/>
          <a:lstStyle/>
          <a:p>
            <a:r>
              <a:rPr lang="en-US" dirty="0"/>
              <a:t>Correlation Plot</a:t>
            </a:r>
            <a:endParaRPr lang="en-001" dirty="0"/>
          </a:p>
        </p:txBody>
      </p:sp>
      <p:sp>
        <p:nvSpPr>
          <p:cNvPr id="3" name="Content Placeholder 2">
            <a:extLst>
              <a:ext uri="{FF2B5EF4-FFF2-40B4-BE49-F238E27FC236}">
                <a16:creationId xmlns:a16="http://schemas.microsoft.com/office/drawing/2014/main" id="{CF9200A5-2BC7-9A90-BF39-532FF8D766F4}"/>
              </a:ext>
            </a:extLst>
          </p:cNvPr>
          <p:cNvSpPr>
            <a:spLocks noGrp="1"/>
          </p:cNvSpPr>
          <p:nvPr>
            <p:ph idx="1"/>
          </p:nvPr>
        </p:nvSpPr>
        <p:spPr>
          <a:xfrm>
            <a:off x="838200" y="1053464"/>
            <a:ext cx="10515600" cy="5367655"/>
          </a:xfrm>
        </p:spPr>
        <p:txBody>
          <a:bodyPr>
            <a:normAutofit fontScale="92500" lnSpcReduction="20000"/>
          </a:bodyPr>
          <a:lstStyle/>
          <a:p>
            <a:r>
              <a:rPr lang="en-US" sz="2400" dirty="0"/>
              <a:t>In the correlation matrix, it's evident that several feature pairs exhibit strong relationships, both positively and negatively, which could have significant implications for model performance due to </a:t>
            </a:r>
            <a:r>
              <a:rPr lang="en-US" sz="2400" b="1" dirty="0"/>
              <a:t>multicollinearit</a:t>
            </a:r>
            <a:r>
              <a:rPr lang="en-US" sz="2400" dirty="0"/>
              <a:t>y. These relationships suggest potential redundancy or direct influence between features that model training processes need to account for.</a:t>
            </a:r>
          </a:p>
          <a:p>
            <a:r>
              <a:rPr lang="en-US" sz="1600" b="1" u="sng" dirty="0"/>
              <a:t>Insights from the Correlation Matrix:</a:t>
            </a:r>
          </a:p>
          <a:p>
            <a:r>
              <a:rPr lang="en-US" sz="2400" b="1" dirty="0"/>
              <a:t>High Positive Correlations: </a:t>
            </a:r>
            <a:r>
              <a:rPr lang="en-US" sz="2400" dirty="0"/>
              <a:t>Features like </a:t>
            </a:r>
            <a:r>
              <a:rPr lang="en-US" sz="2400" dirty="0" err="1"/>
              <a:t>X_Minimum</a:t>
            </a:r>
            <a:r>
              <a:rPr lang="en-US" sz="2400" dirty="0"/>
              <a:t> and </a:t>
            </a:r>
            <a:r>
              <a:rPr lang="en-US" sz="2400" dirty="0" err="1"/>
              <a:t>X_Maximum</a:t>
            </a:r>
            <a:r>
              <a:rPr lang="en-US" sz="2400" dirty="0"/>
              <a:t> exhibit perfect correlation (r=1.00), indicating redundancy. Such pairs may not provide unique information, which could lead to overfitting in machine learning models.</a:t>
            </a:r>
          </a:p>
          <a:p>
            <a:r>
              <a:rPr lang="en-US" sz="2400" b="1" dirty="0"/>
              <a:t>High Negative Correlations</a:t>
            </a:r>
            <a:r>
              <a:rPr lang="en-US" sz="2400" dirty="0"/>
              <a:t>: There are instances of strong negative correlations, such as between </a:t>
            </a:r>
            <a:r>
              <a:rPr lang="en-US" sz="2400" dirty="0" err="1"/>
              <a:t>Pixels_Areas</a:t>
            </a:r>
            <a:r>
              <a:rPr lang="en-US" sz="2400" dirty="0"/>
              <a:t> and </a:t>
            </a:r>
            <a:r>
              <a:rPr lang="en-US" sz="2400" dirty="0" err="1"/>
              <a:t>Outside_Global_Index</a:t>
            </a:r>
            <a:r>
              <a:rPr lang="en-US" sz="2400" dirty="0"/>
              <a:t> (r=-0.36), suggesting that as one feature increases, the other decreases, which could be pivotal in understanding the inverse relationships within the data.</a:t>
            </a:r>
          </a:p>
          <a:p>
            <a:r>
              <a:rPr lang="en-US" sz="2400" b="1" dirty="0"/>
              <a:t>Moderate to Weak Correlations</a:t>
            </a:r>
            <a:r>
              <a:rPr lang="en-US" sz="2400" dirty="0"/>
              <a:t>: Many features show moderate to weak correlations, which suggests that they could be providing unique information to the models without heavy interdependencies.</a:t>
            </a:r>
          </a:p>
          <a:p>
            <a:r>
              <a:rPr lang="en-US" sz="2400" b="1" dirty="0"/>
              <a:t>Implications for Feature Engineering</a:t>
            </a:r>
            <a:r>
              <a:rPr lang="en-US" sz="2400" dirty="0"/>
              <a:t>: The insights from the correlation analysis are crucial for feature engineering, indicating potential candidates for feature selection, transformation, or removal to improve model robustness and performance.</a:t>
            </a:r>
            <a:endParaRPr lang="en-001" sz="2400" dirty="0"/>
          </a:p>
        </p:txBody>
      </p:sp>
    </p:spTree>
    <p:extLst>
      <p:ext uri="{BB962C8B-B14F-4D97-AF65-F5344CB8AC3E}">
        <p14:creationId xmlns:p14="http://schemas.microsoft.com/office/powerpoint/2010/main" val="17130914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8444CB-DAD2-E6CC-EB5C-C65C3E6D4853}"/>
              </a:ext>
            </a:extLst>
          </p:cNvPr>
          <p:cNvSpPr>
            <a:spLocks noGrp="1"/>
          </p:cNvSpPr>
          <p:nvPr>
            <p:ph idx="1"/>
          </p:nvPr>
        </p:nvSpPr>
        <p:spPr>
          <a:xfrm>
            <a:off x="838200" y="294640"/>
            <a:ext cx="10515600" cy="5882323"/>
          </a:xfrm>
        </p:spPr>
        <p:txBody>
          <a:bodyPr/>
          <a:lstStyle/>
          <a:p>
            <a:r>
              <a:rPr lang="en-US" b="1" dirty="0"/>
              <a:t>Significant Features Identified:</a:t>
            </a:r>
            <a:r>
              <a:rPr lang="en-US" dirty="0"/>
              <a:t> Based on the correlation matrix, here are the significant features that stand out either due to their strong correlations with many other features or due to their unique lack of correlation, suggesting independence and potentially unique predictive power.</a:t>
            </a:r>
          </a:p>
          <a:p>
            <a:endParaRPr lang="en-001" dirty="0"/>
          </a:p>
        </p:txBody>
      </p:sp>
      <p:pic>
        <p:nvPicPr>
          <p:cNvPr id="5" name="Picture 4">
            <a:extLst>
              <a:ext uri="{FF2B5EF4-FFF2-40B4-BE49-F238E27FC236}">
                <a16:creationId xmlns:a16="http://schemas.microsoft.com/office/drawing/2014/main" id="{B11F25EF-0003-A082-D236-1CF90F4207CF}"/>
              </a:ext>
            </a:extLst>
          </p:cNvPr>
          <p:cNvPicPr>
            <a:picLocks noChangeAspect="1"/>
          </p:cNvPicPr>
          <p:nvPr/>
        </p:nvPicPr>
        <p:blipFill>
          <a:blip r:embed="rId3"/>
          <a:stretch>
            <a:fillRect/>
          </a:stretch>
        </p:blipFill>
        <p:spPr>
          <a:xfrm>
            <a:off x="1180806" y="2263335"/>
            <a:ext cx="6782388" cy="1882303"/>
          </a:xfrm>
          <a:prstGeom prst="rect">
            <a:avLst/>
          </a:prstGeom>
        </p:spPr>
      </p:pic>
      <p:sp>
        <p:nvSpPr>
          <p:cNvPr id="18" name="TextBox 17">
            <a:extLst>
              <a:ext uri="{FF2B5EF4-FFF2-40B4-BE49-F238E27FC236}">
                <a16:creationId xmlns:a16="http://schemas.microsoft.com/office/drawing/2014/main" id="{8C15FA36-0202-DC7C-36E5-12B59F7410EC}"/>
              </a:ext>
            </a:extLst>
          </p:cNvPr>
          <p:cNvSpPr txBox="1"/>
          <p:nvPr/>
        </p:nvSpPr>
        <p:spPr>
          <a:xfrm>
            <a:off x="1180806" y="4299031"/>
            <a:ext cx="10425708" cy="2031325"/>
          </a:xfrm>
          <a:prstGeom prst="rect">
            <a:avLst/>
          </a:prstGeom>
          <a:noFill/>
        </p:spPr>
        <p:txBody>
          <a:bodyPr wrap="square">
            <a:spAutoFit/>
          </a:bodyPr>
          <a:lstStyle/>
          <a:p>
            <a:r>
              <a:rPr lang="en-US" b="0" i="0" dirty="0">
                <a:solidFill>
                  <a:srgbClr val="3B3A39"/>
                </a:solidFill>
                <a:effectLst/>
                <a:latin typeface="Courier New" panose="02070309020205020404" pitchFamily="49" charset="0"/>
              </a:rPr>
              <a:t>Highly Correlated Features: ['</a:t>
            </a:r>
            <a:r>
              <a:rPr lang="en-US" b="0" i="0" dirty="0" err="1">
                <a:solidFill>
                  <a:srgbClr val="3B3A39"/>
                </a:solidFill>
                <a:effectLst/>
                <a:latin typeface="Courier New" panose="02070309020205020404" pitchFamily="49" charset="0"/>
              </a:rPr>
              <a:t>X_Maximum</a:t>
            </a:r>
            <a:r>
              <a:rPr lang="en-US" b="0" i="0" dirty="0">
                <a:solidFill>
                  <a:srgbClr val="3B3A39"/>
                </a:solidFill>
                <a:effectLst/>
                <a:latin typeface="Courier New" panose="02070309020205020404" pitchFamily="49" charset="0"/>
              </a:rPr>
              <a:t>', '</a:t>
            </a:r>
            <a:r>
              <a:rPr lang="en-US" b="0" i="0" dirty="0" err="1">
                <a:solidFill>
                  <a:srgbClr val="3B3A39"/>
                </a:solidFill>
                <a:effectLst/>
                <a:latin typeface="Courier New" panose="02070309020205020404" pitchFamily="49" charset="0"/>
              </a:rPr>
              <a:t>Y_Maximum</a:t>
            </a:r>
            <a:r>
              <a:rPr lang="en-US" b="0" i="0" dirty="0">
                <a:solidFill>
                  <a:srgbClr val="3B3A39"/>
                </a:solidFill>
                <a:effectLst/>
                <a:latin typeface="Courier New" panose="02070309020205020404" pitchFamily="49" charset="0"/>
              </a:rPr>
              <a:t>', '</a:t>
            </a:r>
            <a:r>
              <a:rPr lang="en-US" b="0" i="0" dirty="0" err="1">
                <a:solidFill>
                  <a:srgbClr val="3B3A39"/>
                </a:solidFill>
                <a:effectLst/>
                <a:latin typeface="Courier New" panose="02070309020205020404" pitchFamily="49" charset="0"/>
              </a:rPr>
              <a:t>X_Perimeter</a:t>
            </a:r>
            <a:r>
              <a:rPr lang="en-US" b="0" i="0" dirty="0">
                <a:solidFill>
                  <a:srgbClr val="3B3A39"/>
                </a:solidFill>
                <a:effectLst/>
                <a:latin typeface="Courier New" panose="02070309020205020404" pitchFamily="49" charset="0"/>
              </a:rPr>
              <a:t>', '</a:t>
            </a:r>
            <a:r>
              <a:rPr lang="en-US" b="0" i="0" dirty="0" err="1">
                <a:solidFill>
                  <a:srgbClr val="3B3A39"/>
                </a:solidFill>
                <a:effectLst/>
                <a:latin typeface="Courier New" panose="02070309020205020404" pitchFamily="49" charset="0"/>
              </a:rPr>
              <a:t>Y_Perimeter</a:t>
            </a:r>
            <a:r>
              <a:rPr lang="en-US" b="0" i="0" dirty="0">
                <a:solidFill>
                  <a:srgbClr val="3B3A39"/>
                </a:solidFill>
                <a:effectLst/>
                <a:latin typeface="Courier New" panose="02070309020205020404" pitchFamily="49" charset="0"/>
              </a:rPr>
              <a:t>', '</a:t>
            </a:r>
            <a:r>
              <a:rPr lang="en-US" b="0" i="0" dirty="0" err="1">
                <a:solidFill>
                  <a:srgbClr val="3B3A39"/>
                </a:solidFill>
                <a:effectLst/>
                <a:latin typeface="Courier New" panose="02070309020205020404" pitchFamily="49" charset="0"/>
              </a:rPr>
              <a:t>Sum_of_Luminosity</a:t>
            </a:r>
            <a:r>
              <a:rPr lang="en-US" b="0" i="0" dirty="0">
                <a:solidFill>
                  <a:srgbClr val="3B3A39"/>
                </a:solidFill>
                <a:effectLst/>
                <a:latin typeface="Courier New" panose="02070309020205020404" pitchFamily="49" charset="0"/>
              </a:rPr>
              <a:t>', '</a:t>
            </a:r>
            <a:r>
              <a:rPr lang="en-US" b="0" i="0" dirty="0" err="1">
                <a:solidFill>
                  <a:srgbClr val="3B3A39"/>
                </a:solidFill>
                <a:effectLst/>
                <a:latin typeface="Courier New" panose="02070309020205020404" pitchFamily="49" charset="0"/>
              </a:rPr>
              <a:t>Minimum_of_Luminosity</a:t>
            </a:r>
            <a:r>
              <a:rPr lang="en-US" b="0" i="0" dirty="0">
                <a:solidFill>
                  <a:srgbClr val="3B3A39"/>
                </a:solidFill>
                <a:effectLst/>
                <a:latin typeface="Courier New" panose="02070309020205020404" pitchFamily="49" charset="0"/>
              </a:rPr>
              <a:t>', 'TypeOfSteel_A400', '</a:t>
            </a:r>
            <a:r>
              <a:rPr lang="en-US" b="0" i="0" dirty="0" err="1">
                <a:solidFill>
                  <a:srgbClr val="3B3A39"/>
                </a:solidFill>
                <a:effectLst/>
                <a:latin typeface="Courier New" panose="02070309020205020404" pitchFamily="49" charset="0"/>
              </a:rPr>
              <a:t>Steel_Plate_Thickness</a:t>
            </a:r>
            <a:r>
              <a:rPr lang="en-US" b="0" i="0" dirty="0">
                <a:solidFill>
                  <a:srgbClr val="3B3A39"/>
                </a:solidFill>
                <a:effectLst/>
                <a:latin typeface="Courier New" panose="02070309020205020404" pitchFamily="49" charset="0"/>
              </a:rPr>
              <a:t>', '</a:t>
            </a:r>
            <a:r>
              <a:rPr lang="en-US" b="0" i="0" dirty="0" err="1">
                <a:solidFill>
                  <a:srgbClr val="3B3A39"/>
                </a:solidFill>
                <a:effectLst/>
                <a:latin typeface="Courier New" panose="02070309020205020404" pitchFamily="49" charset="0"/>
              </a:rPr>
              <a:t>Empty_Index</a:t>
            </a:r>
            <a:r>
              <a:rPr lang="en-US" b="0" i="0" dirty="0">
                <a:solidFill>
                  <a:srgbClr val="3B3A39"/>
                </a:solidFill>
                <a:effectLst/>
                <a:latin typeface="Courier New" panose="02070309020205020404" pitchFamily="49" charset="0"/>
              </a:rPr>
              <a:t>', '</a:t>
            </a:r>
            <a:r>
              <a:rPr lang="en-US" b="0" i="0" dirty="0" err="1">
                <a:solidFill>
                  <a:srgbClr val="3B3A39"/>
                </a:solidFill>
                <a:effectLst/>
                <a:latin typeface="Courier New" panose="02070309020205020404" pitchFamily="49" charset="0"/>
              </a:rPr>
              <a:t>Outside_X_Index</a:t>
            </a:r>
            <a:r>
              <a:rPr lang="en-US" b="0" i="0" dirty="0">
                <a:solidFill>
                  <a:srgbClr val="3B3A39"/>
                </a:solidFill>
                <a:effectLst/>
                <a:latin typeface="Courier New" panose="02070309020205020404" pitchFamily="49" charset="0"/>
              </a:rPr>
              <a:t>', '</a:t>
            </a:r>
            <a:r>
              <a:rPr lang="en-US" b="0" i="0" dirty="0" err="1">
                <a:solidFill>
                  <a:srgbClr val="3B3A39"/>
                </a:solidFill>
                <a:effectLst/>
                <a:latin typeface="Courier New" panose="02070309020205020404" pitchFamily="49" charset="0"/>
              </a:rPr>
              <a:t>Edges_X_Index</a:t>
            </a:r>
            <a:r>
              <a:rPr lang="en-US" b="0" i="0" dirty="0">
                <a:solidFill>
                  <a:srgbClr val="3B3A39"/>
                </a:solidFill>
                <a:effectLst/>
                <a:latin typeface="Courier New" panose="02070309020205020404" pitchFamily="49" charset="0"/>
              </a:rPr>
              <a:t>', '</a:t>
            </a:r>
            <a:r>
              <a:rPr lang="en-US" b="0" i="0" dirty="0" err="1">
                <a:solidFill>
                  <a:srgbClr val="3B3A39"/>
                </a:solidFill>
                <a:effectLst/>
                <a:latin typeface="Courier New" panose="02070309020205020404" pitchFamily="49" charset="0"/>
              </a:rPr>
              <a:t>Edges_Y_Index</a:t>
            </a:r>
            <a:r>
              <a:rPr lang="en-US" b="0" i="0" dirty="0">
                <a:solidFill>
                  <a:srgbClr val="3B3A39"/>
                </a:solidFill>
                <a:effectLst/>
                <a:latin typeface="Courier New" panose="02070309020205020404" pitchFamily="49" charset="0"/>
              </a:rPr>
              <a:t>', '</a:t>
            </a:r>
            <a:r>
              <a:rPr lang="en-US" b="0" i="0" dirty="0" err="1">
                <a:solidFill>
                  <a:srgbClr val="3B3A39"/>
                </a:solidFill>
                <a:effectLst/>
                <a:latin typeface="Courier New" panose="02070309020205020404" pitchFamily="49" charset="0"/>
              </a:rPr>
              <a:t>LogOfAreas</a:t>
            </a:r>
            <a:r>
              <a:rPr lang="en-US" b="0" i="0" dirty="0">
                <a:solidFill>
                  <a:srgbClr val="3B3A39"/>
                </a:solidFill>
                <a:effectLst/>
                <a:latin typeface="Courier New" panose="02070309020205020404" pitchFamily="49" charset="0"/>
              </a:rPr>
              <a:t>', '</a:t>
            </a:r>
            <a:r>
              <a:rPr lang="en-US" b="0" i="0" dirty="0" err="1">
                <a:solidFill>
                  <a:srgbClr val="3B3A39"/>
                </a:solidFill>
                <a:effectLst/>
                <a:latin typeface="Courier New" panose="02070309020205020404" pitchFamily="49" charset="0"/>
              </a:rPr>
              <a:t>Log_X_Index</a:t>
            </a:r>
            <a:r>
              <a:rPr lang="en-US" b="0" i="0" dirty="0">
                <a:solidFill>
                  <a:srgbClr val="3B3A39"/>
                </a:solidFill>
                <a:effectLst/>
                <a:latin typeface="Courier New" panose="02070309020205020404" pitchFamily="49" charset="0"/>
              </a:rPr>
              <a:t>', '</a:t>
            </a:r>
            <a:r>
              <a:rPr lang="en-US" b="0" i="0" dirty="0" err="1">
                <a:solidFill>
                  <a:srgbClr val="3B3A39"/>
                </a:solidFill>
                <a:effectLst/>
                <a:latin typeface="Courier New" panose="02070309020205020404" pitchFamily="49" charset="0"/>
              </a:rPr>
              <a:t>Log_Y_Index</a:t>
            </a:r>
            <a:r>
              <a:rPr lang="en-US" b="0" i="0" dirty="0">
                <a:solidFill>
                  <a:srgbClr val="3B3A39"/>
                </a:solidFill>
                <a:effectLst/>
                <a:latin typeface="Courier New" panose="02070309020205020404" pitchFamily="49" charset="0"/>
              </a:rPr>
              <a:t>', '</a:t>
            </a:r>
            <a:r>
              <a:rPr lang="en-US" b="0" i="0" dirty="0" err="1">
                <a:solidFill>
                  <a:srgbClr val="3B3A39"/>
                </a:solidFill>
                <a:effectLst/>
                <a:latin typeface="Courier New" panose="02070309020205020404" pitchFamily="49" charset="0"/>
              </a:rPr>
              <a:t>Orientation_Index</a:t>
            </a:r>
            <a:r>
              <a:rPr lang="en-US" b="0" i="0" dirty="0">
                <a:solidFill>
                  <a:srgbClr val="3B3A39"/>
                </a:solidFill>
                <a:effectLst/>
                <a:latin typeface="Courier New" panose="02070309020205020404" pitchFamily="49" charset="0"/>
              </a:rPr>
              <a:t>', '</a:t>
            </a:r>
            <a:r>
              <a:rPr lang="en-US" b="0" i="0" dirty="0" err="1">
                <a:solidFill>
                  <a:srgbClr val="3B3A39"/>
                </a:solidFill>
                <a:effectLst/>
                <a:latin typeface="Courier New" panose="02070309020205020404" pitchFamily="49" charset="0"/>
              </a:rPr>
              <a:t>Luminosity_Index</a:t>
            </a:r>
            <a:r>
              <a:rPr lang="en-US" b="0" i="0" dirty="0">
                <a:solidFill>
                  <a:srgbClr val="3B3A39"/>
                </a:solidFill>
                <a:effectLst/>
                <a:latin typeface="Courier New" panose="02070309020205020404" pitchFamily="49" charset="0"/>
              </a:rPr>
              <a:t>', '</a:t>
            </a:r>
            <a:r>
              <a:rPr lang="en-US" b="0" i="0" dirty="0" err="1">
                <a:solidFill>
                  <a:srgbClr val="3B3A39"/>
                </a:solidFill>
                <a:effectLst/>
                <a:latin typeface="Courier New" panose="02070309020205020404" pitchFamily="49" charset="0"/>
              </a:rPr>
              <a:t>SigmoidOfAreas</a:t>
            </a:r>
            <a:r>
              <a:rPr lang="en-US" b="0" i="0" dirty="0">
                <a:solidFill>
                  <a:srgbClr val="3B3A39"/>
                </a:solidFill>
                <a:effectLst/>
                <a:latin typeface="Courier New" panose="02070309020205020404" pitchFamily="49" charset="0"/>
              </a:rPr>
              <a:t>', '</a:t>
            </a:r>
            <a:r>
              <a:rPr lang="en-US" b="0" i="0" dirty="0" err="1">
                <a:solidFill>
                  <a:srgbClr val="3B3A39"/>
                </a:solidFill>
                <a:effectLst/>
                <a:latin typeface="Courier New" panose="02070309020205020404" pitchFamily="49" charset="0"/>
              </a:rPr>
              <a:t>K_Scatch</a:t>
            </a:r>
            <a:r>
              <a:rPr lang="en-US" b="0" i="0" dirty="0">
                <a:solidFill>
                  <a:srgbClr val="3B3A39"/>
                </a:solidFill>
                <a:effectLst/>
                <a:latin typeface="Courier New" panose="02070309020205020404" pitchFamily="49" charset="0"/>
              </a:rPr>
              <a:t>', '</a:t>
            </a:r>
            <a:r>
              <a:rPr lang="en-US" b="0" i="0" dirty="0" err="1">
                <a:solidFill>
                  <a:srgbClr val="3B3A39"/>
                </a:solidFill>
                <a:effectLst/>
                <a:latin typeface="Courier New" panose="02070309020205020404" pitchFamily="49" charset="0"/>
              </a:rPr>
              <a:t>Geometric_Symmetry</a:t>
            </a:r>
            <a:r>
              <a:rPr lang="en-US" b="0" i="0" dirty="0">
                <a:solidFill>
                  <a:srgbClr val="3B3A39"/>
                </a:solidFill>
                <a:effectLst/>
                <a:latin typeface="Courier New" panose="02070309020205020404" pitchFamily="49" charset="0"/>
              </a:rPr>
              <a:t>', '</a:t>
            </a:r>
            <a:r>
              <a:rPr lang="en-US" b="0" i="0" dirty="0" err="1">
                <a:solidFill>
                  <a:srgbClr val="3B3A39"/>
                </a:solidFill>
                <a:effectLst/>
                <a:latin typeface="Courier New" panose="02070309020205020404" pitchFamily="49" charset="0"/>
              </a:rPr>
              <a:t>Global_Edge_Index</a:t>
            </a:r>
            <a:r>
              <a:rPr lang="en-US" b="0" i="0" dirty="0">
                <a:solidFill>
                  <a:srgbClr val="3B3A39"/>
                </a:solidFill>
                <a:effectLst/>
                <a:latin typeface="Courier New" panose="02070309020205020404" pitchFamily="49" charset="0"/>
              </a:rPr>
              <a:t>', '</a:t>
            </a:r>
            <a:r>
              <a:rPr lang="en-US" b="0" i="0" dirty="0" err="1">
                <a:solidFill>
                  <a:srgbClr val="3B3A39"/>
                </a:solidFill>
                <a:effectLst/>
                <a:latin typeface="Courier New" panose="02070309020205020404" pitchFamily="49" charset="0"/>
              </a:rPr>
              <a:t>Luminosity_Deviation</a:t>
            </a:r>
            <a:r>
              <a:rPr lang="en-US" b="0" i="0" dirty="0">
                <a:solidFill>
                  <a:srgbClr val="3B3A39"/>
                </a:solidFill>
                <a:effectLst/>
                <a:latin typeface="Courier New" panose="02070309020205020404" pitchFamily="49" charset="0"/>
              </a:rPr>
              <a:t>']</a:t>
            </a:r>
            <a:endParaRPr lang="en-001" dirty="0"/>
          </a:p>
        </p:txBody>
      </p:sp>
    </p:spTree>
    <p:extLst>
      <p:ext uri="{BB962C8B-B14F-4D97-AF65-F5344CB8AC3E}">
        <p14:creationId xmlns:p14="http://schemas.microsoft.com/office/powerpoint/2010/main" val="8983374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7B859-EDFB-C3BF-3B99-088A583FD054}"/>
              </a:ext>
            </a:extLst>
          </p:cNvPr>
          <p:cNvSpPr>
            <a:spLocks noGrp="1"/>
          </p:cNvSpPr>
          <p:nvPr>
            <p:ph type="title"/>
          </p:nvPr>
        </p:nvSpPr>
        <p:spPr/>
        <p:txBody>
          <a:bodyPr/>
          <a:lstStyle/>
          <a:p>
            <a:r>
              <a:rPr lang="en-US" dirty="0"/>
              <a:t>Model Building ,training and testing</a:t>
            </a:r>
            <a:endParaRPr lang="en-001" dirty="0"/>
          </a:p>
        </p:txBody>
      </p:sp>
      <p:sp>
        <p:nvSpPr>
          <p:cNvPr id="3" name="Content Placeholder 2">
            <a:extLst>
              <a:ext uri="{FF2B5EF4-FFF2-40B4-BE49-F238E27FC236}">
                <a16:creationId xmlns:a16="http://schemas.microsoft.com/office/drawing/2014/main" id="{CA24889C-E3E8-F278-461E-0574FFF571FF}"/>
              </a:ext>
            </a:extLst>
          </p:cNvPr>
          <p:cNvSpPr>
            <a:spLocks noGrp="1"/>
          </p:cNvSpPr>
          <p:nvPr>
            <p:ph idx="1"/>
          </p:nvPr>
        </p:nvSpPr>
        <p:spPr>
          <a:xfrm>
            <a:off x="838200" y="2807495"/>
            <a:ext cx="10515600" cy="4351338"/>
          </a:xfrm>
        </p:spPr>
        <p:txBody>
          <a:bodyPr/>
          <a:lstStyle/>
          <a:p>
            <a:r>
              <a:rPr lang="en-US" b="0" i="0" dirty="0">
                <a:solidFill>
                  <a:srgbClr val="3B3A39"/>
                </a:solidFill>
                <a:effectLst/>
                <a:latin typeface="-apple-system"/>
              </a:rPr>
              <a:t>Train Test Split</a:t>
            </a:r>
          </a:p>
          <a:p>
            <a:r>
              <a:rPr lang="en-US" dirty="0">
                <a:solidFill>
                  <a:srgbClr val="3B3A39"/>
                </a:solidFill>
                <a:latin typeface="-apple-system"/>
              </a:rPr>
              <a:t>I tried many models and I am collectively showing all my models ahead.</a:t>
            </a:r>
          </a:p>
          <a:p>
            <a:endParaRPr lang="en-001" dirty="0"/>
          </a:p>
        </p:txBody>
      </p:sp>
      <p:sp>
        <p:nvSpPr>
          <p:cNvPr id="6" name="Rectangle 3">
            <a:extLst>
              <a:ext uri="{FF2B5EF4-FFF2-40B4-BE49-F238E27FC236}">
                <a16:creationId xmlns:a16="http://schemas.microsoft.com/office/drawing/2014/main" id="{54E0171D-4826-A9D5-6B16-3649B50CE1DA}"/>
              </a:ext>
            </a:extLst>
          </p:cNvPr>
          <p:cNvSpPr>
            <a:spLocks noChangeArrowheads="1"/>
          </p:cNvSpPr>
          <p:nvPr/>
        </p:nvSpPr>
        <p:spPr bwMode="auto">
          <a:xfrm>
            <a:off x="1054259" y="4193698"/>
            <a:ext cx="10515601" cy="73866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001" altLang="en-001" sz="3000" b="0" i="0" u="none" strike="noStrike" cap="none" normalizeH="0" baseline="0" dirty="0">
                <a:ln>
                  <a:noFill/>
                </a:ln>
                <a:solidFill>
                  <a:schemeClr val="tx1"/>
                </a:solidFill>
                <a:effectLst/>
                <a:latin typeface="-apple-system"/>
              </a:rPr>
              <a:t>MODELS TRAINED - initial ( </a:t>
            </a:r>
            <a:r>
              <a:rPr kumimoji="0" lang="en-001" altLang="en-001" sz="3000" b="0" i="0" u="none" strike="noStrike" cap="none" normalizeH="0" baseline="0" dirty="0" err="1">
                <a:ln>
                  <a:noFill/>
                </a:ln>
                <a:solidFill>
                  <a:schemeClr val="tx1"/>
                </a:solidFill>
                <a:effectLst/>
                <a:latin typeface="-apple-system"/>
              </a:rPr>
              <a:t>xgboost</a:t>
            </a:r>
            <a:r>
              <a:rPr kumimoji="0" lang="en-001" altLang="en-001" sz="3000" b="0" i="0" u="none" strike="noStrike" cap="none" normalizeH="0" baseline="0" dirty="0">
                <a:ln>
                  <a:noFill/>
                </a:ln>
                <a:solidFill>
                  <a:schemeClr val="tx1"/>
                </a:solidFill>
                <a:effectLst/>
                <a:latin typeface="-apple-system"/>
              </a:rPr>
              <a:t> , </a:t>
            </a:r>
            <a:r>
              <a:rPr kumimoji="0" lang="en-001" altLang="en-001" sz="3000" b="0" i="0" u="none" strike="noStrike" cap="none" normalizeH="0" baseline="0" dirty="0" err="1">
                <a:ln>
                  <a:noFill/>
                </a:ln>
                <a:solidFill>
                  <a:schemeClr val="tx1"/>
                </a:solidFill>
                <a:effectLst/>
                <a:latin typeface="-apple-system"/>
              </a:rPr>
              <a:t>catboost</a:t>
            </a:r>
            <a:r>
              <a:rPr kumimoji="0" lang="en-001" altLang="en-001" sz="3000" b="0" i="0" u="none" strike="noStrike" cap="none" normalizeH="0" baseline="0" dirty="0">
                <a:ln>
                  <a:noFill/>
                </a:ln>
                <a:solidFill>
                  <a:schemeClr val="tx1"/>
                </a:solidFill>
                <a:effectLst/>
                <a:latin typeface="-apple-system"/>
              </a:rPr>
              <a:t> , random forest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001" altLang="en-001" sz="1800" b="0" i="0" u="none" strike="noStrike" cap="none" normalizeH="0" baseline="0" dirty="0">
              <a:ln>
                <a:noFill/>
              </a:ln>
              <a:solidFill>
                <a:schemeClr val="tx1"/>
              </a:solidFill>
              <a:effectLst/>
              <a:latin typeface="Arial" panose="020B0604020202020204" pitchFamily="34" charset="0"/>
            </a:endParaRPr>
          </a:p>
        </p:txBody>
      </p:sp>
      <p:sp>
        <p:nvSpPr>
          <p:cNvPr id="7" name="Rectangle 4">
            <a:extLst>
              <a:ext uri="{FF2B5EF4-FFF2-40B4-BE49-F238E27FC236}">
                <a16:creationId xmlns:a16="http://schemas.microsoft.com/office/drawing/2014/main" id="{1F72C6C6-1E8E-D54A-6DB0-83FE2D1B735E}"/>
              </a:ext>
            </a:extLst>
          </p:cNvPr>
          <p:cNvSpPr>
            <a:spLocks noChangeArrowheads="1"/>
          </p:cNvSpPr>
          <p:nvPr/>
        </p:nvSpPr>
        <p:spPr bwMode="auto">
          <a:xfrm flipV="1">
            <a:off x="1180618" y="3657341"/>
            <a:ext cx="10671858"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001" altLang="en-001" sz="800" b="0" i="0" u="none" strike="noStrike" cap="none" normalizeH="0" baseline="0">
                <a:ln>
                  <a:noFill/>
                </a:ln>
                <a:solidFill>
                  <a:schemeClr val="tx1"/>
                </a:solidFill>
                <a:effectLst/>
              </a:rPr>
            </a:br>
            <a:endParaRPr kumimoji="0" lang="en-001" altLang="en-001" sz="1800" b="0" i="0" u="none" strike="noStrike" cap="none" normalizeH="0" baseline="0">
              <a:ln>
                <a:noFill/>
              </a:ln>
              <a:solidFill>
                <a:schemeClr val="tx1"/>
              </a:solidFill>
              <a:effectLst/>
              <a:latin typeface="Arial" panose="020B0604020202020204" pitchFamily="34" charset="0"/>
            </a:endParaRPr>
          </a:p>
        </p:txBody>
      </p:sp>
      <p:sp>
        <p:nvSpPr>
          <p:cNvPr id="8" name="Rectangle 5">
            <a:extLst>
              <a:ext uri="{FF2B5EF4-FFF2-40B4-BE49-F238E27FC236}">
                <a16:creationId xmlns:a16="http://schemas.microsoft.com/office/drawing/2014/main" id="{056A0D85-FB93-7B15-E908-A84B7F249D6C}"/>
              </a:ext>
            </a:extLst>
          </p:cNvPr>
          <p:cNvSpPr>
            <a:spLocks noChangeArrowheads="1"/>
          </p:cNvSpPr>
          <p:nvPr/>
        </p:nvSpPr>
        <p:spPr bwMode="auto">
          <a:xfrm>
            <a:off x="1020015" y="4692517"/>
            <a:ext cx="9584805" cy="73866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001" altLang="en-001" sz="3000" b="0" i="0" u="none" strike="noStrike" cap="none" normalizeH="0" baseline="0" dirty="0">
                <a:ln>
                  <a:noFill/>
                </a:ln>
                <a:solidFill>
                  <a:srgbClr val="323130"/>
                </a:solidFill>
                <a:effectLst/>
                <a:latin typeface="-apple-system"/>
                <a:cs typeface="Segoe UI" panose="020B0502040204020203" pitchFamily="34" charset="0"/>
              </a:rPr>
              <a:t>using SVM (KERNEL TRICK thanks)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001" altLang="en-001" sz="1800" b="0" i="0" u="none" strike="noStrike" cap="none" normalizeH="0" baseline="0" dirty="0">
              <a:ln>
                <a:noFill/>
              </a:ln>
              <a:solidFill>
                <a:schemeClr val="tx1"/>
              </a:solidFill>
              <a:effectLst/>
              <a:latin typeface="Arial" panose="020B0604020202020204" pitchFamily="34" charset="0"/>
            </a:endParaRPr>
          </a:p>
        </p:txBody>
      </p:sp>
      <p:sp>
        <p:nvSpPr>
          <p:cNvPr id="9" name="Rectangle 6">
            <a:extLst>
              <a:ext uri="{FF2B5EF4-FFF2-40B4-BE49-F238E27FC236}">
                <a16:creationId xmlns:a16="http://schemas.microsoft.com/office/drawing/2014/main" id="{6C153FD3-B30D-5701-AFF5-2DCF274F1214}"/>
              </a:ext>
            </a:extLst>
          </p:cNvPr>
          <p:cNvSpPr>
            <a:spLocks noChangeArrowheads="1"/>
          </p:cNvSpPr>
          <p:nvPr/>
        </p:nvSpPr>
        <p:spPr bwMode="auto">
          <a:xfrm flipV="1">
            <a:off x="994456" y="4490721"/>
            <a:ext cx="9584805"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001" altLang="en-001" sz="800" b="0" i="0" u="none" strike="noStrike" cap="none" normalizeH="0" baseline="0">
                <a:ln>
                  <a:noFill/>
                </a:ln>
                <a:solidFill>
                  <a:schemeClr val="tx1"/>
                </a:solidFill>
                <a:effectLst/>
              </a:rPr>
            </a:br>
            <a:endParaRPr kumimoji="0" lang="en-001" altLang="en-001" sz="1800" b="0" i="0" u="none" strike="noStrike" cap="none" normalizeH="0" baseline="0">
              <a:ln>
                <a:noFill/>
              </a:ln>
              <a:solidFill>
                <a:schemeClr val="tx1"/>
              </a:solidFill>
              <a:effectLst/>
              <a:latin typeface="Arial" panose="020B0604020202020204" pitchFamily="34" charset="0"/>
            </a:endParaRPr>
          </a:p>
        </p:txBody>
      </p:sp>
      <p:sp>
        <p:nvSpPr>
          <p:cNvPr id="13" name="TextBox 12">
            <a:extLst>
              <a:ext uri="{FF2B5EF4-FFF2-40B4-BE49-F238E27FC236}">
                <a16:creationId xmlns:a16="http://schemas.microsoft.com/office/drawing/2014/main" id="{310F096F-28BA-6C55-91E3-72C4058BC592}"/>
              </a:ext>
            </a:extLst>
          </p:cNvPr>
          <p:cNvSpPr txBox="1"/>
          <p:nvPr/>
        </p:nvSpPr>
        <p:spPr>
          <a:xfrm>
            <a:off x="838200" y="5431181"/>
            <a:ext cx="6094070" cy="325923"/>
          </a:xfrm>
          <a:prstGeom prst="rect">
            <a:avLst/>
          </a:prstGeom>
          <a:noFill/>
        </p:spPr>
        <p:txBody>
          <a:bodyPr wrap="square">
            <a:spAutoFit/>
          </a:bodyPr>
          <a:lstStyle/>
          <a:p>
            <a:pPr>
              <a:lnSpc>
                <a:spcPts val="1350"/>
              </a:lnSpc>
            </a:pPr>
            <a:r>
              <a:rPr lang="en-US" b="0" dirty="0">
                <a:solidFill>
                  <a:srgbClr val="0000FF"/>
                </a:solidFill>
                <a:effectLst/>
                <a:latin typeface="Consolas" panose="020B0609020204030204" pitchFamily="49" charset="0"/>
              </a:rPr>
              <a:t> </a:t>
            </a:r>
            <a:r>
              <a:rPr lang="en-US" sz="3000" dirty="0">
                <a:latin typeface="Consolas" panose="020B0609020204030204" pitchFamily="49" charset="0"/>
              </a:rPr>
              <a:t>A</a:t>
            </a:r>
            <a:r>
              <a:rPr lang="en-US" sz="3000" b="0" dirty="0">
                <a:effectLst/>
                <a:latin typeface="Consolas" panose="020B0609020204030204" pitchFamily="49" charset="0"/>
              </a:rPr>
              <a:t>dvanced methodology </a:t>
            </a:r>
          </a:p>
        </p:txBody>
      </p:sp>
      <p:sp>
        <p:nvSpPr>
          <p:cNvPr id="14" name="Content Placeholder 2">
            <a:extLst>
              <a:ext uri="{FF2B5EF4-FFF2-40B4-BE49-F238E27FC236}">
                <a16:creationId xmlns:a16="http://schemas.microsoft.com/office/drawing/2014/main" id="{182C51C3-1082-6FD2-DF5F-9E789E826AB2}"/>
              </a:ext>
            </a:extLst>
          </p:cNvPr>
          <p:cNvSpPr txBox="1">
            <a:spLocks/>
          </p:cNvSpPr>
          <p:nvPr/>
        </p:nvSpPr>
        <p:spPr>
          <a:xfrm>
            <a:off x="838200" y="1328541"/>
            <a:ext cx="10515600" cy="163716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err="1">
                <a:solidFill>
                  <a:srgbClr val="3B3A39"/>
                </a:solidFill>
                <a:latin typeface="Courier New" panose="02070309020205020404" pitchFamily="49" charset="0"/>
              </a:rPr>
              <a:t>X_train</a:t>
            </a:r>
            <a:r>
              <a:rPr lang="en-US" dirty="0">
                <a:solidFill>
                  <a:srgbClr val="3B3A39"/>
                </a:solidFill>
                <a:latin typeface="Courier New" panose="02070309020205020404" pitchFamily="49" charset="0"/>
              </a:rPr>
              <a:t> shape: (19043, 34) </a:t>
            </a:r>
            <a:r>
              <a:rPr lang="en-US" dirty="0" err="1">
                <a:solidFill>
                  <a:srgbClr val="3B3A39"/>
                </a:solidFill>
                <a:latin typeface="Courier New" panose="02070309020205020404" pitchFamily="49" charset="0"/>
              </a:rPr>
              <a:t>X_test</a:t>
            </a:r>
            <a:r>
              <a:rPr lang="en-US" dirty="0">
                <a:solidFill>
                  <a:srgbClr val="3B3A39"/>
                </a:solidFill>
                <a:latin typeface="Courier New" panose="02070309020205020404" pitchFamily="49" charset="0"/>
              </a:rPr>
              <a:t> shape: (2116, 34) </a:t>
            </a:r>
            <a:r>
              <a:rPr lang="en-US" dirty="0" err="1">
                <a:solidFill>
                  <a:srgbClr val="3B3A39"/>
                </a:solidFill>
                <a:latin typeface="Courier New" panose="02070309020205020404" pitchFamily="49" charset="0"/>
              </a:rPr>
              <a:t>y_train</a:t>
            </a:r>
            <a:r>
              <a:rPr lang="en-US" dirty="0">
                <a:solidFill>
                  <a:srgbClr val="3B3A39"/>
                </a:solidFill>
                <a:latin typeface="Courier New" panose="02070309020205020404" pitchFamily="49" charset="0"/>
              </a:rPr>
              <a:t> shape: (19043, 7) </a:t>
            </a:r>
            <a:r>
              <a:rPr lang="en-US" dirty="0" err="1">
                <a:solidFill>
                  <a:srgbClr val="3B3A39"/>
                </a:solidFill>
                <a:latin typeface="Courier New" panose="02070309020205020404" pitchFamily="49" charset="0"/>
              </a:rPr>
              <a:t>y_test</a:t>
            </a:r>
            <a:r>
              <a:rPr lang="en-US" dirty="0">
                <a:solidFill>
                  <a:srgbClr val="3B3A39"/>
                </a:solidFill>
                <a:latin typeface="Courier New" panose="02070309020205020404" pitchFamily="49" charset="0"/>
              </a:rPr>
              <a:t> shape: (2116, 7) The shape of Train data is (21159, 35) The shape of Test data is (12814, 35)</a:t>
            </a:r>
            <a:endParaRPr lang="en-001" dirty="0"/>
          </a:p>
        </p:txBody>
      </p:sp>
    </p:spTree>
    <p:extLst>
      <p:ext uri="{BB962C8B-B14F-4D97-AF65-F5344CB8AC3E}">
        <p14:creationId xmlns:p14="http://schemas.microsoft.com/office/powerpoint/2010/main" val="775010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550A3-F3FA-4C43-CF40-868839837BB6}"/>
              </a:ext>
            </a:extLst>
          </p:cNvPr>
          <p:cNvSpPr>
            <a:spLocks noGrp="1"/>
          </p:cNvSpPr>
          <p:nvPr>
            <p:ph type="title"/>
          </p:nvPr>
        </p:nvSpPr>
        <p:spPr/>
        <p:txBody>
          <a:bodyPr/>
          <a:lstStyle/>
          <a:p>
            <a:r>
              <a:rPr lang="en-US" b="1" u="sng" dirty="0"/>
              <a:t>Results and Discussions </a:t>
            </a:r>
            <a:endParaRPr lang="en-001" b="1" u="sng" dirty="0"/>
          </a:p>
        </p:txBody>
      </p:sp>
      <p:pic>
        <p:nvPicPr>
          <p:cNvPr id="16386" name="Picture 2">
            <a:extLst>
              <a:ext uri="{FF2B5EF4-FFF2-40B4-BE49-F238E27FC236}">
                <a16:creationId xmlns:a16="http://schemas.microsoft.com/office/drawing/2014/main" id="{747ED85F-52D7-6CDF-F400-088F37C41F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07666" y="2282625"/>
            <a:ext cx="3541853" cy="2822317"/>
          </a:xfrm>
          <a:prstGeom prst="rect">
            <a:avLst/>
          </a:prstGeom>
          <a:noFill/>
          <a:extLst>
            <a:ext uri="{909E8E84-426E-40DD-AFC4-6F175D3DCCD1}">
              <a14:hiddenFill xmlns:a14="http://schemas.microsoft.com/office/drawing/2010/main">
                <a:solidFill>
                  <a:srgbClr val="FFFFFF"/>
                </a:solidFill>
              </a14:hiddenFill>
            </a:ext>
          </a:extLst>
        </p:spPr>
      </p:pic>
      <p:pic>
        <p:nvPicPr>
          <p:cNvPr id="16388" name="Picture 4">
            <a:extLst>
              <a:ext uri="{FF2B5EF4-FFF2-40B4-BE49-F238E27FC236}">
                <a16:creationId xmlns:a16="http://schemas.microsoft.com/office/drawing/2014/main" id="{E9AA8AF6-22B9-EC82-E141-27698611F4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738453"/>
            <a:ext cx="4907666" cy="3910662"/>
          </a:xfrm>
          <a:prstGeom prst="rect">
            <a:avLst/>
          </a:prstGeom>
          <a:noFill/>
          <a:extLst>
            <a:ext uri="{909E8E84-426E-40DD-AFC4-6F175D3DCCD1}">
              <a14:hiddenFill xmlns:a14="http://schemas.microsoft.com/office/drawing/2010/main">
                <a:solidFill>
                  <a:srgbClr val="FFFFFF"/>
                </a:solidFill>
              </a14:hiddenFill>
            </a:ext>
          </a:extLst>
        </p:spPr>
      </p:pic>
      <p:pic>
        <p:nvPicPr>
          <p:cNvPr id="16390" name="Picture 6">
            <a:extLst>
              <a:ext uri="{FF2B5EF4-FFF2-40B4-BE49-F238E27FC236}">
                <a16:creationId xmlns:a16="http://schemas.microsoft.com/office/drawing/2014/main" id="{A6507B48-C535-B5C1-99C5-55ADCA2BFB0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32216" y="2282624"/>
            <a:ext cx="3541852" cy="28223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02744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CCE3E-BC08-0D22-C1C6-8CBF9DC6ECD1}"/>
              </a:ext>
            </a:extLst>
          </p:cNvPr>
          <p:cNvSpPr>
            <a:spLocks noGrp="1"/>
          </p:cNvSpPr>
          <p:nvPr>
            <p:ph type="title"/>
          </p:nvPr>
        </p:nvSpPr>
        <p:spPr/>
        <p:txBody>
          <a:bodyPr/>
          <a:lstStyle/>
          <a:p>
            <a:r>
              <a:rPr lang="en-US" dirty="0"/>
              <a:t>Performance evaluation.</a:t>
            </a:r>
            <a:endParaRPr lang="en-001" dirty="0"/>
          </a:p>
        </p:txBody>
      </p:sp>
      <p:pic>
        <p:nvPicPr>
          <p:cNvPr id="5" name="Content Placeholder 4">
            <a:extLst>
              <a:ext uri="{FF2B5EF4-FFF2-40B4-BE49-F238E27FC236}">
                <a16:creationId xmlns:a16="http://schemas.microsoft.com/office/drawing/2014/main" id="{03CF059A-25B6-FF6C-CC14-8026C11A7B10}"/>
              </a:ext>
            </a:extLst>
          </p:cNvPr>
          <p:cNvPicPr>
            <a:picLocks noGrp="1" noChangeAspect="1"/>
          </p:cNvPicPr>
          <p:nvPr>
            <p:ph idx="1"/>
          </p:nvPr>
        </p:nvPicPr>
        <p:blipFill>
          <a:blip r:embed="rId2"/>
          <a:stretch>
            <a:fillRect/>
          </a:stretch>
        </p:blipFill>
        <p:spPr>
          <a:xfrm>
            <a:off x="239813" y="1966199"/>
            <a:ext cx="6509453" cy="2027067"/>
          </a:xfrm>
        </p:spPr>
      </p:pic>
      <p:pic>
        <p:nvPicPr>
          <p:cNvPr id="17410" name="Picture 2">
            <a:extLst>
              <a:ext uri="{FF2B5EF4-FFF2-40B4-BE49-F238E27FC236}">
                <a16:creationId xmlns:a16="http://schemas.microsoft.com/office/drawing/2014/main" id="{0150D555-C233-86E5-CCF8-05AAC236DD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75337" y="1690688"/>
            <a:ext cx="5276850" cy="4333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40573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26B27-3909-E3CB-E088-AEC760C19F1D}"/>
              </a:ext>
            </a:extLst>
          </p:cNvPr>
          <p:cNvSpPr>
            <a:spLocks noGrp="1"/>
          </p:cNvSpPr>
          <p:nvPr>
            <p:ph type="title"/>
          </p:nvPr>
        </p:nvSpPr>
        <p:spPr/>
        <p:txBody>
          <a:bodyPr/>
          <a:lstStyle/>
          <a:p>
            <a:r>
              <a:rPr lang="en-US" b="0" i="0" dirty="0">
                <a:solidFill>
                  <a:srgbClr val="3B3A39"/>
                </a:solidFill>
                <a:effectLst/>
                <a:latin typeface="-apple-system"/>
              </a:rPr>
              <a:t>SVM (KERNEL TRICK thanks)</a:t>
            </a:r>
            <a:br>
              <a:rPr lang="en-US" b="0" i="0" dirty="0">
                <a:solidFill>
                  <a:srgbClr val="3B3A39"/>
                </a:solidFill>
                <a:effectLst/>
                <a:latin typeface="-apple-system"/>
              </a:rPr>
            </a:br>
            <a:endParaRPr lang="en-001" dirty="0"/>
          </a:p>
        </p:txBody>
      </p:sp>
      <p:pic>
        <p:nvPicPr>
          <p:cNvPr id="5" name="Content Placeholder 4">
            <a:extLst>
              <a:ext uri="{FF2B5EF4-FFF2-40B4-BE49-F238E27FC236}">
                <a16:creationId xmlns:a16="http://schemas.microsoft.com/office/drawing/2014/main" id="{8C118746-7679-1774-C196-28FCB9229A8F}"/>
              </a:ext>
            </a:extLst>
          </p:cNvPr>
          <p:cNvPicPr>
            <a:picLocks noGrp="1" noChangeAspect="1"/>
          </p:cNvPicPr>
          <p:nvPr>
            <p:ph idx="1"/>
          </p:nvPr>
        </p:nvPicPr>
        <p:blipFill>
          <a:blip r:embed="rId2"/>
          <a:stretch>
            <a:fillRect/>
          </a:stretch>
        </p:blipFill>
        <p:spPr>
          <a:xfrm>
            <a:off x="838200" y="1204904"/>
            <a:ext cx="4662438" cy="2224095"/>
          </a:xfrm>
        </p:spPr>
      </p:pic>
      <p:pic>
        <p:nvPicPr>
          <p:cNvPr id="18434" name="Picture 2">
            <a:extLst>
              <a:ext uri="{FF2B5EF4-FFF2-40B4-BE49-F238E27FC236}">
                <a16:creationId xmlns:a16="http://schemas.microsoft.com/office/drawing/2014/main" id="{4589C452-930B-CCFB-0165-2FF5834579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93631" y="1027906"/>
            <a:ext cx="5524500" cy="433387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Table 5">
            <a:extLst>
              <a:ext uri="{FF2B5EF4-FFF2-40B4-BE49-F238E27FC236}">
                <a16:creationId xmlns:a16="http://schemas.microsoft.com/office/drawing/2014/main" id="{83E2DDBF-C4DB-4ED8-F029-3A978045C98C}"/>
              </a:ext>
            </a:extLst>
          </p:cNvPr>
          <p:cNvGraphicFramePr>
            <a:graphicFrameLocks noGrp="1"/>
          </p:cNvGraphicFramePr>
          <p:nvPr>
            <p:extLst>
              <p:ext uri="{D42A27DB-BD31-4B8C-83A1-F6EECF244321}">
                <p14:modId xmlns:p14="http://schemas.microsoft.com/office/powerpoint/2010/main" val="3995470512"/>
              </p:ext>
            </p:extLst>
          </p:nvPr>
        </p:nvGraphicFramePr>
        <p:xfrm>
          <a:off x="673869" y="3321934"/>
          <a:ext cx="5044026" cy="2702628"/>
        </p:xfrm>
        <a:graphic>
          <a:graphicData uri="http://schemas.openxmlformats.org/drawingml/2006/table">
            <a:tbl>
              <a:tblPr/>
              <a:tblGrid>
                <a:gridCol w="1681342">
                  <a:extLst>
                    <a:ext uri="{9D8B030D-6E8A-4147-A177-3AD203B41FA5}">
                      <a16:colId xmlns:a16="http://schemas.microsoft.com/office/drawing/2014/main" val="211018814"/>
                    </a:ext>
                  </a:extLst>
                </a:gridCol>
                <a:gridCol w="1681342">
                  <a:extLst>
                    <a:ext uri="{9D8B030D-6E8A-4147-A177-3AD203B41FA5}">
                      <a16:colId xmlns:a16="http://schemas.microsoft.com/office/drawing/2014/main" val="1771277113"/>
                    </a:ext>
                  </a:extLst>
                </a:gridCol>
                <a:gridCol w="1681342">
                  <a:extLst>
                    <a:ext uri="{9D8B030D-6E8A-4147-A177-3AD203B41FA5}">
                      <a16:colId xmlns:a16="http://schemas.microsoft.com/office/drawing/2014/main" val="3036890549"/>
                    </a:ext>
                  </a:extLst>
                </a:gridCol>
              </a:tblGrid>
              <a:tr h="450438">
                <a:tc>
                  <a:txBody>
                    <a:bodyPr/>
                    <a:lstStyle/>
                    <a:p>
                      <a:pPr algn="ctr"/>
                      <a:r>
                        <a:rPr lang="en-US" dirty="0">
                          <a:effectLst/>
                        </a:rPr>
                        <a:t>Model</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a:r>
                        <a:rPr lang="en-US">
                          <a:effectLst/>
                        </a:rPr>
                        <a:t>AUC</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ctr"/>
                      <a:r>
                        <a:rPr lang="en-US">
                          <a:effectLst/>
                        </a:rPr>
                        <a:t>Accuracy</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3186576072"/>
                  </a:ext>
                </a:extLst>
              </a:tr>
              <a:tr h="450438">
                <a:tc>
                  <a:txBody>
                    <a:bodyPr/>
                    <a:lstStyle/>
                    <a:p>
                      <a:pPr algn="ctr"/>
                      <a:r>
                        <a:rPr lang="en-US" dirty="0">
                          <a:effectLst/>
                        </a:rPr>
                        <a:t>Random Forest</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001" dirty="0">
                          <a:effectLst/>
                        </a:rPr>
                        <a:t>0.8460</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001">
                          <a:effectLst/>
                        </a:rPr>
                        <a:t>0.5898</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60972006"/>
                  </a:ext>
                </a:extLst>
              </a:tr>
              <a:tr h="450438">
                <a:tc>
                  <a:txBody>
                    <a:bodyPr/>
                    <a:lstStyle/>
                    <a:p>
                      <a:pPr algn="ctr"/>
                      <a:r>
                        <a:rPr lang="en-US">
                          <a:effectLst/>
                        </a:rPr>
                        <a:t>XGBoost</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001" dirty="0">
                          <a:effectLst/>
                        </a:rPr>
                        <a:t>0.8593</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001">
                          <a:effectLst/>
                        </a:rPr>
                        <a:t>0.5931</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32462525"/>
                  </a:ext>
                </a:extLst>
              </a:tr>
              <a:tr h="450438">
                <a:tc>
                  <a:txBody>
                    <a:bodyPr/>
                    <a:lstStyle/>
                    <a:p>
                      <a:pPr algn="ctr"/>
                      <a:r>
                        <a:rPr lang="en-US">
                          <a:effectLst/>
                        </a:rPr>
                        <a:t>CatBoost</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001" dirty="0">
                          <a:effectLst/>
                        </a:rPr>
                        <a:t>0.8605</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001" dirty="0">
                          <a:effectLst/>
                        </a:rPr>
                        <a:t>0.5851</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62179527"/>
                  </a:ext>
                </a:extLst>
              </a:tr>
              <a:tr h="450438">
                <a:tc>
                  <a:txBody>
                    <a:bodyPr/>
                    <a:lstStyle/>
                    <a:p>
                      <a:pPr algn="ctr"/>
                      <a:r>
                        <a:rPr lang="en-US">
                          <a:effectLst/>
                        </a:rPr>
                        <a:t>SVM</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001">
                          <a:effectLst/>
                        </a:rPr>
                        <a:t>0.8393</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US" dirty="0">
                          <a:effectLst/>
                        </a:rPr>
                        <a:t>0.6070</a:t>
                      </a:r>
                      <a:endParaRPr lang="en-001" dirty="0">
                        <a:effectLst/>
                      </a:endParaRP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7070024"/>
                  </a:ext>
                </a:extLst>
              </a:tr>
              <a:tr h="450438">
                <a:tc>
                  <a:txBody>
                    <a:bodyPr/>
                    <a:lstStyle/>
                    <a:p>
                      <a:pPr algn="ctr"/>
                      <a:r>
                        <a:rPr lang="en-US">
                          <a:effectLst/>
                        </a:rPr>
                        <a:t>Stacked Model</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001">
                          <a:effectLst/>
                        </a:rPr>
                        <a:t>0.8481</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001" dirty="0">
                          <a:effectLst/>
                        </a:rPr>
                        <a:t>0.5789</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48690032"/>
                  </a:ext>
                </a:extLst>
              </a:tr>
            </a:tbl>
          </a:graphicData>
        </a:graphic>
      </p:graphicFrame>
    </p:spTree>
    <p:extLst>
      <p:ext uri="{BB962C8B-B14F-4D97-AF65-F5344CB8AC3E}">
        <p14:creationId xmlns:p14="http://schemas.microsoft.com/office/powerpoint/2010/main" val="27716952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87F84-9E2A-7176-0A7F-C7989E709551}"/>
              </a:ext>
            </a:extLst>
          </p:cNvPr>
          <p:cNvSpPr>
            <a:spLocks noGrp="1"/>
          </p:cNvSpPr>
          <p:nvPr>
            <p:ph type="title"/>
          </p:nvPr>
        </p:nvSpPr>
        <p:spPr>
          <a:xfrm>
            <a:off x="1301187" y="712366"/>
            <a:ext cx="10515600" cy="1325563"/>
          </a:xfrm>
        </p:spPr>
        <p:txBody>
          <a:bodyPr/>
          <a:lstStyle/>
          <a:p>
            <a:r>
              <a:rPr lang="en-US" b="1" u="sng" dirty="0"/>
              <a:t>Sample predictions </a:t>
            </a:r>
            <a:endParaRPr lang="en-001" b="1" u="sng" dirty="0"/>
          </a:p>
        </p:txBody>
      </p:sp>
      <p:graphicFrame>
        <p:nvGraphicFramePr>
          <p:cNvPr id="4" name="Content Placeholder 3">
            <a:extLst>
              <a:ext uri="{FF2B5EF4-FFF2-40B4-BE49-F238E27FC236}">
                <a16:creationId xmlns:a16="http://schemas.microsoft.com/office/drawing/2014/main" id="{B1AF54C8-94EB-C309-F8A4-E25C51CA4A21}"/>
              </a:ext>
            </a:extLst>
          </p:cNvPr>
          <p:cNvGraphicFramePr>
            <a:graphicFrameLocks noGrp="1"/>
          </p:cNvGraphicFramePr>
          <p:nvPr>
            <p:ph idx="1"/>
            <p:extLst>
              <p:ext uri="{D42A27DB-BD31-4B8C-83A1-F6EECF244321}">
                <p14:modId xmlns:p14="http://schemas.microsoft.com/office/powerpoint/2010/main" val="3585956196"/>
              </p:ext>
            </p:extLst>
          </p:nvPr>
        </p:nvGraphicFramePr>
        <p:xfrm>
          <a:off x="757177" y="2331720"/>
          <a:ext cx="9464040" cy="2447925"/>
        </p:xfrm>
        <a:graphic>
          <a:graphicData uri="http://schemas.openxmlformats.org/drawingml/2006/table">
            <a:tbl>
              <a:tblPr/>
              <a:tblGrid>
                <a:gridCol w="1051560">
                  <a:extLst>
                    <a:ext uri="{9D8B030D-6E8A-4147-A177-3AD203B41FA5}">
                      <a16:colId xmlns:a16="http://schemas.microsoft.com/office/drawing/2014/main" val="2099177084"/>
                    </a:ext>
                  </a:extLst>
                </a:gridCol>
                <a:gridCol w="1051560">
                  <a:extLst>
                    <a:ext uri="{9D8B030D-6E8A-4147-A177-3AD203B41FA5}">
                      <a16:colId xmlns:a16="http://schemas.microsoft.com/office/drawing/2014/main" val="358718568"/>
                    </a:ext>
                  </a:extLst>
                </a:gridCol>
                <a:gridCol w="1051560">
                  <a:extLst>
                    <a:ext uri="{9D8B030D-6E8A-4147-A177-3AD203B41FA5}">
                      <a16:colId xmlns:a16="http://schemas.microsoft.com/office/drawing/2014/main" val="2067169750"/>
                    </a:ext>
                  </a:extLst>
                </a:gridCol>
                <a:gridCol w="1051560">
                  <a:extLst>
                    <a:ext uri="{9D8B030D-6E8A-4147-A177-3AD203B41FA5}">
                      <a16:colId xmlns:a16="http://schemas.microsoft.com/office/drawing/2014/main" val="87821163"/>
                    </a:ext>
                  </a:extLst>
                </a:gridCol>
                <a:gridCol w="1051560">
                  <a:extLst>
                    <a:ext uri="{9D8B030D-6E8A-4147-A177-3AD203B41FA5}">
                      <a16:colId xmlns:a16="http://schemas.microsoft.com/office/drawing/2014/main" val="694881718"/>
                    </a:ext>
                  </a:extLst>
                </a:gridCol>
                <a:gridCol w="1051560">
                  <a:extLst>
                    <a:ext uri="{9D8B030D-6E8A-4147-A177-3AD203B41FA5}">
                      <a16:colId xmlns:a16="http://schemas.microsoft.com/office/drawing/2014/main" val="781928961"/>
                    </a:ext>
                  </a:extLst>
                </a:gridCol>
                <a:gridCol w="1051560">
                  <a:extLst>
                    <a:ext uri="{9D8B030D-6E8A-4147-A177-3AD203B41FA5}">
                      <a16:colId xmlns:a16="http://schemas.microsoft.com/office/drawing/2014/main" val="3424195119"/>
                    </a:ext>
                  </a:extLst>
                </a:gridCol>
                <a:gridCol w="1051560">
                  <a:extLst>
                    <a:ext uri="{9D8B030D-6E8A-4147-A177-3AD203B41FA5}">
                      <a16:colId xmlns:a16="http://schemas.microsoft.com/office/drawing/2014/main" val="381552320"/>
                    </a:ext>
                  </a:extLst>
                </a:gridCol>
                <a:gridCol w="1051560">
                  <a:extLst>
                    <a:ext uri="{9D8B030D-6E8A-4147-A177-3AD203B41FA5}">
                      <a16:colId xmlns:a16="http://schemas.microsoft.com/office/drawing/2014/main" val="72840536"/>
                    </a:ext>
                  </a:extLst>
                </a:gridCol>
              </a:tblGrid>
              <a:tr h="0">
                <a:tc>
                  <a:txBody>
                    <a:bodyPr/>
                    <a:lstStyle/>
                    <a:p>
                      <a:pPr algn="r" fontAlgn="ctr"/>
                      <a:r>
                        <a:rPr lang="en-US" b="1" dirty="0">
                          <a:effectLst/>
                        </a:rPr>
                        <a:t>id</a:t>
                      </a:r>
                    </a:p>
                  </a:txBody>
                  <a:tcPr anchor="ctr">
                    <a:lnL>
                      <a:noFill/>
                    </a:lnL>
                    <a:lnR>
                      <a:noFill/>
                    </a:lnR>
                    <a:lnT>
                      <a:noFill/>
                    </a:lnT>
                    <a:lnB>
                      <a:noFill/>
                    </a:lnB>
                    <a:solidFill>
                      <a:srgbClr val="FFFFFF"/>
                    </a:solidFill>
                  </a:tcPr>
                </a:tc>
                <a:tc>
                  <a:txBody>
                    <a:bodyPr/>
                    <a:lstStyle/>
                    <a:p>
                      <a:pPr algn="r" fontAlgn="ctr"/>
                      <a:r>
                        <a:rPr lang="en-US" b="1" dirty="0">
                          <a:effectLst/>
                        </a:rPr>
                        <a:t>Id.no</a:t>
                      </a:r>
                      <a:endParaRPr lang="en-001" b="1" dirty="0">
                        <a:effectLst/>
                      </a:endParaRPr>
                    </a:p>
                  </a:txBody>
                  <a:tcPr anchor="ctr">
                    <a:lnL>
                      <a:noFill/>
                    </a:lnL>
                    <a:lnR>
                      <a:noFill/>
                    </a:lnR>
                    <a:lnT>
                      <a:noFill/>
                    </a:lnT>
                    <a:lnB>
                      <a:noFill/>
                    </a:lnB>
                    <a:solidFill>
                      <a:srgbClr val="FFFFFF"/>
                    </a:solidFill>
                  </a:tcPr>
                </a:tc>
                <a:tc>
                  <a:txBody>
                    <a:bodyPr/>
                    <a:lstStyle/>
                    <a:p>
                      <a:pPr algn="ctr" fontAlgn="b"/>
                      <a:r>
                        <a:rPr lang="en-US" sz="2000" b="1" i="0" u="none" strike="noStrike" dirty="0">
                          <a:solidFill>
                            <a:srgbClr val="000000"/>
                          </a:solidFill>
                          <a:effectLst/>
                          <a:latin typeface="Calibri" panose="020F0502020204030204" pitchFamily="34" charset="0"/>
                        </a:rPr>
                        <a:t>Pastry</a:t>
                      </a:r>
                    </a:p>
                  </a:txBody>
                  <a:tcPr marL="9525" marR="9525" marT="9525" marB="0" anchor="b">
                    <a:lnL>
                      <a:noFill/>
                    </a:lnL>
                    <a:lnR>
                      <a:noFill/>
                    </a:lnR>
                    <a:lnT>
                      <a:noFill/>
                    </a:lnT>
                    <a:lnB>
                      <a:noFill/>
                    </a:lnB>
                    <a:solidFill>
                      <a:srgbClr val="FFFFFF"/>
                    </a:solidFill>
                  </a:tcPr>
                </a:tc>
                <a:tc>
                  <a:txBody>
                    <a:bodyPr/>
                    <a:lstStyle/>
                    <a:p>
                      <a:pPr algn="l" fontAlgn="b"/>
                      <a:r>
                        <a:rPr lang="en-US" sz="2000" b="1" i="0" u="none" strike="noStrike" dirty="0" err="1">
                          <a:solidFill>
                            <a:srgbClr val="000000"/>
                          </a:solidFill>
                          <a:effectLst/>
                          <a:latin typeface="Calibri" panose="020F0502020204030204" pitchFamily="34" charset="0"/>
                        </a:rPr>
                        <a:t>Z_Scratch</a:t>
                      </a:r>
                      <a:endParaRPr lang="en-US" sz="2000" b="1" i="0" u="none" strike="noStrike" dirty="0">
                        <a:solidFill>
                          <a:srgbClr val="000000"/>
                        </a:solidFill>
                        <a:effectLst/>
                        <a:latin typeface="Calibri" panose="020F0502020204030204" pitchFamily="34" charset="0"/>
                      </a:endParaRPr>
                    </a:p>
                  </a:txBody>
                  <a:tcPr marL="9525" marR="9525" marT="9525" marB="0" anchor="b">
                    <a:lnL>
                      <a:noFill/>
                    </a:lnL>
                    <a:lnR>
                      <a:noFill/>
                    </a:lnR>
                    <a:lnT>
                      <a:noFill/>
                    </a:lnT>
                    <a:lnB>
                      <a:noFill/>
                    </a:lnB>
                    <a:solidFill>
                      <a:srgbClr val="FFFFFF"/>
                    </a:solidFill>
                  </a:tcPr>
                </a:tc>
                <a:tc>
                  <a:txBody>
                    <a:bodyPr/>
                    <a:lstStyle/>
                    <a:p>
                      <a:pPr algn="ctr" fontAlgn="b"/>
                      <a:r>
                        <a:rPr lang="en-US" sz="2000" b="1" i="0" u="none" strike="noStrike" dirty="0" err="1">
                          <a:solidFill>
                            <a:srgbClr val="000000"/>
                          </a:solidFill>
                          <a:effectLst/>
                          <a:latin typeface="Calibri" panose="020F0502020204030204" pitchFamily="34" charset="0"/>
                        </a:rPr>
                        <a:t>K_Scatch</a:t>
                      </a:r>
                      <a:endParaRPr lang="en-US" sz="2000" b="1" i="0" u="none" strike="noStrike" dirty="0">
                        <a:solidFill>
                          <a:srgbClr val="000000"/>
                        </a:solidFill>
                        <a:effectLst/>
                        <a:latin typeface="Calibri" panose="020F0502020204030204" pitchFamily="34" charset="0"/>
                      </a:endParaRPr>
                    </a:p>
                  </a:txBody>
                  <a:tcPr marL="9525" marR="9525" marT="9525" marB="0" anchor="b">
                    <a:lnL>
                      <a:noFill/>
                    </a:lnL>
                    <a:lnR>
                      <a:noFill/>
                    </a:lnR>
                    <a:lnT>
                      <a:noFill/>
                    </a:lnT>
                    <a:lnB>
                      <a:noFill/>
                    </a:lnB>
                    <a:solidFill>
                      <a:srgbClr val="FFFFFF"/>
                    </a:solidFill>
                  </a:tcPr>
                </a:tc>
                <a:tc>
                  <a:txBody>
                    <a:bodyPr/>
                    <a:lstStyle/>
                    <a:p>
                      <a:pPr algn="ctr" fontAlgn="b"/>
                      <a:r>
                        <a:rPr lang="en-US" sz="2000" b="1" i="0" u="none" strike="noStrike" dirty="0">
                          <a:solidFill>
                            <a:srgbClr val="000000"/>
                          </a:solidFill>
                          <a:effectLst/>
                          <a:latin typeface="Calibri" panose="020F0502020204030204" pitchFamily="34" charset="0"/>
                        </a:rPr>
                        <a:t>Stains</a:t>
                      </a:r>
                    </a:p>
                  </a:txBody>
                  <a:tcPr marL="9525" marR="9525" marT="9525" marB="0" anchor="b">
                    <a:lnL>
                      <a:noFill/>
                    </a:lnL>
                    <a:lnR>
                      <a:noFill/>
                    </a:lnR>
                    <a:lnT>
                      <a:noFill/>
                    </a:lnT>
                    <a:lnB>
                      <a:noFill/>
                    </a:lnB>
                    <a:solidFill>
                      <a:srgbClr val="FFFFFF"/>
                    </a:solidFill>
                  </a:tcPr>
                </a:tc>
                <a:tc>
                  <a:txBody>
                    <a:bodyPr/>
                    <a:lstStyle/>
                    <a:p>
                      <a:pPr algn="ctr" fontAlgn="b"/>
                      <a:r>
                        <a:rPr lang="en-US" sz="2000" b="1" i="0" u="none" strike="noStrike" dirty="0">
                          <a:solidFill>
                            <a:srgbClr val="000000"/>
                          </a:solidFill>
                          <a:effectLst/>
                          <a:latin typeface="Calibri" panose="020F0502020204030204" pitchFamily="34" charset="0"/>
                        </a:rPr>
                        <a:t>Dirtiness</a:t>
                      </a:r>
                    </a:p>
                  </a:txBody>
                  <a:tcPr marL="9525" marR="9525" marT="9525" marB="0" anchor="b">
                    <a:lnL>
                      <a:noFill/>
                    </a:lnL>
                    <a:lnR>
                      <a:noFill/>
                    </a:lnR>
                    <a:lnT>
                      <a:noFill/>
                    </a:lnT>
                    <a:lnB>
                      <a:noFill/>
                    </a:lnB>
                    <a:solidFill>
                      <a:srgbClr val="FFFFFF"/>
                    </a:solidFill>
                  </a:tcPr>
                </a:tc>
                <a:tc>
                  <a:txBody>
                    <a:bodyPr/>
                    <a:lstStyle/>
                    <a:p>
                      <a:pPr algn="ctr" fontAlgn="b"/>
                      <a:r>
                        <a:rPr lang="en-US" sz="2000" b="1" i="0" u="none" strike="noStrike" dirty="0">
                          <a:solidFill>
                            <a:srgbClr val="000000"/>
                          </a:solidFill>
                          <a:effectLst/>
                          <a:latin typeface="Calibri" panose="020F0502020204030204" pitchFamily="34" charset="0"/>
                        </a:rPr>
                        <a:t>Bumps</a:t>
                      </a:r>
                    </a:p>
                  </a:txBody>
                  <a:tcPr marL="9525" marR="9525" marT="9525" marB="0" anchor="b">
                    <a:lnL>
                      <a:noFill/>
                    </a:lnL>
                    <a:lnR>
                      <a:noFill/>
                    </a:lnR>
                    <a:lnT>
                      <a:noFill/>
                    </a:lnT>
                    <a:lnB>
                      <a:noFill/>
                    </a:lnB>
                    <a:solidFill>
                      <a:srgbClr val="FFFFFF"/>
                    </a:solidFill>
                  </a:tcPr>
                </a:tc>
                <a:tc>
                  <a:txBody>
                    <a:bodyPr/>
                    <a:lstStyle/>
                    <a:p>
                      <a:pPr algn="l" fontAlgn="b"/>
                      <a:r>
                        <a:rPr lang="en-US" sz="2000" b="1" i="0" u="none" strike="noStrike" dirty="0" err="1">
                          <a:solidFill>
                            <a:srgbClr val="000000"/>
                          </a:solidFill>
                          <a:effectLst/>
                          <a:latin typeface="Calibri" panose="020F0502020204030204" pitchFamily="34" charset="0"/>
                        </a:rPr>
                        <a:t>Other_Faults</a:t>
                      </a:r>
                      <a:endParaRPr lang="en-US" sz="2000" b="1" i="0" u="none" strike="noStrike" dirty="0">
                        <a:solidFill>
                          <a:srgbClr val="000000"/>
                        </a:solidFill>
                        <a:effectLst/>
                        <a:latin typeface="Calibri" panose="020F0502020204030204" pitchFamily="34" charset="0"/>
                      </a:endParaRPr>
                    </a:p>
                  </a:txBody>
                  <a:tcPr marL="9525" marR="9525" marT="9525" marB="0" anchor="b">
                    <a:lnL>
                      <a:noFill/>
                    </a:lnL>
                    <a:lnR>
                      <a:noFill/>
                    </a:lnR>
                    <a:lnT>
                      <a:noFill/>
                    </a:lnT>
                    <a:lnB>
                      <a:noFill/>
                    </a:lnB>
                    <a:solidFill>
                      <a:srgbClr val="FFFFFF"/>
                    </a:solidFill>
                  </a:tcPr>
                </a:tc>
                <a:extLst>
                  <a:ext uri="{0D108BD9-81ED-4DB2-BD59-A6C34878D82A}">
                    <a16:rowId xmlns:a16="http://schemas.microsoft.com/office/drawing/2014/main" val="3201517693"/>
                  </a:ext>
                </a:extLst>
              </a:tr>
              <a:tr h="0">
                <a:tc>
                  <a:txBody>
                    <a:bodyPr/>
                    <a:lstStyle/>
                    <a:p>
                      <a:pPr algn="r" fontAlgn="ctr"/>
                      <a:r>
                        <a:rPr lang="en-001" b="1">
                          <a:effectLst/>
                        </a:rPr>
                        <a:t>0</a:t>
                      </a:r>
                    </a:p>
                  </a:txBody>
                  <a:tcPr anchor="ctr">
                    <a:lnL>
                      <a:noFill/>
                    </a:lnL>
                    <a:lnR>
                      <a:noFill/>
                    </a:lnR>
                    <a:lnT>
                      <a:noFill/>
                    </a:lnT>
                    <a:lnB>
                      <a:noFill/>
                    </a:lnB>
                    <a:solidFill>
                      <a:srgbClr val="FFFFFF"/>
                    </a:solidFill>
                  </a:tcPr>
                </a:tc>
                <a:tc>
                  <a:txBody>
                    <a:bodyPr/>
                    <a:lstStyle/>
                    <a:p>
                      <a:pPr algn="r" fontAlgn="ctr"/>
                      <a:r>
                        <a:rPr lang="en-001">
                          <a:effectLst/>
                        </a:rPr>
                        <a:t>19219</a:t>
                      </a:r>
                    </a:p>
                  </a:txBody>
                  <a:tcPr anchor="ctr">
                    <a:lnL>
                      <a:noFill/>
                    </a:lnL>
                    <a:lnR>
                      <a:noFill/>
                    </a:lnR>
                    <a:lnT>
                      <a:noFill/>
                    </a:lnT>
                    <a:lnB>
                      <a:noFill/>
                    </a:lnB>
                    <a:solidFill>
                      <a:srgbClr val="FFFFFF"/>
                    </a:solidFill>
                  </a:tcPr>
                </a:tc>
                <a:tc>
                  <a:txBody>
                    <a:bodyPr/>
                    <a:lstStyle/>
                    <a:p>
                      <a:pPr algn="r" fontAlgn="ctr"/>
                      <a:r>
                        <a:rPr lang="en-001">
                          <a:effectLst/>
                        </a:rPr>
                        <a:t>0.128816</a:t>
                      </a:r>
                    </a:p>
                  </a:txBody>
                  <a:tcPr anchor="ctr">
                    <a:lnL>
                      <a:noFill/>
                    </a:lnL>
                    <a:lnR>
                      <a:noFill/>
                    </a:lnR>
                    <a:lnT>
                      <a:noFill/>
                    </a:lnT>
                    <a:lnB>
                      <a:noFill/>
                    </a:lnB>
                    <a:solidFill>
                      <a:srgbClr val="FFFFFF"/>
                    </a:solidFill>
                  </a:tcPr>
                </a:tc>
                <a:tc>
                  <a:txBody>
                    <a:bodyPr/>
                    <a:lstStyle/>
                    <a:p>
                      <a:pPr algn="r" fontAlgn="ctr"/>
                      <a:r>
                        <a:rPr lang="en-001">
                          <a:effectLst/>
                        </a:rPr>
                        <a:t>0.011377</a:t>
                      </a:r>
                    </a:p>
                  </a:txBody>
                  <a:tcPr anchor="ctr">
                    <a:lnL>
                      <a:noFill/>
                    </a:lnL>
                    <a:lnR>
                      <a:noFill/>
                    </a:lnR>
                    <a:lnT>
                      <a:noFill/>
                    </a:lnT>
                    <a:lnB>
                      <a:noFill/>
                    </a:lnB>
                    <a:solidFill>
                      <a:srgbClr val="FFFFFF"/>
                    </a:solidFill>
                  </a:tcPr>
                </a:tc>
                <a:tc>
                  <a:txBody>
                    <a:bodyPr/>
                    <a:lstStyle/>
                    <a:p>
                      <a:pPr algn="r" fontAlgn="ctr"/>
                      <a:r>
                        <a:rPr lang="en-001" dirty="0">
                          <a:effectLst/>
                        </a:rPr>
                        <a:t>0.002381</a:t>
                      </a:r>
                    </a:p>
                  </a:txBody>
                  <a:tcPr anchor="ctr">
                    <a:lnL>
                      <a:noFill/>
                    </a:lnL>
                    <a:lnR>
                      <a:noFill/>
                    </a:lnR>
                    <a:lnT>
                      <a:noFill/>
                    </a:lnT>
                    <a:lnB>
                      <a:noFill/>
                    </a:lnB>
                    <a:solidFill>
                      <a:srgbClr val="FFFFFF"/>
                    </a:solidFill>
                  </a:tcPr>
                </a:tc>
                <a:tc>
                  <a:txBody>
                    <a:bodyPr/>
                    <a:lstStyle/>
                    <a:p>
                      <a:pPr algn="r" fontAlgn="ctr"/>
                      <a:r>
                        <a:rPr lang="en-001">
                          <a:effectLst/>
                        </a:rPr>
                        <a:t>0.023300</a:t>
                      </a:r>
                    </a:p>
                  </a:txBody>
                  <a:tcPr anchor="ctr">
                    <a:lnL>
                      <a:noFill/>
                    </a:lnL>
                    <a:lnR>
                      <a:noFill/>
                    </a:lnR>
                    <a:lnT>
                      <a:noFill/>
                    </a:lnT>
                    <a:lnB>
                      <a:noFill/>
                    </a:lnB>
                    <a:solidFill>
                      <a:srgbClr val="FFFFFF"/>
                    </a:solidFill>
                  </a:tcPr>
                </a:tc>
                <a:tc>
                  <a:txBody>
                    <a:bodyPr/>
                    <a:lstStyle/>
                    <a:p>
                      <a:pPr algn="r" fontAlgn="ctr"/>
                      <a:r>
                        <a:rPr lang="en-001">
                          <a:effectLst/>
                        </a:rPr>
                        <a:t>0.260275</a:t>
                      </a:r>
                    </a:p>
                  </a:txBody>
                  <a:tcPr anchor="ctr">
                    <a:lnL>
                      <a:noFill/>
                    </a:lnL>
                    <a:lnR>
                      <a:noFill/>
                    </a:lnR>
                    <a:lnT>
                      <a:noFill/>
                    </a:lnT>
                    <a:lnB>
                      <a:noFill/>
                    </a:lnB>
                    <a:solidFill>
                      <a:srgbClr val="FFFFFF"/>
                    </a:solidFill>
                  </a:tcPr>
                </a:tc>
                <a:tc>
                  <a:txBody>
                    <a:bodyPr/>
                    <a:lstStyle/>
                    <a:p>
                      <a:pPr algn="r" fontAlgn="ctr"/>
                      <a:r>
                        <a:rPr lang="en-001">
                          <a:effectLst/>
                        </a:rPr>
                        <a:t>0.571741</a:t>
                      </a:r>
                    </a:p>
                  </a:txBody>
                  <a:tcPr anchor="ctr">
                    <a:lnL>
                      <a:noFill/>
                    </a:lnL>
                    <a:lnR>
                      <a:noFill/>
                    </a:lnR>
                    <a:lnT>
                      <a:noFill/>
                    </a:lnT>
                    <a:lnB>
                      <a:noFill/>
                    </a:lnB>
                    <a:solidFill>
                      <a:srgbClr val="FFFFFF"/>
                    </a:solidFill>
                  </a:tcPr>
                </a:tc>
                <a:tc>
                  <a:txBody>
                    <a:bodyPr/>
                    <a:lstStyle/>
                    <a:p>
                      <a:pPr algn="r" fontAlgn="ctr"/>
                      <a:r>
                        <a:rPr lang="en-001">
                          <a:effectLst/>
                        </a:rPr>
                        <a:t>0.000533</a:t>
                      </a:r>
                    </a:p>
                  </a:txBody>
                  <a:tcPr anchor="ctr">
                    <a:lnL>
                      <a:noFill/>
                    </a:lnL>
                    <a:lnR>
                      <a:noFill/>
                    </a:lnR>
                    <a:lnT>
                      <a:noFill/>
                    </a:lnT>
                    <a:lnB>
                      <a:noFill/>
                    </a:lnB>
                    <a:solidFill>
                      <a:srgbClr val="FFFFFF"/>
                    </a:solidFill>
                  </a:tcPr>
                </a:tc>
                <a:extLst>
                  <a:ext uri="{0D108BD9-81ED-4DB2-BD59-A6C34878D82A}">
                    <a16:rowId xmlns:a16="http://schemas.microsoft.com/office/drawing/2014/main" val="1502613340"/>
                  </a:ext>
                </a:extLst>
              </a:tr>
              <a:tr h="0">
                <a:tc>
                  <a:txBody>
                    <a:bodyPr/>
                    <a:lstStyle/>
                    <a:p>
                      <a:pPr algn="r" fontAlgn="ctr"/>
                      <a:r>
                        <a:rPr lang="en-001" b="1">
                          <a:effectLst/>
                        </a:rPr>
                        <a:t>1</a:t>
                      </a:r>
                    </a:p>
                  </a:txBody>
                  <a:tcPr anchor="ctr">
                    <a:lnL>
                      <a:noFill/>
                    </a:lnL>
                    <a:lnR>
                      <a:noFill/>
                    </a:lnR>
                    <a:lnT>
                      <a:noFill/>
                    </a:lnT>
                    <a:lnB>
                      <a:noFill/>
                    </a:lnB>
                    <a:solidFill>
                      <a:srgbClr val="FFFFFF"/>
                    </a:solidFill>
                  </a:tcPr>
                </a:tc>
                <a:tc>
                  <a:txBody>
                    <a:bodyPr/>
                    <a:lstStyle/>
                    <a:p>
                      <a:pPr algn="r" fontAlgn="ctr"/>
                      <a:r>
                        <a:rPr lang="en-001">
                          <a:effectLst/>
                        </a:rPr>
                        <a:t>19220</a:t>
                      </a:r>
                    </a:p>
                  </a:txBody>
                  <a:tcPr anchor="ctr">
                    <a:lnL>
                      <a:noFill/>
                    </a:lnL>
                    <a:lnR>
                      <a:noFill/>
                    </a:lnR>
                    <a:lnT>
                      <a:noFill/>
                    </a:lnT>
                    <a:lnB>
                      <a:noFill/>
                    </a:lnB>
                    <a:solidFill>
                      <a:srgbClr val="FFFFFF"/>
                    </a:solidFill>
                  </a:tcPr>
                </a:tc>
                <a:tc>
                  <a:txBody>
                    <a:bodyPr/>
                    <a:lstStyle/>
                    <a:p>
                      <a:pPr algn="r" fontAlgn="ctr"/>
                      <a:r>
                        <a:rPr lang="en-001">
                          <a:effectLst/>
                        </a:rPr>
                        <a:t>0.133301</a:t>
                      </a:r>
                    </a:p>
                  </a:txBody>
                  <a:tcPr anchor="ctr">
                    <a:lnL>
                      <a:noFill/>
                    </a:lnL>
                    <a:lnR>
                      <a:noFill/>
                    </a:lnR>
                    <a:lnT>
                      <a:noFill/>
                    </a:lnT>
                    <a:lnB>
                      <a:noFill/>
                    </a:lnB>
                    <a:solidFill>
                      <a:srgbClr val="FFFFFF"/>
                    </a:solidFill>
                  </a:tcPr>
                </a:tc>
                <a:tc>
                  <a:txBody>
                    <a:bodyPr/>
                    <a:lstStyle/>
                    <a:p>
                      <a:pPr algn="r" fontAlgn="ctr"/>
                      <a:r>
                        <a:rPr lang="en-001" dirty="0">
                          <a:effectLst/>
                        </a:rPr>
                        <a:t>0.221684</a:t>
                      </a:r>
                    </a:p>
                  </a:txBody>
                  <a:tcPr anchor="ctr">
                    <a:lnL>
                      <a:noFill/>
                    </a:lnL>
                    <a:lnR>
                      <a:noFill/>
                    </a:lnR>
                    <a:lnT>
                      <a:noFill/>
                    </a:lnT>
                    <a:lnB>
                      <a:noFill/>
                    </a:lnB>
                    <a:solidFill>
                      <a:srgbClr val="FFFFFF"/>
                    </a:solidFill>
                  </a:tcPr>
                </a:tc>
                <a:tc>
                  <a:txBody>
                    <a:bodyPr/>
                    <a:lstStyle/>
                    <a:p>
                      <a:pPr algn="r" fontAlgn="ctr"/>
                      <a:r>
                        <a:rPr lang="en-001">
                          <a:effectLst/>
                        </a:rPr>
                        <a:t>0.010769</a:t>
                      </a:r>
                    </a:p>
                  </a:txBody>
                  <a:tcPr anchor="ctr">
                    <a:lnL>
                      <a:noFill/>
                    </a:lnL>
                    <a:lnR>
                      <a:noFill/>
                    </a:lnR>
                    <a:lnT>
                      <a:noFill/>
                    </a:lnT>
                    <a:lnB>
                      <a:noFill/>
                    </a:lnB>
                    <a:solidFill>
                      <a:srgbClr val="FFFFFF"/>
                    </a:solidFill>
                  </a:tcPr>
                </a:tc>
                <a:tc>
                  <a:txBody>
                    <a:bodyPr/>
                    <a:lstStyle/>
                    <a:p>
                      <a:pPr algn="r" fontAlgn="ctr"/>
                      <a:r>
                        <a:rPr lang="en-001">
                          <a:effectLst/>
                        </a:rPr>
                        <a:t>0.021420</a:t>
                      </a:r>
                    </a:p>
                  </a:txBody>
                  <a:tcPr anchor="ctr">
                    <a:lnL>
                      <a:noFill/>
                    </a:lnL>
                    <a:lnR>
                      <a:noFill/>
                    </a:lnR>
                    <a:lnT>
                      <a:noFill/>
                    </a:lnT>
                    <a:lnB>
                      <a:noFill/>
                    </a:lnB>
                    <a:solidFill>
                      <a:srgbClr val="FFFFFF"/>
                    </a:solidFill>
                  </a:tcPr>
                </a:tc>
                <a:tc>
                  <a:txBody>
                    <a:bodyPr/>
                    <a:lstStyle/>
                    <a:p>
                      <a:pPr algn="r" fontAlgn="ctr"/>
                      <a:r>
                        <a:rPr lang="en-001">
                          <a:effectLst/>
                        </a:rPr>
                        <a:t>0.351337</a:t>
                      </a:r>
                    </a:p>
                  </a:txBody>
                  <a:tcPr anchor="ctr">
                    <a:lnL>
                      <a:noFill/>
                    </a:lnL>
                    <a:lnR>
                      <a:noFill/>
                    </a:lnR>
                    <a:lnT>
                      <a:noFill/>
                    </a:lnT>
                    <a:lnB>
                      <a:noFill/>
                    </a:lnB>
                    <a:solidFill>
                      <a:srgbClr val="FFFFFF"/>
                    </a:solidFill>
                  </a:tcPr>
                </a:tc>
                <a:tc>
                  <a:txBody>
                    <a:bodyPr/>
                    <a:lstStyle/>
                    <a:p>
                      <a:pPr algn="r" fontAlgn="ctr"/>
                      <a:r>
                        <a:rPr lang="en-001">
                          <a:effectLst/>
                        </a:rPr>
                        <a:t>0.244098</a:t>
                      </a:r>
                    </a:p>
                  </a:txBody>
                  <a:tcPr anchor="ctr">
                    <a:lnL>
                      <a:noFill/>
                    </a:lnL>
                    <a:lnR>
                      <a:noFill/>
                    </a:lnR>
                    <a:lnT>
                      <a:noFill/>
                    </a:lnT>
                    <a:lnB>
                      <a:noFill/>
                    </a:lnB>
                    <a:solidFill>
                      <a:srgbClr val="FFFFFF"/>
                    </a:solidFill>
                  </a:tcPr>
                </a:tc>
                <a:tc>
                  <a:txBody>
                    <a:bodyPr/>
                    <a:lstStyle/>
                    <a:p>
                      <a:pPr algn="r" fontAlgn="ctr"/>
                      <a:r>
                        <a:rPr lang="en-001" dirty="0">
                          <a:effectLst/>
                        </a:rPr>
                        <a:t>0.000939</a:t>
                      </a:r>
                    </a:p>
                  </a:txBody>
                  <a:tcPr anchor="ctr">
                    <a:lnL>
                      <a:noFill/>
                    </a:lnL>
                    <a:lnR>
                      <a:noFill/>
                    </a:lnR>
                    <a:lnT>
                      <a:noFill/>
                    </a:lnT>
                    <a:lnB>
                      <a:noFill/>
                    </a:lnB>
                    <a:solidFill>
                      <a:srgbClr val="FFFFFF"/>
                    </a:solidFill>
                  </a:tcPr>
                </a:tc>
                <a:extLst>
                  <a:ext uri="{0D108BD9-81ED-4DB2-BD59-A6C34878D82A}">
                    <a16:rowId xmlns:a16="http://schemas.microsoft.com/office/drawing/2014/main" val="2751324295"/>
                  </a:ext>
                </a:extLst>
              </a:tr>
              <a:tr h="0">
                <a:tc>
                  <a:txBody>
                    <a:bodyPr/>
                    <a:lstStyle/>
                    <a:p>
                      <a:pPr algn="r" fontAlgn="ctr"/>
                      <a:r>
                        <a:rPr lang="en-001" b="1">
                          <a:effectLst/>
                        </a:rPr>
                        <a:t>2</a:t>
                      </a:r>
                    </a:p>
                  </a:txBody>
                  <a:tcPr anchor="ctr">
                    <a:lnL>
                      <a:noFill/>
                    </a:lnL>
                    <a:lnR>
                      <a:noFill/>
                    </a:lnR>
                    <a:lnT>
                      <a:noFill/>
                    </a:lnT>
                    <a:lnB>
                      <a:noFill/>
                    </a:lnB>
                    <a:solidFill>
                      <a:srgbClr val="FFFFFF"/>
                    </a:solidFill>
                  </a:tcPr>
                </a:tc>
                <a:tc>
                  <a:txBody>
                    <a:bodyPr/>
                    <a:lstStyle/>
                    <a:p>
                      <a:pPr algn="r" fontAlgn="ctr"/>
                      <a:r>
                        <a:rPr lang="en-001">
                          <a:effectLst/>
                        </a:rPr>
                        <a:t>19221</a:t>
                      </a:r>
                    </a:p>
                  </a:txBody>
                  <a:tcPr anchor="ctr">
                    <a:lnL>
                      <a:noFill/>
                    </a:lnL>
                    <a:lnR>
                      <a:noFill/>
                    </a:lnR>
                    <a:lnT>
                      <a:noFill/>
                    </a:lnT>
                    <a:lnB>
                      <a:noFill/>
                    </a:lnB>
                    <a:solidFill>
                      <a:srgbClr val="FFFFFF"/>
                    </a:solidFill>
                  </a:tcPr>
                </a:tc>
                <a:tc>
                  <a:txBody>
                    <a:bodyPr/>
                    <a:lstStyle/>
                    <a:p>
                      <a:pPr algn="r" fontAlgn="ctr"/>
                      <a:r>
                        <a:rPr lang="en-001">
                          <a:effectLst/>
                        </a:rPr>
                        <a:t>0.319726</a:t>
                      </a:r>
                    </a:p>
                  </a:txBody>
                  <a:tcPr anchor="ctr">
                    <a:lnL>
                      <a:noFill/>
                    </a:lnL>
                    <a:lnR>
                      <a:noFill/>
                    </a:lnR>
                    <a:lnT>
                      <a:noFill/>
                    </a:lnT>
                    <a:lnB>
                      <a:noFill/>
                    </a:lnB>
                    <a:solidFill>
                      <a:srgbClr val="FFFFFF"/>
                    </a:solidFill>
                  </a:tcPr>
                </a:tc>
                <a:tc>
                  <a:txBody>
                    <a:bodyPr/>
                    <a:lstStyle/>
                    <a:p>
                      <a:pPr algn="r" fontAlgn="ctr"/>
                      <a:r>
                        <a:rPr lang="en-001">
                          <a:effectLst/>
                        </a:rPr>
                        <a:t>0.011442</a:t>
                      </a:r>
                    </a:p>
                  </a:txBody>
                  <a:tcPr anchor="ctr">
                    <a:lnL>
                      <a:noFill/>
                    </a:lnL>
                    <a:lnR>
                      <a:noFill/>
                    </a:lnR>
                    <a:lnT>
                      <a:noFill/>
                    </a:lnT>
                    <a:lnB>
                      <a:noFill/>
                    </a:lnB>
                    <a:solidFill>
                      <a:srgbClr val="FFFFFF"/>
                    </a:solidFill>
                  </a:tcPr>
                </a:tc>
                <a:tc>
                  <a:txBody>
                    <a:bodyPr/>
                    <a:lstStyle/>
                    <a:p>
                      <a:pPr algn="r" fontAlgn="ctr"/>
                      <a:r>
                        <a:rPr lang="en-001">
                          <a:effectLst/>
                        </a:rPr>
                        <a:t>0.034958</a:t>
                      </a:r>
                    </a:p>
                  </a:txBody>
                  <a:tcPr anchor="ctr">
                    <a:lnL>
                      <a:noFill/>
                    </a:lnL>
                    <a:lnR>
                      <a:noFill/>
                    </a:lnR>
                    <a:lnT>
                      <a:noFill/>
                    </a:lnT>
                    <a:lnB>
                      <a:noFill/>
                    </a:lnB>
                    <a:solidFill>
                      <a:srgbClr val="FFFFFF"/>
                    </a:solidFill>
                  </a:tcPr>
                </a:tc>
                <a:tc>
                  <a:txBody>
                    <a:bodyPr/>
                    <a:lstStyle/>
                    <a:p>
                      <a:pPr algn="r" fontAlgn="ctr"/>
                      <a:r>
                        <a:rPr lang="en-001">
                          <a:effectLst/>
                        </a:rPr>
                        <a:t>0.089132</a:t>
                      </a:r>
                    </a:p>
                  </a:txBody>
                  <a:tcPr anchor="ctr">
                    <a:lnL>
                      <a:noFill/>
                    </a:lnL>
                    <a:lnR>
                      <a:noFill/>
                    </a:lnR>
                    <a:lnT>
                      <a:noFill/>
                    </a:lnT>
                    <a:lnB>
                      <a:noFill/>
                    </a:lnB>
                    <a:solidFill>
                      <a:srgbClr val="FFFFFF"/>
                    </a:solidFill>
                  </a:tcPr>
                </a:tc>
                <a:tc>
                  <a:txBody>
                    <a:bodyPr/>
                    <a:lstStyle/>
                    <a:p>
                      <a:pPr algn="r" fontAlgn="ctr"/>
                      <a:r>
                        <a:rPr lang="en-001">
                          <a:effectLst/>
                        </a:rPr>
                        <a:t>0.509559</a:t>
                      </a:r>
                    </a:p>
                  </a:txBody>
                  <a:tcPr anchor="ctr">
                    <a:lnL>
                      <a:noFill/>
                    </a:lnL>
                    <a:lnR>
                      <a:noFill/>
                    </a:lnR>
                    <a:lnT>
                      <a:noFill/>
                    </a:lnT>
                    <a:lnB>
                      <a:noFill/>
                    </a:lnB>
                    <a:solidFill>
                      <a:srgbClr val="FFFFFF"/>
                    </a:solidFill>
                  </a:tcPr>
                </a:tc>
                <a:tc>
                  <a:txBody>
                    <a:bodyPr/>
                    <a:lstStyle/>
                    <a:p>
                      <a:pPr algn="r" fontAlgn="ctr"/>
                      <a:r>
                        <a:rPr lang="en-001">
                          <a:effectLst/>
                        </a:rPr>
                        <a:t>0.003524</a:t>
                      </a:r>
                    </a:p>
                  </a:txBody>
                  <a:tcPr anchor="ctr">
                    <a:lnL>
                      <a:noFill/>
                    </a:lnL>
                    <a:lnR>
                      <a:noFill/>
                    </a:lnR>
                    <a:lnT>
                      <a:noFill/>
                    </a:lnT>
                    <a:lnB>
                      <a:noFill/>
                    </a:lnB>
                    <a:solidFill>
                      <a:srgbClr val="FFFFFF"/>
                    </a:solidFill>
                  </a:tcPr>
                </a:tc>
                <a:tc>
                  <a:txBody>
                    <a:bodyPr/>
                    <a:lstStyle/>
                    <a:p>
                      <a:pPr algn="r" fontAlgn="ctr"/>
                      <a:r>
                        <a:rPr lang="en-001">
                          <a:effectLst/>
                        </a:rPr>
                        <a:t>0.001849</a:t>
                      </a:r>
                    </a:p>
                  </a:txBody>
                  <a:tcPr anchor="ctr">
                    <a:lnL>
                      <a:noFill/>
                    </a:lnL>
                    <a:lnR>
                      <a:noFill/>
                    </a:lnR>
                    <a:lnT>
                      <a:noFill/>
                    </a:lnT>
                    <a:lnB>
                      <a:noFill/>
                    </a:lnB>
                    <a:solidFill>
                      <a:srgbClr val="FFFFFF"/>
                    </a:solidFill>
                  </a:tcPr>
                </a:tc>
                <a:extLst>
                  <a:ext uri="{0D108BD9-81ED-4DB2-BD59-A6C34878D82A}">
                    <a16:rowId xmlns:a16="http://schemas.microsoft.com/office/drawing/2014/main" val="553093636"/>
                  </a:ext>
                </a:extLst>
              </a:tr>
              <a:tr h="0">
                <a:tc>
                  <a:txBody>
                    <a:bodyPr/>
                    <a:lstStyle/>
                    <a:p>
                      <a:pPr algn="r" fontAlgn="ctr"/>
                      <a:r>
                        <a:rPr lang="en-001" b="1">
                          <a:effectLst/>
                        </a:rPr>
                        <a:t>3</a:t>
                      </a:r>
                    </a:p>
                  </a:txBody>
                  <a:tcPr anchor="ctr">
                    <a:lnL>
                      <a:noFill/>
                    </a:lnL>
                    <a:lnR>
                      <a:noFill/>
                    </a:lnR>
                    <a:lnT>
                      <a:noFill/>
                    </a:lnT>
                    <a:lnB>
                      <a:noFill/>
                    </a:lnB>
                    <a:solidFill>
                      <a:srgbClr val="FFFFFF"/>
                    </a:solidFill>
                  </a:tcPr>
                </a:tc>
                <a:tc>
                  <a:txBody>
                    <a:bodyPr/>
                    <a:lstStyle/>
                    <a:p>
                      <a:pPr algn="r" fontAlgn="ctr"/>
                      <a:r>
                        <a:rPr lang="en-001">
                          <a:effectLst/>
                        </a:rPr>
                        <a:t>19222</a:t>
                      </a:r>
                    </a:p>
                  </a:txBody>
                  <a:tcPr anchor="ctr">
                    <a:lnL>
                      <a:noFill/>
                    </a:lnL>
                    <a:lnR>
                      <a:noFill/>
                    </a:lnR>
                    <a:lnT>
                      <a:noFill/>
                    </a:lnT>
                    <a:lnB>
                      <a:noFill/>
                    </a:lnB>
                    <a:solidFill>
                      <a:srgbClr val="FFFFFF"/>
                    </a:solidFill>
                  </a:tcPr>
                </a:tc>
                <a:tc>
                  <a:txBody>
                    <a:bodyPr/>
                    <a:lstStyle/>
                    <a:p>
                      <a:pPr algn="r" fontAlgn="ctr"/>
                      <a:r>
                        <a:rPr lang="en-001">
                          <a:effectLst/>
                        </a:rPr>
                        <a:t>0.405960</a:t>
                      </a:r>
                    </a:p>
                  </a:txBody>
                  <a:tcPr anchor="ctr">
                    <a:lnL>
                      <a:noFill/>
                    </a:lnL>
                    <a:lnR>
                      <a:noFill/>
                    </a:lnR>
                    <a:lnT>
                      <a:noFill/>
                    </a:lnT>
                    <a:lnB>
                      <a:noFill/>
                    </a:lnB>
                    <a:solidFill>
                      <a:srgbClr val="FFFFFF"/>
                    </a:solidFill>
                  </a:tcPr>
                </a:tc>
                <a:tc>
                  <a:txBody>
                    <a:bodyPr/>
                    <a:lstStyle/>
                    <a:p>
                      <a:pPr algn="r" fontAlgn="ctr"/>
                      <a:r>
                        <a:rPr lang="en-001">
                          <a:effectLst/>
                        </a:rPr>
                        <a:t>0.009985</a:t>
                      </a:r>
                    </a:p>
                  </a:txBody>
                  <a:tcPr anchor="ctr">
                    <a:lnL>
                      <a:noFill/>
                    </a:lnL>
                    <a:lnR>
                      <a:noFill/>
                    </a:lnR>
                    <a:lnT>
                      <a:noFill/>
                    </a:lnT>
                    <a:lnB>
                      <a:noFill/>
                    </a:lnB>
                    <a:solidFill>
                      <a:srgbClr val="FFFFFF"/>
                    </a:solidFill>
                  </a:tcPr>
                </a:tc>
                <a:tc>
                  <a:txBody>
                    <a:bodyPr/>
                    <a:lstStyle/>
                    <a:p>
                      <a:pPr algn="r" fontAlgn="ctr"/>
                      <a:r>
                        <a:rPr lang="en-001">
                          <a:effectLst/>
                        </a:rPr>
                        <a:t>0.001633</a:t>
                      </a:r>
                    </a:p>
                  </a:txBody>
                  <a:tcPr anchor="ctr">
                    <a:lnL>
                      <a:noFill/>
                    </a:lnL>
                    <a:lnR>
                      <a:noFill/>
                    </a:lnR>
                    <a:lnT>
                      <a:noFill/>
                    </a:lnT>
                    <a:lnB>
                      <a:noFill/>
                    </a:lnB>
                    <a:solidFill>
                      <a:srgbClr val="FFFFFF"/>
                    </a:solidFill>
                  </a:tcPr>
                </a:tc>
                <a:tc>
                  <a:txBody>
                    <a:bodyPr/>
                    <a:lstStyle/>
                    <a:p>
                      <a:pPr algn="r" fontAlgn="ctr"/>
                      <a:r>
                        <a:rPr lang="en-001">
                          <a:effectLst/>
                        </a:rPr>
                        <a:t>0.028166</a:t>
                      </a:r>
                    </a:p>
                  </a:txBody>
                  <a:tcPr anchor="ctr">
                    <a:lnL>
                      <a:noFill/>
                    </a:lnL>
                    <a:lnR>
                      <a:noFill/>
                    </a:lnR>
                    <a:lnT>
                      <a:noFill/>
                    </a:lnT>
                    <a:lnB>
                      <a:noFill/>
                    </a:lnB>
                    <a:solidFill>
                      <a:srgbClr val="FFFFFF"/>
                    </a:solidFill>
                  </a:tcPr>
                </a:tc>
                <a:tc>
                  <a:txBody>
                    <a:bodyPr/>
                    <a:lstStyle/>
                    <a:p>
                      <a:pPr algn="r" fontAlgn="ctr"/>
                      <a:r>
                        <a:rPr lang="en-001">
                          <a:effectLst/>
                        </a:rPr>
                        <a:t>0.390861</a:t>
                      </a:r>
                    </a:p>
                  </a:txBody>
                  <a:tcPr anchor="ctr">
                    <a:lnL>
                      <a:noFill/>
                    </a:lnL>
                    <a:lnR>
                      <a:noFill/>
                    </a:lnR>
                    <a:lnT>
                      <a:noFill/>
                    </a:lnT>
                    <a:lnB>
                      <a:noFill/>
                    </a:lnB>
                    <a:solidFill>
                      <a:srgbClr val="FFFFFF"/>
                    </a:solidFill>
                  </a:tcPr>
                </a:tc>
                <a:tc>
                  <a:txBody>
                    <a:bodyPr/>
                    <a:lstStyle/>
                    <a:p>
                      <a:pPr algn="r" fontAlgn="ctr"/>
                      <a:r>
                        <a:rPr lang="en-001">
                          <a:effectLst/>
                        </a:rPr>
                        <a:t>0.158575</a:t>
                      </a:r>
                    </a:p>
                  </a:txBody>
                  <a:tcPr anchor="ctr">
                    <a:lnL>
                      <a:noFill/>
                    </a:lnL>
                    <a:lnR>
                      <a:noFill/>
                    </a:lnR>
                    <a:lnT>
                      <a:noFill/>
                    </a:lnT>
                    <a:lnB>
                      <a:noFill/>
                    </a:lnB>
                    <a:solidFill>
                      <a:srgbClr val="FFFFFF"/>
                    </a:solidFill>
                  </a:tcPr>
                </a:tc>
                <a:tc>
                  <a:txBody>
                    <a:bodyPr/>
                    <a:lstStyle/>
                    <a:p>
                      <a:pPr algn="r" fontAlgn="ctr"/>
                      <a:r>
                        <a:rPr lang="en-001">
                          <a:effectLst/>
                        </a:rPr>
                        <a:t>0.001492</a:t>
                      </a:r>
                    </a:p>
                  </a:txBody>
                  <a:tcPr anchor="ctr">
                    <a:lnL>
                      <a:noFill/>
                    </a:lnL>
                    <a:lnR>
                      <a:noFill/>
                    </a:lnR>
                    <a:lnT>
                      <a:noFill/>
                    </a:lnT>
                    <a:lnB>
                      <a:noFill/>
                    </a:lnB>
                    <a:solidFill>
                      <a:srgbClr val="FFFFFF"/>
                    </a:solidFill>
                  </a:tcPr>
                </a:tc>
                <a:extLst>
                  <a:ext uri="{0D108BD9-81ED-4DB2-BD59-A6C34878D82A}">
                    <a16:rowId xmlns:a16="http://schemas.microsoft.com/office/drawing/2014/main" val="1132334680"/>
                  </a:ext>
                </a:extLst>
              </a:tr>
              <a:tr h="0">
                <a:tc>
                  <a:txBody>
                    <a:bodyPr/>
                    <a:lstStyle/>
                    <a:p>
                      <a:pPr algn="r" fontAlgn="ctr"/>
                      <a:r>
                        <a:rPr lang="en-001" b="1">
                          <a:effectLst/>
                        </a:rPr>
                        <a:t>4</a:t>
                      </a:r>
                    </a:p>
                  </a:txBody>
                  <a:tcPr anchor="ctr">
                    <a:lnL>
                      <a:noFill/>
                    </a:lnL>
                    <a:lnR>
                      <a:noFill/>
                    </a:lnR>
                    <a:lnT>
                      <a:noFill/>
                    </a:lnT>
                    <a:lnB>
                      <a:noFill/>
                    </a:lnB>
                    <a:solidFill>
                      <a:srgbClr val="FFFFFF"/>
                    </a:solidFill>
                  </a:tcPr>
                </a:tc>
                <a:tc>
                  <a:txBody>
                    <a:bodyPr/>
                    <a:lstStyle/>
                    <a:p>
                      <a:pPr algn="r" fontAlgn="ctr"/>
                      <a:r>
                        <a:rPr lang="en-001">
                          <a:effectLst/>
                        </a:rPr>
                        <a:t>19223</a:t>
                      </a:r>
                    </a:p>
                  </a:txBody>
                  <a:tcPr anchor="ctr">
                    <a:lnL>
                      <a:noFill/>
                    </a:lnL>
                    <a:lnR>
                      <a:noFill/>
                    </a:lnR>
                    <a:lnT>
                      <a:noFill/>
                    </a:lnT>
                    <a:lnB>
                      <a:noFill/>
                    </a:lnB>
                    <a:solidFill>
                      <a:srgbClr val="FFFFFF"/>
                    </a:solidFill>
                  </a:tcPr>
                </a:tc>
                <a:tc>
                  <a:txBody>
                    <a:bodyPr/>
                    <a:lstStyle/>
                    <a:p>
                      <a:pPr algn="r" fontAlgn="ctr"/>
                      <a:r>
                        <a:rPr lang="en-001">
                          <a:effectLst/>
                        </a:rPr>
                        <a:t>0.620587</a:t>
                      </a:r>
                    </a:p>
                  </a:txBody>
                  <a:tcPr anchor="ctr">
                    <a:lnL>
                      <a:noFill/>
                    </a:lnL>
                    <a:lnR>
                      <a:noFill/>
                    </a:lnR>
                    <a:lnT>
                      <a:noFill/>
                    </a:lnT>
                    <a:lnB>
                      <a:noFill/>
                    </a:lnB>
                    <a:solidFill>
                      <a:srgbClr val="FFFFFF"/>
                    </a:solidFill>
                  </a:tcPr>
                </a:tc>
                <a:tc>
                  <a:txBody>
                    <a:bodyPr/>
                    <a:lstStyle/>
                    <a:p>
                      <a:pPr algn="r" fontAlgn="ctr"/>
                      <a:r>
                        <a:rPr lang="en-001">
                          <a:effectLst/>
                        </a:rPr>
                        <a:t>0.004565</a:t>
                      </a:r>
                    </a:p>
                  </a:txBody>
                  <a:tcPr anchor="ctr">
                    <a:lnL>
                      <a:noFill/>
                    </a:lnL>
                    <a:lnR>
                      <a:noFill/>
                    </a:lnR>
                    <a:lnT>
                      <a:noFill/>
                    </a:lnT>
                    <a:lnB>
                      <a:noFill/>
                    </a:lnB>
                    <a:solidFill>
                      <a:srgbClr val="FFFFFF"/>
                    </a:solidFill>
                  </a:tcPr>
                </a:tc>
                <a:tc>
                  <a:txBody>
                    <a:bodyPr/>
                    <a:lstStyle/>
                    <a:p>
                      <a:pPr algn="r" fontAlgn="ctr"/>
                      <a:r>
                        <a:rPr lang="en-001">
                          <a:effectLst/>
                        </a:rPr>
                        <a:t>0.001620</a:t>
                      </a:r>
                    </a:p>
                  </a:txBody>
                  <a:tcPr anchor="ctr">
                    <a:lnL>
                      <a:noFill/>
                    </a:lnL>
                    <a:lnR>
                      <a:noFill/>
                    </a:lnR>
                    <a:lnT>
                      <a:noFill/>
                    </a:lnT>
                    <a:lnB>
                      <a:noFill/>
                    </a:lnB>
                    <a:solidFill>
                      <a:srgbClr val="FFFFFF"/>
                    </a:solidFill>
                  </a:tcPr>
                </a:tc>
                <a:tc>
                  <a:txBody>
                    <a:bodyPr/>
                    <a:lstStyle/>
                    <a:p>
                      <a:pPr algn="r" fontAlgn="ctr"/>
                      <a:r>
                        <a:rPr lang="en-001">
                          <a:effectLst/>
                        </a:rPr>
                        <a:t>0.046223</a:t>
                      </a:r>
                    </a:p>
                  </a:txBody>
                  <a:tcPr anchor="ctr">
                    <a:lnL>
                      <a:noFill/>
                    </a:lnL>
                    <a:lnR>
                      <a:noFill/>
                    </a:lnR>
                    <a:lnT>
                      <a:noFill/>
                    </a:lnT>
                    <a:lnB>
                      <a:noFill/>
                    </a:lnB>
                    <a:solidFill>
                      <a:srgbClr val="FFFFFF"/>
                    </a:solidFill>
                  </a:tcPr>
                </a:tc>
                <a:tc>
                  <a:txBody>
                    <a:bodyPr/>
                    <a:lstStyle/>
                    <a:p>
                      <a:pPr algn="r" fontAlgn="ctr"/>
                      <a:r>
                        <a:rPr lang="en-001">
                          <a:effectLst/>
                        </a:rPr>
                        <a:t>0.319608</a:t>
                      </a:r>
                    </a:p>
                  </a:txBody>
                  <a:tcPr anchor="ctr">
                    <a:lnL>
                      <a:noFill/>
                    </a:lnL>
                    <a:lnR>
                      <a:noFill/>
                    </a:lnR>
                    <a:lnT>
                      <a:noFill/>
                    </a:lnT>
                    <a:lnB>
                      <a:noFill/>
                    </a:lnB>
                    <a:solidFill>
                      <a:srgbClr val="FFFFFF"/>
                    </a:solidFill>
                  </a:tcPr>
                </a:tc>
                <a:tc>
                  <a:txBody>
                    <a:bodyPr/>
                    <a:lstStyle/>
                    <a:p>
                      <a:pPr algn="r" fontAlgn="ctr"/>
                      <a:r>
                        <a:rPr lang="en-001">
                          <a:effectLst/>
                        </a:rPr>
                        <a:t>0.003532</a:t>
                      </a:r>
                    </a:p>
                  </a:txBody>
                  <a:tcPr anchor="ctr">
                    <a:lnL>
                      <a:noFill/>
                    </a:lnL>
                    <a:lnR>
                      <a:noFill/>
                    </a:lnR>
                    <a:lnT>
                      <a:noFill/>
                    </a:lnT>
                    <a:lnB>
                      <a:noFill/>
                    </a:lnB>
                    <a:solidFill>
                      <a:srgbClr val="FFFFFF"/>
                    </a:solidFill>
                  </a:tcPr>
                </a:tc>
                <a:tc>
                  <a:txBody>
                    <a:bodyPr/>
                    <a:lstStyle/>
                    <a:p>
                      <a:pPr algn="r" fontAlgn="ctr"/>
                      <a:r>
                        <a:rPr lang="en-001" dirty="0">
                          <a:effectLst/>
                        </a:rPr>
                        <a:t>0.001121</a:t>
                      </a:r>
                    </a:p>
                  </a:txBody>
                  <a:tcPr anchor="ctr">
                    <a:lnL>
                      <a:noFill/>
                    </a:lnL>
                    <a:lnR>
                      <a:noFill/>
                    </a:lnR>
                    <a:lnT>
                      <a:noFill/>
                    </a:lnT>
                    <a:lnB>
                      <a:noFill/>
                    </a:lnB>
                    <a:solidFill>
                      <a:srgbClr val="FFFFFF"/>
                    </a:solidFill>
                  </a:tcPr>
                </a:tc>
                <a:extLst>
                  <a:ext uri="{0D108BD9-81ED-4DB2-BD59-A6C34878D82A}">
                    <a16:rowId xmlns:a16="http://schemas.microsoft.com/office/drawing/2014/main" val="2284172193"/>
                  </a:ext>
                </a:extLst>
              </a:tr>
            </a:tbl>
          </a:graphicData>
        </a:graphic>
      </p:graphicFrame>
    </p:spTree>
    <p:extLst>
      <p:ext uri="{BB962C8B-B14F-4D97-AF65-F5344CB8AC3E}">
        <p14:creationId xmlns:p14="http://schemas.microsoft.com/office/powerpoint/2010/main" val="13513871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39102-8FD9-F887-5CAF-F426F8DB39B0}"/>
              </a:ext>
            </a:extLst>
          </p:cNvPr>
          <p:cNvSpPr>
            <a:spLocks noGrp="1"/>
          </p:cNvSpPr>
          <p:nvPr>
            <p:ph type="title"/>
          </p:nvPr>
        </p:nvSpPr>
        <p:spPr>
          <a:xfrm>
            <a:off x="838200" y="839687"/>
            <a:ext cx="10515600" cy="1325563"/>
          </a:xfrm>
        </p:spPr>
        <p:txBody>
          <a:bodyPr/>
          <a:lstStyle/>
          <a:p>
            <a:r>
              <a:rPr kumimoji="0" lang="en-001" altLang="en-001" sz="4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Confusion Matrix for Stacked Model</a:t>
            </a:r>
            <a:br>
              <a:rPr kumimoji="0" lang="en-001" altLang="en-001" sz="4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br>
            <a:endParaRPr lang="en-001" dirty="0"/>
          </a:p>
        </p:txBody>
      </p:sp>
      <p:graphicFrame>
        <p:nvGraphicFramePr>
          <p:cNvPr id="4" name="Content Placeholder 3">
            <a:extLst>
              <a:ext uri="{FF2B5EF4-FFF2-40B4-BE49-F238E27FC236}">
                <a16:creationId xmlns:a16="http://schemas.microsoft.com/office/drawing/2014/main" id="{C08D2870-2FD4-32FD-6A23-0C115682D69C}"/>
              </a:ext>
            </a:extLst>
          </p:cNvPr>
          <p:cNvGraphicFramePr>
            <a:graphicFrameLocks noGrp="1"/>
          </p:cNvGraphicFramePr>
          <p:nvPr>
            <p:ph idx="1"/>
          </p:nvPr>
        </p:nvGraphicFramePr>
        <p:xfrm>
          <a:off x="838200" y="2294414"/>
          <a:ext cx="10515600" cy="3413760"/>
        </p:xfrm>
        <a:graphic>
          <a:graphicData uri="http://schemas.openxmlformats.org/drawingml/2006/table">
            <a:tbl>
              <a:tblPr/>
              <a:tblGrid>
                <a:gridCol w="1314450">
                  <a:extLst>
                    <a:ext uri="{9D8B030D-6E8A-4147-A177-3AD203B41FA5}">
                      <a16:colId xmlns:a16="http://schemas.microsoft.com/office/drawing/2014/main" val="1796753098"/>
                    </a:ext>
                  </a:extLst>
                </a:gridCol>
                <a:gridCol w="1314450">
                  <a:extLst>
                    <a:ext uri="{9D8B030D-6E8A-4147-A177-3AD203B41FA5}">
                      <a16:colId xmlns:a16="http://schemas.microsoft.com/office/drawing/2014/main" val="4100976876"/>
                    </a:ext>
                  </a:extLst>
                </a:gridCol>
                <a:gridCol w="1314450">
                  <a:extLst>
                    <a:ext uri="{9D8B030D-6E8A-4147-A177-3AD203B41FA5}">
                      <a16:colId xmlns:a16="http://schemas.microsoft.com/office/drawing/2014/main" val="2316550688"/>
                    </a:ext>
                  </a:extLst>
                </a:gridCol>
                <a:gridCol w="1314450">
                  <a:extLst>
                    <a:ext uri="{9D8B030D-6E8A-4147-A177-3AD203B41FA5}">
                      <a16:colId xmlns:a16="http://schemas.microsoft.com/office/drawing/2014/main" val="2093885191"/>
                    </a:ext>
                  </a:extLst>
                </a:gridCol>
                <a:gridCol w="1314450">
                  <a:extLst>
                    <a:ext uri="{9D8B030D-6E8A-4147-A177-3AD203B41FA5}">
                      <a16:colId xmlns:a16="http://schemas.microsoft.com/office/drawing/2014/main" val="3151293421"/>
                    </a:ext>
                  </a:extLst>
                </a:gridCol>
                <a:gridCol w="1314450">
                  <a:extLst>
                    <a:ext uri="{9D8B030D-6E8A-4147-A177-3AD203B41FA5}">
                      <a16:colId xmlns:a16="http://schemas.microsoft.com/office/drawing/2014/main" val="4208216"/>
                    </a:ext>
                  </a:extLst>
                </a:gridCol>
                <a:gridCol w="1314450">
                  <a:extLst>
                    <a:ext uri="{9D8B030D-6E8A-4147-A177-3AD203B41FA5}">
                      <a16:colId xmlns:a16="http://schemas.microsoft.com/office/drawing/2014/main" val="3738827529"/>
                    </a:ext>
                  </a:extLst>
                </a:gridCol>
                <a:gridCol w="1314450">
                  <a:extLst>
                    <a:ext uri="{9D8B030D-6E8A-4147-A177-3AD203B41FA5}">
                      <a16:colId xmlns:a16="http://schemas.microsoft.com/office/drawing/2014/main" val="46546758"/>
                    </a:ext>
                  </a:extLst>
                </a:gridCol>
              </a:tblGrid>
              <a:tr h="0">
                <a:tc>
                  <a:txBody>
                    <a:bodyPr/>
                    <a:lstStyle/>
                    <a:p>
                      <a:pPr algn="ctr"/>
                      <a:r>
                        <a:rPr lang="en-001">
                          <a:effectLst/>
                        </a:rPr>
                        <a:t>238</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001">
                          <a:effectLst/>
                        </a:rPr>
                        <a:t>0</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001">
                          <a:effectLst/>
                        </a:rPr>
                        <a:t>1</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001">
                          <a:effectLst/>
                        </a:rPr>
                        <a:t>0</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001">
                          <a:effectLst/>
                        </a:rPr>
                        <a:t>245</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001">
                          <a:effectLst/>
                        </a:rPr>
                        <a:t>5</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001">
                          <a:effectLst/>
                        </a:rPr>
                        <a:t>2</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001">
                          <a:effectLst/>
                        </a:rPr>
                        <a:t>9</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89876508"/>
                  </a:ext>
                </a:extLst>
              </a:tr>
              <a:tr h="0">
                <a:tc>
                  <a:txBody>
                    <a:bodyPr/>
                    <a:lstStyle/>
                    <a:p>
                      <a:pPr algn="ctr"/>
                      <a:r>
                        <a:rPr lang="en-001">
                          <a:effectLst/>
                        </a:rPr>
                        <a:t>2</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001" dirty="0">
                          <a:effectLst/>
                        </a:rPr>
                        <a:t>6</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001">
                          <a:effectLst/>
                        </a:rPr>
                        <a:t>0</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001">
                          <a:effectLst/>
                        </a:rPr>
                        <a:t>0</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001">
                          <a:effectLst/>
                        </a:rPr>
                        <a:t>38</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001">
                          <a:effectLst/>
                        </a:rPr>
                        <a:t>2</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001">
                          <a:effectLst/>
                        </a:rPr>
                        <a:t>1</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001">
                          <a:effectLst/>
                        </a:rPr>
                        <a:t>1</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14152430"/>
                  </a:ext>
                </a:extLst>
              </a:tr>
              <a:tr h="0">
                <a:tc>
                  <a:txBody>
                    <a:bodyPr/>
                    <a:lstStyle/>
                    <a:p>
                      <a:pPr algn="ctr"/>
                      <a:r>
                        <a:rPr lang="en-001">
                          <a:effectLst/>
                        </a:rPr>
                        <a:t>6</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001">
                          <a:effectLst/>
                        </a:rPr>
                        <a:t>1</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001">
                          <a:effectLst/>
                        </a:rPr>
                        <a:t>346</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001">
                          <a:effectLst/>
                        </a:rPr>
                        <a:t>0</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001">
                          <a:effectLst/>
                        </a:rPr>
                        <a:t>33</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001">
                          <a:effectLst/>
                        </a:rPr>
                        <a:t>1</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001">
                          <a:effectLst/>
                        </a:rPr>
                        <a:t>0</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001">
                          <a:effectLst/>
                        </a:rPr>
                        <a:t>0</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62218046"/>
                  </a:ext>
                </a:extLst>
              </a:tr>
              <a:tr h="0">
                <a:tc>
                  <a:txBody>
                    <a:bodyPr/>
                    <a:lstStyle/>
                    <a:p>
                      <a:pPr algn="ctr"/>
                      <a:r>
                        <a:rPr lang="en-001">
                          <a:effectLst/>
                        </a:rPr>
                        <a:t>12</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001">
                          <a:effectLst/>
                        </a:rPr>
                        <a:t>1</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001">
                          <a:effectLst/>
                        </a:rPr>
                        <a:t>8</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001">
                          <a:effectLst/>
                        </a:rPr>
                        <a:t>0</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001">
                          <a:effectLst/>
                        </a:rPr>
                        <a:t>48</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001">
                          <a:effectLst/>
                        </a:rPr>
                        <a:t>3</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001">
                          <a:effectLst/>
                        </a:rPr>
                        <a:t>0</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001">
                          <a:effectLst/>
                        </a:rPr>
                        <a:t>3</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33684685"/>
                  </a:ext>
                </a:extLst>
              </a:tr>
              <a:tr h="0">
                <a:tc>
                  <a:txBody>
                    <a:bodyPr/>
                    <a:lstStyle/>
                    <a:p>
                      <a:pPr algn="ctr"/>
                      <a:r>
                        <a:rPr lang="en-001">
                          <a:effectLst/>
                        </a:rPr>
                        <a:t>151</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001">
                          <a:effectLst/>
                        </a:rPr>
                        <a:t>3</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001">
                          <a:effectLst/>
                        </a:rPr>
                        <a:t>37</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001">
                          <a:effectLst/>
                        </a:rPr>
                        <a:t>0</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001">
                          <a:effectLst/>
                        </a:rPr>
                        <a:t>487</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001">
                          <a:effectLst/>
                        </a:rPr>
                        <a:t>22</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001">
                          <a:effectLst/>
                        </a:rPr>
                        <a:t>17</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001">
                          <a:effectLst/>
                        </a:rPr>
                        <a:t>32</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73517410"/>
                  </a:ext>
                </a:extLst>
              </a:tr>
              <a:tr h="0">
                <a:tc>
                  <a:txBody>
                    <a:bodyPr/>
                    <a:lstStyle/>
                    <a:p>
                      <a:pPr algn="ctr"/>
                      <a:r>
                        <a:rPr lang="en-001">
                          <a:effectLst/>
                        </a:rPr>
                        <a:t>22</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001">
                          <a:effectLst/>
                        </a:rPr>
                        <a:t>4</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001">
                          <a:effectLst/>
                        </a:rPr>
                        <a:t>2</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001">
                          <a:effectLst/>
                        </a:rPr>
                        <a:t>0</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001">
                          <a:effectLst/>
                        </a:rPr>
                        <a:t>92</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001">
                          <a:effectLst/>
                        </a:rPr>
                        <a:t>27</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001">
                          <a:effectLst/>
                        </a:rPr>
                        <a:t>0</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001">
                          <a:effectLst/>
                        </a:rPr>
                        <a:t>0</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79387951"/>
                  </a:ext>
                </a:extLst>
              </a:tr>
              <a:tr h="0">
                <a:tc>
                  <a:txBody>
                    <a:bodyPr/>
                    <a:lstStyle/>
                    <a:p>
                      <a:pPr algn="ctr"/>
                      <a:r>
                        <a:rPr lang="en-001">
                          <a:effectLst/>
                        </a:rPr>
                        <a:t>0</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001">
                          <a:effectLst/>
                        </a:rPr>
                        <a:t>0</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001">
                          <a:effectLst/>
                        </a:rPr>
                        <a:t>0</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001">
                          <a:effectLst/>
                        </a:rPr>
                        <a:t>0</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001">
                          <a:effectLst/>
                        </a:rPr>
                        <a:t>11</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001">
                          <a:effectLst/>
                        </a:rPr>
                        <a:t>0</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001">
                          <a:effectLst/>
                        </a:rPr>
                        <a:t>47</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001">
                          <a:effectLst/>
                        </a:rPr>
                        <a:t>0</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86262788"/>
                  </a:ext>
                </a:extLst>
              </a:tr>
              <a:tr h="0">
                <a:tc>
                  <a:txBody>
                    <a:bodyPr/>
                    <a:lstStyle/>
                    <a:p>
                      <a:pPr algn="ctr"/>
                      <a:r>
                        <a:rPr lang="en-001">
                          <a:effectLst/>
                        </a:rPr>
                        <a:t>9</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001">
                          <a:effectLst/>
                        </a:rPr>
                        <a:t>0</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001">
                          <a:effectLst/>
                        </a:rPr>
                        <a:t>0</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001">
                          <a:effectLst/>
                        </a:rPr>
                        <a:t>0</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001">
                          <a:effectLst/>
                        </a:rPr>
                        <a:t>67</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001">
                          <a:effectLst/>
                        </a:rPr>
                        <a:t>0</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001">
                          <a:effectLst/>
                        </a:rPr>
                        <a:t>0</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a:r>
                        <a:rPr lang="en-001" dirty="0">
                          <a:effectLst/>
                        </a:rPr>
                        <a:t>74</a:t>
                      </a:r>
                    </a:p>
                  </a:txBody>
                  <a:tcPr marL="76200" marR="76200" marT="76200" marB="762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37537520"/>
                  </a:ext>
                </a:extLst>
              </a:tr>
            </a:tbl>
          </a:graphicData>
        </a:graphic>
      </p:graphicFrame>
    </p:spTree>
    <p:extLst>
      <p:ext uri="{BB962C8B-B14F-4D97-AF65-F5344CB8AC3E}">
        <p14:creationId xmlns:p14="http://schemas.microsoft.com/office/powerpoint/2010/main" val="1317454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2443327E-AF2E-B944-F2FD-5DC03D832D5D}"/>
              </a:ext>
            </a:extLst>
          </p:cNvPr>
          <p:cNvPicPr>
            <a:picLocks noGrp="1" noChangeAspect="1"/>
          </p:cNvPicPr>
          <p:nvPr>
            <p:ph idx="1"/>
          </p:nvPr>
        </p:nvPicPr>
        <p:blipFill>
          <a:blip r:embed="rId2"/>
          <a:stretch>
            <a:fillRect/>
          </a:stretch>
        </p:blipFill>
        <p:spPr>
          <a:xfrm>
            <a:off x="1289328" y="510071"/>
            <a:ext cx="6153194" cy="5194064"/>
          </a:xfrm>
        </p:spPr>
      </p:pic>
    </p:spTree>
    <p:extLst>
      <p:ext uri="{BB962C8B-B14F-4D97-AF65-F5344CB8AC3E}">
        <p14:creationId xmlns:p14="http://schemas.microsoft.com/office/powerpoint/2010/main" val="33707887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3A5F4-4BCF-B216-44C5-A0F6907B7885}"/>
              </a:ext>
            </a:extLst>
          </p:cNvPr>
          <p:cNvSpPr>
            <a:spLocks noGrp="1"/>
          </p:cNvSpPr>
          <p:nvPr>
            <p:ph type="title"/>
          </p:nvPr>
        </p:nvSpPr>
        <p:spPr/>
        <p:txBody>
          <a:bodyPr/>
          <a:lstStyle/>
          <a:p>
            <a:r>
              <a:rPr lang="en-US" b="1" u="sng" dirty="0"/>
              <a:t>Discussions</a:t>
            </a:r>
            <a:endParaRPr lang="en-001" b="1" u="sng" dirty="0"/>
          </a:p>
        </p:txBody>
      </p:sp>
      <p:sp>
        <p:nvSpPr>
          <p:cNvPr id="3" name="Content Placeholder 2">
            <a:extLst>
              <a:ext uri="{FF2B5EF4-FFF2-40B4-BE49-F238E27FC236}">
                <a16:creationId xmlns:a16="http://schemas.microsoft.com/office/drawing/2014/main" id="{16533F28-1CF1-9A16-4A38-B89464ABAC7D}"/>
              </a:ext>
            </a:extLst>
          </p:cNvPr>
          <p:cNvSpPr>
            <a:spLocks noGrp="1"/>
          </p:cNvSpPr>
          <p:nvPr>
            <p:ph idx="1"/>
          </p:nvPr>
        </p:nvSpPr>
        <p:spPr>
          <a:xfrm>
            <a:off x="838200" y="1539433"/>
            <a:ext cx="10515600" cy="4637530"/>
          </a:xfrm>
        </p:spPr>
        <p:txBody>
          <a:bodyPr>
            <a:normAutofit fontScale="92500" lnSpcReduction="20000"/>
          </a:bodyPr>
          <a:lstStyle/>
          <a:p>
            <a:r>
              <a:rPr lang="en-US" dirty="0"/>
              <a:t>The provided plots highlight the probability distributions for the class 0 predictions made by </a:t>
            </a:r>
            <a:r>
              <a:rPr lang="en-US" b="1" dirty="0"/>
              <a:t>Random Forest</a:t>
            </a:r>
            <a:r>
              <a:rPr lang="en-US" dirty="0"/>
              <a:t>, </a:t>
            </a:r>
            <a:r>
              <a:rPr lang="en-US" b="1" dirty="0" err="1"/>
              <a:t>XGBoost</a:t>
            </a:r>
            <a:r>
              <a:rPr lang="en-US" dirty="0"/>
              <a:t>, </a:t>
            </a:r>
            <a:r>
              <a:rPr lang="en-US" b="1" dirty="0" err="1"/>
              <a:t>CatBoost</a:t>
            </a:r>
            <a:r>
              <a:rPr lang="en-US" dirty="0"/>
              <a:t>, and </a:t>
            </a:r>
            <a:r>
              <a:rPr lang="en-US" b="1" dirty="0"/>
              <a:t>SVM models</a:t>
            </a:r>
            <a:r>
              <a:rPr lang="en-US" dirty="0"/>
              <a:t>, offering insights into the behavior of these models when handling binary classification tasks. Notably:</a:t>
            </a:r>
          </a:p>
          <a:p>
            <a:pPr>
              <a:buFont typeface="+mj-lt"/>
              <a:buAutoNum type="arabicPeriod"/>
            </a:pPr>
            <a:r>
              <a:rPr lang="en-US" b="1" dirty="0"/>
              <a:t>Random Forest</a:t>
            </a:r>
            <a:r>
              <a:rPr lang="en-US" dirty="0"/>
              <a:t> and </a:t>
            </a:r>
            <a:r>
              <a:rPr lang="en-US" b="1" dirty="0" err="1"/>
              <a:t>XGBoost</a:t>
            </a:r>
            <a:r>
              <a:rPr lang="en-US" dirty="0"/>
              <a:t> show a significant concentration of predictions at the lower end of the probability scale, particularly at or near zero, indicating a strong confidence in the negative class for a large number of instances. This could suggest a model bias towards the negative class or an underlying pattern within the data that these models are particularly sensitive to.</a:t>
            </a:r>
          </a:p>
          <a:p>
            <a:pPr>
              <a:buFont typeface="+mj-lt"/>
              <a:buAutoNum type="arabicPeriod"/>
            </a:pPr>
            <a:r>
              <a:rPr lang="en-US" b="1" dirty="0" err="1"/>
              <a:t>CatBoost</a:t>
            </a:r>
            <a:r>
              <a:rPr lang="en-US" dirty="0"/>
              <a:t> displays a slightly more balanced distribution, though it still shows a predominant focus towards the lower probability values. However, compared to Random Forest and </a:t>
            </a:r>
            <a:r>
              <a:rPr lang="en-US" dirty="0" err="1"/>
              <a:t>XGBoost</a:t>
            </a:r>
            <a:r>
              <a:rPr lang="en-US" dirty="0"/>
              <a:t>, </a:t>
            </a:r>
            <a:r>
              <a:rPr lang="en-US" dirty="0" err="1"/>
              <a:t>CatBoost</a:t>
            </a:r>
            <a:r>
              <a:rPr lang="en-US" dirty="0"/>
              <a:t> has a smoother distribution that extends more evenly into the higher probability ranges.</a:t>
            </a:r>
          </a:p>
          <a:p>
            <a:endParaRPr lang="en-001" dirty="0"/>
          </a:p>
        </p:txBody>
      </p:sp>
    </p:spTree>
    <p:extLst>
      <p:ext uri="{BB962C8B-B14F-4D97-AF65-F5344CB8AC3E}">
        <p14:creationId xmlns:p14="http://schemas.microsoft.com/office/powerpoint/2010/main" val="10874289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DAEE3D-3FCA-93EB-7237-2FF290CB869A}"/>
              </a:ext>
            </a:extLst>
          </p:cNvPr>
          <p:cNvSpPr>
            <a:spLocks noGrp="1"/>
          </p:cNvSpPr>
          <p:nvPr>
            <p:ph idx="1"/>
          </p:nvPr>
        </p:nvSpPr>
        <p:spPr>
          <a:xfrm>
            <a:off x="699304" y="552409"/>
            <a:ext cx="10515600" cy="4351338"/>
          </a:xfrm>
        </p:spPr>
        <p:txBody>
          <a:bodyPr>
            <a:normAutofit/>
          </a:bodyPr>
          <a:lstStyle/>
          <a:p>
            <a:r>
              <a:rPr lang="en-US" sz="2000" dirty="0"/>
              <a:t>The SVM, configured within a pipeline incorporating a </a:t>
            </a:r>
            <a:r>
              <a:rPr lang="en-US" sz="2000" dirty="0" err="1"/>
              <a:t>StandardScaler</a:t>
            </a:r>
            <a:r>
              <a:rPr lang="en-US" sz="2000" dirty="0"/>
              <a:t>, exhibits a notably different distribution. The majority of its predictions are also concentrated at the extreme low end of the probability scale, but there's a secondary peak around 0.6. This dual-peak pattern might indicate that the SVM, with its inherent margin maximization, is more decisive in its classification, leading to higher confidence in certain predictions.</a:t>
            </a:r>
          </a:p>
          <a:p>
            <a:r>
              <a:rPr lang="en-US" sz="2000" dirty="0"/>
              <a:t>The </a:t>
            </a:r>
            <a:r>
              <a:rPr lang="en-US" sz="2000" b="1" dirty="0"/>
              <a:t>Classification Report and ROC AUC Scores</a:t>
            </a:r>
            <a:r>
              <a:rPr lang="en-US" sz="2000" dirty="0"/>
              <a:t> for these models indicate varying levels of effectiveness, with the SVM showing a slightly higher AUC compared to others but with a varied performance across different classes as seen in precision, recall, and F1-scores. The ROC AUC scores being close to or above 0.84 for all models suggests a good predictive performance, albeit with some models handling certain classes better than others.</a:t>
            </a:r>
          </a:p>
          <a:p>
            <a:endParaRPr lang="en-US" sz="2000" dirty="0"/>
          </a:p>
          <a:p>
            <a:endParaRPr lang="en-001" sz="2000" dirty="0"/>
          </a:p>
        </p:txBody>
      </p:sp>
      <p:pic>
        <p:nvPicPr>
          <p:cNvPr id="10" name="Picture 9">
            <a:extLst>
              <a:ext uri="{FF2B5EF4-FFF2-40B4-BE49-F238E27FC236}">
                <a16:creationId xmlns:a16="http://schemas.microsoft.com/office/drawing/2014/main" id="{E18463DB-8945-A06F-C020-EFF4316F2D87}"/>
              </a:ext>
            </a:extLst>
          </p:cNvPr>
          <p:cNvPicPr>
            <a:picLocks noChangeAspect="1"/>
          </p:cNvPicPr>
          <p:nvPr/>
        </p:nvPicPr>
        <p:blipFill>
          <a:blip r:embed="rId2"/>
          <a:stretch>
            <a:fillRect/>
          </a:stretch>
        </p:blipFill>
        <p:spPr>
          <a:xfrm>
            <a:off x="557954" y="3627128"/>
            <a:ext cx="11621507" cy="2057578"/>
          </a:xfrm>
          <a:prstGeom prst="rect">
            <a:avLst/>
          </a:prstGeom>
        </p:spPr>
      </p:pic>
    </p:spTree>
    <p:extLst>
      <p:ext uri="{BB962C8B-B14F-4D97-AF65-F5344CB8AC3E}">
        <p14:creationId xmlns:p14="http://schemas.microsoft.com/office/powerpoint/2010/main" val="23612094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145A8-9724-90CC-2584-4AD67DFEB291}"/>
              </a:ext>
            </a:extLst>
          </p:cNvPr>
          <p:cNvSpPr>
            <a:spLocks noGrp="1"/>
          </p:cNvSpPr>
          <p:nvPr>
            <p:ph type="title"/>
          </p:nvPr>
        </p:nvSpPr>
        <p:spPr>
          <a:xfrm>
            <a:off x="694481" y="57873"/>
            <a:ext cx="10515600" cy="1325563"/>
          </a:xfrm>
        </p:spPr>
        <p:txBody>
          <a:bodyPr/>
          <a:lstStyle/>
          <a:p>
            <a:r>
              <a:rPr lang="en-US" b="1" u="sng" dirty="0"/>
              <a:t>Conclusion</a:t>
            </a:r>
            <a:endParaRPr lang="en-001" b="1" u="sng" dirty="0"/>
          </a:p>
        </p:txBody>
      </p:sp>
      <p:sp>
        <p:nvSpPr>
          <p:cNvPr id="3" name="Content Placeholder 2">
            <a:extLst>
              <a:ext uri="{FF2B5EF4-FFF2-40B4-BE49-F238E27FC236}">
                <a16:creationId xmlns:a16="http://schemas.microsoft.com/office/drawing/2014/main" id="{7A46FD55-9654-F0F9-FC77-895DBD2D6C45}"/>
              </a:ext>
            </a:extLst>
          </p:cNvPr>
          <p:cNvSpPr>
            <a:spLocks noGrp="1"/>
          </p:cNvSpPr>
          <p:nvPr>
            <p:ph idx="1"/>
          </p:nvPr>
        </p:nvSpPr>
        <p:spPr>
          <a:xfrm>
            <a:off x="694481" y="1253331"/>
            <a:ext cx="11215867" cy="4753930"/>
          </a:xfrm>
        </p:spPr>
        <p:txBody>
          <a:bodyPr/>
          <a:lstStyle/>
          <a:p>
            <a:r>
              <a:rPr lang="en-US" dirty="0"/>
              <a:t>The analysis of these models on the task reveals that while all models perform relatively well, there are nuances in how they handle classifications. </a:t>
            </a:r>
            <a:r>
              <a:rPr lang="en-US" dirty="0" err="1"/>
              <a:t>XGBoost</a:t>
            </a:r>
            <a:r>
              <a:rPr lang="en-US" dirty="0"/>
              <a:t> and </a:t>
            </a:r>
            <a:r>
              <a:rPr lang="en-US" dirty="0" err="1"/>
              <a:t>CatBoost</a:t>
            </a:r>
            <a:r>
              <a:rPr lang="en-US" dirty="0"/>
              <a:t>, with their gradient boosting frameworks, seem to provide a slight edge in handling the subtleties of the dataset, evidenced by their higher AUC scores. However, the choice of model might depend on the specific requirements of recall, precision, or overall accuracy for particular classes, especially in imbalanced datasets where certain classes are more critical than others. The insights from these probability distributions and classification reports provide valuable guidance for refining model selection and tuning to improve performance further.</a:t>
            </a:r>
            <a:endParaRPr lang="en-001" dirty="0"/>
          </a:p>
        </p:txBody>
      </p:sp>
    </p:spTree>
    <p:extLst>
      <p:ext uri="{BB962C8B-B14F-4D97-AF65-F5344CB8AC3E}">
        <p14:creationId xmlns:p14="http://schemas.microsoft.com/office/powerpoint/2010/main" val="16223189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B3CA4-6EE3-E37B-9541-264222EFA2FB}"/>
              </a:ext>
            </a:extLst>
          </p:cNvPr>
          <p:cNvSpPr>
            <a:spLocks noGrp="1"/>
          </p:cNvSpPr>
          <p:nvPr>
            <p:ph type="title"/>
          </p:nvPr>
        </p:nvSpPr>
        <p:spPr/>
        <p:txBody>
          <a:bodyPr/>
          <a:lstStyle/>
          <a:p>
            <a:r>
              <a:rPr lang="en-US" b="1" u="sng" dirty="0"/>
              <a:t>Future Work </a:t>
            </a:r>
            <a:endParaRPr lang="en-001" b="1" u="sng" dirty="0"/>
          </a:p>
        </p:txBody>
      </p:sp>
      <p:sp>
        <p:nvSpPr>
          <p:cNvPr id="3" name="Content Placeholder 2">
            <a:extLst>
              <a:ext uri="{FF2B5EF4-FFF2-40B4-BE49-F238E27FC236}">
                <a16:creationId xmlns:a16="http://schemas.microsoft.com/office/drawing/2014/main" id="{479F66CC-5C0E-E5E4-C8D2-7F139AC14FA8}"/>
              </a:ext>
            </a:extLst>
          </p:cNvPr>
          <p:cNvSpPr>
            <a:spLocks noGrp="1"/>
          </p:cNvSpPr>
          <p:nvPr>
            <p:ph idx="1"/>
          </p:nvPr>
        </p:nvSpPr>
        <p:spPr/>
        <p:txBody>
          <a:bodyPr/>
          <a:lstStyle/>
          <a:p>
            <a:r>
              <a:rPr lang="en-US" b="1" u="sng" dirty="0"/>
              <a:t>Advance methodology </a:t>
            </a:r>
          </a:p>
          <a:p>
            <a:r>
              <a:rPr lang="en-US" b="0" i="0" dirty="0">
                <a:solidFill>
                  <a:srgbClr val="3B3A39"/>
                </a:solidFill>
                <a:effectLst/>
                <a:latin typeface="Courier New" panose="02070309020205020404" pitchFamily="49" charset="0"/>
              </a:rPr>
              <a:t>Stacked Model AUC: 0.8481</a:t>
            </a:r>
          </a:p>
          <a:p>
            <a:pPr marL="0" indent="0">
              <a:buNone/>
            </a:pPr>
            <a:r>
              <a:rPr lang="en-US" sz="2000" dirty="0"/>
              <a:t>Working on parameter optimization for better accuracy </a:t>
            </a:r>
            <a:endParaRPr lang="en-001" sz="2000" dirty="0"/>
          </a:p>
        </p:txBody>
      </p:sp>
      <p:pic>
        <p:nvPicPr>
          <p:cNvPr id="23" name="Picture 22">
            <a:extLst>
              <a:ext uri="{FF2B5EF4-FFF2-40B4-BE49-F238E27FC236}">
                <a16:creationId xmlns:a16="http://schemas.microsoft.com/office/drawing/2014/main" id="{345FC98E-A511-89A7-07A1-CA31E5AB2A2F}"/>
              </a:ext>
            </a:extLst>
          </p:cNvPr>
          <p:cNvPicPr>
            <a:picLocks noChangeAspect="1"/>
          </p:cNvPicPr>
          <p:nvPr/>
        </p:nvPicPr>
        <p:blipFill>
          <a:blip r:embed="rId3"/>
          <a:stretch>
            <a:fillRect/>
          </a:stretch>
        </p:blipFill>
        <p:spPr>
          <a:xfrm>
            <a:off x="6844227" y="193658"/>
            <a:ext cx="5347773" cy="4351338"/>
          </a:xfrm>
          <a:prstGeom prst="rect">
            <a:avLst/>
          </a:prstGeom>
        </p:spPr>
      </p:pic>
      <p:pic>
        <p:nvPicPr>
          <p:cNvPr id="24608" name="Picture 32">
            <a:extLst>
              <a:ext uri="{FF2B5EF4-FFF2-40B4-BE49-F238E27FC236}">
                <a16:creationId xmlns:a16="http://schemas.microsoft.com/office/drawing/2014/main" id="{77B0022A-2ED3-8DCE-FE1B-2BDDAA289D2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99942" y="3228941"/>
            <a:ext cx="4096058" cy="32639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60785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113e35d5-149a-42d0-9759-7e4251ca70ae">
      <Terms xmlns="http://schemas.microsoft.com/office/infopath/2007/PartnerControls"/>
    </lcf76f155ced4ddcb4097134ff3c332f>
    <TaxCatchAll xmlns="7ea28f75-b447-4008-abb1-f022e6a61489" xsi:nil="true"/>
    <SharedWithUsers xmlns="7ea28f75-b447-4008-abb1-f022e6a61489">
      <UserInfo>
        <DisplayName/>
        <AccountId xsi:nil="true"/>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102DA1231611544B7633ABC55414EFF" ma:contentTypeVersion="17" ma:contentTypeDescription="Create a new document." ma:contentTypeScope="" ma:versionID="5fa979140ce30341f4780377ce301feb">
  <xsd:schema xmlns:xsd="http://www.w3.org/2001/XMLSchema" xmlns:xs="http://www.w3.org/2001/XMLSchema" xmlns:p="http://schemas.microsoft.com/office/2006/metadata/properties" xmlns:ns2="113e35d5-149a-42d0-9759-7e4251ca70ae" xmlns:ns3="7ea28f75-b447-4008-abb1-f022e6a61489" targetNamespace="http://schemas.microsoft.com/office/2006/metadata/properties" ma:root="true" ma:fieldsID="47d8b4c5f05c57c39bcda140eb90ea8c" ns2:_="" ns3:_="">
    <xsd:import namespace="113e35d5-149a-42d0-9759-7e4251ca70ae"/>
    <xsd:import namespace="7ea28f75-b447-4008-abb1-f022e6a6148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EventHashCode" minOccurs="0"/>
                <xsd:element ref="ns2:MediaServiceGenerationTime" minOccurs="0"/>
                <xsd:element ref="ns2:MediaServiceAutoKeyPoints" minOccurs="0"/>
                <xsd:element ref="ns2:MediaServiceKeyPoints" minOccurs="0"/>
                <xsd:element ref="ns2:MediaServiceAutoTags" minOccurs="0"/>
                <xsd:element ref="ns2:MediaServiceOCR" minOccurs="0"/>
                <xsd:element ref="ns2:MediaServiceDateTaken" minOccurs="0"/>
                <xsd:element ref="ns2:lcf76f155ced4ddcb4097134ff3c332f" minOccurs="0"/>
                <xsd:element ref="ns3:TaxCatchAll" minOccurs="0"/>
                <xsd:element ref="ns2:MediaServiceObjectDetectorVersions" minOccurs="0"/>
                <xsd:element ref="ns2:MediaServiceSearchPropertie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13e35d5-149a-42d0-9759-7e4251ca70a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f48fd182-3af3-4b45-858c-95346ee1bc1c"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LengthInSeconds" ma:index="24"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7ea28f75-b447-4008-abb1-f022e6a6148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94c75616-ecdf-4ec9-ad19-abf48ff25f01}" ma:internalName="TaxCatchAll" ma:showField="CatchAllData" ma:web="7ea28f75-b447-4008-abb1-f022e6a6148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885FF73-5E78-4E24-B230-41E2A057C699}">
  <ds:schemaRefs>
    <ds:schemaRef ds:uri="http://schemas.microsoft.com/office/2006/metadata/properties"/>
    <ds:schemaRef ds:uri="http://schemas.microsoft.com/office/infopath/2007/PartnerControls"/>
    <ds:schemaRef ds:uri="113e35d5-149a-42d0-9759-7e4251ca70ae"/>
    <ds:schemaRef ds:uri="7ea28f75-b447-4008-abb1-f022e6a61489"/>
  </ds:schemaRefs>
</ds:datastoreItem>
</file>

<file path=customXml/itemProps2.xml><?xml version="1.0" encoding="utf-8"?>
<ds:datastoreItem xmlns:ds="http://schemas.openxmlformats.org/officeDocument/2006/customXml" ds:itemID="{8D66BC58-03AA-45A7-9927-537584672837}">
  <ds:schemaRefs>
    <ds:schemaRef ds:uri="http://schemas.microsoft.com/sharepoint/v3/contenttype/forms"/>
  </ds:schemaRefs>
</ds:datastoreItem>
</file>

<file path=customXml/itemProps3.xml><?xml version="1.0" encoding="utf-8"?>
<ds:datastoreItem xmlns:ds="http://schemas.openxmlformats.org/officeDocument/2006/customXml" ds:itemID="{63690204-A441-4890-9F56-FA76320851F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13e35d5-149a-42d0-9759-7e4251ca70ae"/>
    <ds:schemaRef ds:uri="7ea28f75-b447-4008-abb1-f022e6a6148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627</TotalTime>
  <Words>4530</Words>
  <Application>Microsoft Office PowerPoint</Application>
  <PresentationFormat>Widescreen</PresentationFormat>
  <Paragraphs>872</Paragraphs>
  <Slides>43</Slides>
  <Notes>0</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43</vt:i4>
      </vt:variant>
    </vt:vector>
  </HeadingPairs>
  <TitlesOfParts>
    <vt:vector size="58" baseType="lpstr">
      <vt:lpstr>-apple-system</vt:lpstr>
      <vt:lpstr>Arial</vt:lpstr>
      <vt:lpstr>Calibri</vt:lpstr>
      <vt:lpstr>Calibri Light</vt:lpstr>
      <vt:lpstr>CMBX12</vt:lpstr>
      <vt:lpstr>CMR10</vt:lpstr>
      <vt:lpstr>Consolas</vt:lpstr>
      <vt:lpstr>Courier New</vt:lpstr>
      <vt:lpstr>inherit</vt:lpstr>
      <vt:lpstr>Inter</vt:lpstr>
      <vt:lpstr>newtimeroman</vt:lpstr>
      <vt:lpstr>Roboto Mono</vt:lpstr>
      <vt:lpstr>Times New Roman</vt:lpstr>
      <vt:lpstr>v-sans</vt:lpstr>
      <vt:lpstr>Office Theme</vt:lpstr>
      <vt:lpstr>Data analytics presentation 16:540:507:01 DATA ANALY ENG SYST </vt:lpstr>
      <vt:lpstr>Content </vt:lpstr>
      <vt:lpstr>Introduction</vt:lpstr>
      <vt:lpstr>Evaluation Metrics</vt:lpstr>
      <vt:lpstr>Final Score Calculation</vt:lpstr>
      <vt:lpstr>Little knowledge about data</vt:lpstr>
      <vt:lpstr>Detailed descriptions here are various types of faults found on steel plates, as identified in quality control processes. Each fault type is discussed in terms of its characteristics and potential implications for steel plate usability. </vt:lpstr>
      <vt:lpstr>PowerPoint Presentation</vt:lpstr>
      <vt:lpstr>Sample Steel Plates Faults Training Data </vt:lpstr>
      <vt:lpstr>Data cleaning and preparing</vt:lpstr>
      <vt:lpstr>EDA (Explorartary Data Analysis) </vt:lpstr>
      <vt:lpstr>PowerPoint Presentation</vt:lpstr>
      <vt:lpstr>PowerPoint Presentation</vt:lpstr>
      <vt:lpstr>PowerPoint Presentation</vt:lpstr>
      <vt:lpstr>PowerPoint Presentation</vt:lpstr>
      <vt:lpstr>PowerPoint Presentation</vt:lpstr>
      <vt:lpstr>PowerPoint Presentation</vt:lpstr>
      <vt:lpstr>Scatter plot -  Y Minimum and X Minimum vs. Target: </vt:lpstr>
      <vt:lpstr>X Perimeter and Pixels Areas vs. Target:</vt:lpstr>
      <vt:lpstr>Orientation Index and Luminosity Index vs. Target:</vt:lpstr>
      <vt:lpstr>Plot Insights</vt:lpstr>
      <vt:lpstr>PowerPoint Presentation</vt:lpstr>
      <vt:lpstr>Numerical Feature Distribution</vt:lpstr>
      <vt:lpstr>PowerPoint Presentation</vt:lpstr>
      <vt:lpstr>Plot insights </vt:lpstr>
      <vt:lpstr>PowerPoint Presentation</vt:lpstr>
      <vt:lpstr>PowerPoint Presentation</vt:lpstr>
      <vt:lpstr>Normalization </vt:lpstr>
      <vt:lpstr>PowerPoint Presentation</vt:lpstr>
      <vt:lpstr>PowerPoint Presentation</vt:lpstr>
      <vt:lpstr>Correlation Plot</vt:lpstr>
      <vt:lpstr>PowerPoint Presentation</vt:lpstr>
      <vt:lpstr>Model Building ,training and testing</vt:lpstr>
      <vt:lpstr>Results and Discussions </vt:lpstr>
      <vt:lpstr>Performance evaluation.</vt:lpstr>
      <vt:lpstr>SVM (KERNEL TRICK thanks) </vt:lpstr>
      <vt:lpstr>Sample predictions </vt:lpstr>
      <vt:lpstr>Confusion Matrix for Stacked Model </vt:lpstr>
      <vt:lpstr>PowerPoint Presentation</vt:lpstr>
      <vt:lpstr>Discussions</vt:lpstr>
      <vt:lpstr>PowerPoint Presentation</vt:lpstr>
      <vt:lpstr>Conclusion</vt:lpstr>
      <vt:lpstr>Future Work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Maria Hall</dc:creator>
  <cp:lastModifiedBy>balaji sai</cp:lastModifiedBy>
  <cp:revision>13</cp:revision>
  <dcterms:created xsi:type="dcterms:W3CDTF">2023-10-19T18:22:44Z</dcterms:created>
  <dcterms:modified xsi:type="dcterms:W3CDTF">2024-12-15T14:43:27Z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0x010100E102DA1231611544B7633ABC55414EFF</vt:lpwstr>
  </property>
  <property fmtid="{D5CDD505-2E9C-101B-9397-08002B2CF9AE}" pid="3" name="Order">
    <vt:r8>15900</vt:r8>
  </property>
  <property fmtid="{D5CDD505-2E9C-101B-9397-08002B2CF9AE}" pid="4" name="xd_Signature">
    <vt:bool>false</vt:bool>
  </property>
  <property fmtid="{D5CDD505-2E9C-101B-9397-08002B2CF9AE}" pid="5" name="xd_ProgID">
    <vt:lpwstr/>
  </property>
  <property fmtid="{D5CDD505-2E9C-101B-9397-08002B2CF9AE}" pid="6" name="_SourceUrl">
    <vt:lpwstr/>
  </property>
  <property fmtid="{D5CDD505-2E9C-101B-9397-08002B2CF9AE}" pid="7" name="_SharedFileIndex">
    <vt:lpwstr/>
  </property>
  <property fmtid="{D5CDD505-2E9C-101B-9397-08002B2CF9AE}" pid="8" name="ComplianceAssetId">
    <vt:lpwstr/>
  </property>
  <property fmtid="{D5CDD505-2E9C-101B-9397-08002B2CF9AE}" pid="9" name="TemplateUrl">
    <vt:lpwstr/>
  </property>
  <property fmtid="{D5CDD505-2E9C-101B-9397-08002B2CF9AE}" pid="10" name="_ExtendedDescription">
    <vt:lpwstr/>
  </property>
  <property fmtid="{D5CDD505-2E9C-101B-9397-08002B2CF9AE}" pid="11" name="TriggerFlowInfo">
    <vt:lpwstr/>
  </property>
  <property fmtid="{D5CDD505-2E9C-101B-9397-08002B2CF9AE}" pid="12" name="MediaServiceImageTags">
    <vt:lpwstr/>
  </property>
</Properties>
</file>